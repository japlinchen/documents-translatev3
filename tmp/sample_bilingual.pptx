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09" r:id="rId3"/>
    <p:sldId id="333" r:id="rId4"/>
    <p:sldId id="331" r:id="rId5"/>
    <p:sldId id="317" r:id="rId6"/>
    <p:sldId id="336" r:id="rId8"/>
    <p:sldId id="339" r:id="rId9"/>
    <p:sldId id="340" r:id="rId10"/>
    <p:sldId id="330" r:id="rId11"/>
    <p:sldId id="337" r:id="rId12"/>
    <p:sldId id="338" r:id="rId13"/>
    <p:sldId id="334" r:id="rId14"/>
    <p:sldId id="335" r:id="rId15"/>
    <p:sldId id="319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7FF"/>
    <a:srgbClr val="0000CC"/>
    <a:srgbClr val="401BC0"/>
    <a:srgbClr val="E050D9"/>
    <a:srgbClr val="3D8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88" autoAdjust="0"/>
  </p:normalViewPr>
  <p:slideViewPr>
    <p:cSldViewPr snapToGrid="0">
      <p:cViewPr>
        <p:scale>
          <a:sx n="50" d="100"/>
          <a:sy n="50" d="100"/>
        </p:scale>
        <p:origin x="139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ustomXml" Target="../customXml/item1.xml"/><Relationship Id="rId22" Type="http://schemas.openxmlformats.org/officeDocument/2006/relationships/customXml" Target="../customXml/item2.xml"/><Relationship Id="rId23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C2204-0341-4078-81D2-5D325AEBB96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94334-D09A-4FA5-ADE4-DAFA58A7F284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8" y="0"/>
            <a:ext cx="1555184" cy="1006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021840"/>
            <a:ext cx="12192001" cy="1727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0000"/>
                </a:solidFill>
                <a:latin typeface="Times New Roman"/>
              </a:rPr>
              <a:t>ĐỀ XUẤT KÝ DUYỆT BPM</a:t>
            </a:r>
            <a:endParaRPr lang="vi-VN" sz="32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3200" b="1">
                <a:solidFill>
                  <a:srgbClr val="FF0000"/>
                </a:solidFill>
                <a:latin typeface="Times New Roman"/>
              </a:rPr>
              <a:t>ĐƠN XIN BẢO DƯỠNG XE</a:t>
            </a:r>
          </a:p>
          <a:p>
            <a:r>
              <a:rPr sz="3200" b="1">
                <a:solidFill>
                  <a:srgbClr val="FF0000"/>
                </a:solidFill>
                <a:latin typeface="Times New Roman"/>
              </a:rPr>
              <a:t>【車輛保養申請單】打單操作說明</a:t>
            </a:r>
          </a:p>
          <a:p/>
          <a:p>
            <a:r>
              <a:rPr sz="3200" b="1">
                <a:solidFill>
                  <a:srgbClr val="1F77B4"/>
                </a:solidFill>
                <a:latin typeface="Times New Roman"/>
              </a:rPr>
              <a:t>TR:ĐỀ XUẤT KÝ DUYỆT BPM</a:t>
            </a:r>
          </a:p>
          <a:p>
            <a:r>
              <a:rPr sz="3200" b="1">
                <a:solidFill>
                  <a:srgbClr val="1F77B4"/>
                </a:solidFill>
                <a:latin typeface="Times New Roman"/>
              </a:rPr>
              <a:t>ĐƠN XIN BẢO DƯỠNG XE</a:t>
            </a:r>
          </a:p>
          <a:p>
            <a:r>
              <a:rPr sz="3200" b="1">
                <a:solidFill>
                  <a:srgbClr val="1F77B4"/>
                </a:solidFill>
                <a:latin typeface="Times New Roman"/>
              </a:rPr>
              <a:t>【車輛保養申請單】打單操作說明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/>
        </p:nvSpPr>
        <p:spPr>
          <a:xfrm>
            <a:off x="1868805" y="0"/>
            <a:ext cx="9711690" cy="96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defRPr>
            </a:lvl1pPr>
          </a:lstStyle>
          <a:p>
            <a:pPr marL="457200" indent="-457200" algn="l">
              <a:buAutoNum type="arabicPeriod"/>
            </a:pPr>
            <a:r>
              <a:rPr sz="2400">
                <a:solidFill>
                  <a:srgbClr val="FF0000"/>
                </a:solidFill>
                <a:latin typeface="Times New Roman"/>
              </a:rPr>
              <a:t>ĐỀ XUẤT CẢI THIỆN</a:t>
            </a:r>
            <a:endParaRPr lang="en-US" altLang="zh-TW" sz="24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solidFill>
                  <a:srgbClr val="FF0000"/>
                </a:solidFill>
                <a:latin typeface="Times New Roman"/>
              </a:rPr>
              <a:t>      改善建議</a:t>
            </a:r>
          </a:p>
          <a:p/>
          <a:p>
            <a:r>
              <a:rPr sz="2400">
                <a:solidFill>
                  <a:srgbClr val="1F77B4"/>
                </a:solidFill>
                <a:latin typeface="Times New Roman"/>
              </a:rPr>
              <a:t>TR:ĐỀ XUẤT CẢI THIỆN</a:t>
            </a:r>
          </a:p>
          <a:p>
            <a:r>
              <a:rPr sz="2400">
                <a:solidFill>
                  <a:srgbClr val="1F77B4"/>
                </a:solidFill>
                <a:latin typeface="Times New Roman"/>
              </a:rPr>
              <a:t>      改善建議</a:t>
            </a:r>
          </a:p>
        </p:txBody>
      </p:sp>
      <p:sp>
        <p:nvSpPr>
          <p:cNvPr id="18" name="Rounded Rectangle 7"/>
          <p:cNvSpPr/>
          <p:nvPr/>
        </p:nvSpPr>
        <p:spPr>
          <a:xfrm>
            <a:off x="111553" y="1771416"/>
            <a:ext cx="3517302" cy="2663790"/>
          </a:xfrm>
          <a:prstGeom prst="roundRect">
            <a:avLst/>
          </a:prstGeom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>
                <a:latin typeface="Times New Roman"/>
              </a:rPr>
              <a:t>In bản giấy cứng, xin ký duyệt tới cấp P.TGĐ =&gt; Thu mua xác nhận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>
                <a:latin typeface="Times New Roman"/>
              </a:rPr>
              <a:t>列印紙本，並請簽核至副總層級 =&gt; 採購確認</a:t>
            </a:r>
          </a:p>
          <a:p/>
          <a:p>
            <a:r>
              <a:rPr>
                <a:solidFill>
                  <a:srgbClr val="1F77B4"/>
                </a:solidFill>
                <a:latin typeface="Times New Roman"/>
              </a:rPr>
              <a:t>TR:In bản giấy cứng, xin ký duyệt tới cấp P.TGĐ =&gt; Thu mua xác nhận 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列印紙本，並請簽核至副總層級 =&gt; 採購確認</a:t>
            </a:r>
          </a:p>
        </p:txBody>
      </p:sp>
      <p:sp>
        <p:nvSpPr>
          <p:cNvPr id="3" name="Rounded Rectangle 7"/>
          <p:cNvSpPr/>
          <p:nvPr/>
        </p:nvSpPr>
        <p:spPr>
          <a:xfrm>
            <a:off x="3766568" y="3334159"/>
            <a:ext cx="4554220" cy="3050750"/>
          </a:xfrm>
          <a:prstGeom prst="roundRect">
            <a:avLst/>
          </a:prstGeom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>
                <a:latin typeface="Times New Roman"/>
              </a:rPr>
              <a:t>Sau khi ký duyệt hoàn thành, tự động gửi thông báo kết quả ký duyệt qua email UOF cho người lập và người quản lý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>
                <a:latin typeface="Times New Roman"/>
              </a:rPr>
              <a:t>簽核完畢後，系統將自動透過 UOF 電子郵件發送簽核結果通知給申請人及管理者</a:t>
            </a:r>
          </a:p>
          <a:p/>
          <a:p>
            <a:r>
              <a:rPr>
                <a:solidFill>
                  <a:srgbClr val="1F77B4"/>
                </a:solidFill>
                <a:latin typeface="Times New Roman"/>
              </a:rPr>
              <a:t>TR:Sau khi ký duyệt hoàn thành, tự động gửi thông báo kết quả ký duyệt qua email UOF cho người lập và người quản lý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簽核完畢後，系統將自動透過 UOF 電子郵件發送簽核結果通知給申請人及管理者</a:t>
            </a:r>
          </a:p>
        </p:txBody>
      </p:sp>
      <p:sp>
        <p:nvSpPr>
          <p:cNvPr id="22" name="Rounded Rectangle 7"/>
          <p:cNvSpPr/>
          <p:nvPr/>
        </p:nvSpPr>
        <p:spPr>
          <a:xfrm>
            <a:off x="3828562" y="1818965"/>
            <a:ext cx="4652645" cy="1515194"/>
          </a:xfrm>
          <a:prstGeom prst="roundRect">
            <a:avLst/>
          </a:prstGeom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>
                <a:latin typeface="Times New Roman"/>
              </a:rPr>
              <a:t>Ký duyệt điện tử BPM đến cấp P.TGĐ =&gt; Thu Mua tiếp nhận xác nhận đơn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>
                <a:latin typeface="Times New Roman"/>
              </a:rPr>
              <a:t>BPM 電子簽核至副總 =&gt;  採購確認</a:t>
            </a:r>
          </a:p>
          <a:p/>
          <a:p>
            <a:r>
              <a:rPr>
                <a:solidFill>
                  <a:srgbClr val="1F77B4"/>
                </a:solidFill>
                <a:latin typeface="Times New Roman"/>
              </a:rPr>
              <a:t>TR:Ký duyệt điện tử BPM đến cấp P.TGĐ =&gt; Thu Mua tiếp nhận xác nhận đơn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BPM 電子簽核至副總 =&gt;  採購確認</a:t>
            </a:r>
          </a:p>
        </p:txBody>
      </p:sp>
      <p:sp>
        <p:nvSpPr>
          <p:cNvPr id="14" name="Rounded Rectangle 7"/>
          <p:cNvSpPr/>
          <p:nvPr/>
        </p:nvSpPr>
        <p:spPr>
          <a:xfrm>
            <a:off x="391885" y="973575"/>
            <a:ext cx="2888167" cy="5574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latin typeface="Times New Roman"/>
              </a:rPr>
              <a:t>TRƯỚC CẢI THIỆN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600" b="1">
                <a:latin typeface="Times New Roman"/>
              </a:rPr>
              <a:t>改善前</a:t>
            </a:r>
          </a:p>
          <a:p/>
          <a:p>
            <a:r>
              <a:rPr sz="1600" b="1">
                <a:solidFill>
                  <a:srgbClr val="1F77B4"/>
                </a:solidFill>
                <a:latin typeface="Times New Roman"/>
              </a:rPr>
              <a:t>TR:TRƯỚC CẢI THIỆN</a:t>
            </a:r>
          </a:p>
          <a:p>
            <a:r>
              <a:rPr sz="1600" b="1">
                <a:solidFill>
                  <a:srgbClr val="1F77B4"/>
                </a:solidFill>
                <a:latin typeface="Times New Roman"/>
              </a:rPr>
              <a:t>改善前</a:t>
            </a:r>
          </a:p>
        </p:txBody>
      </p:sp>
      <p:sp>
        <p:nvSpPr>
          <p:cNvPr id="15" name="Rounded Rectangle 7"/>
          <p:cNvSpPr/>
          <p:nvPr/>
        </p:nvSpPr>
        <p:spPr>
          <a:xfrm>
            <a:off x="4511750" y="962061"/>
            <a:ext cx="3168500" cy="568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latin typeface="Times New Roman"/>
              </a:rPr>
              <a:t>SAU CẢI THIỆN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600" b="1">
                <a:latin typeface="Times New Roman"/>
              </a:rPr>
              <a:t>改善後</a:t>
            </a:r>
          </a:p>
          <a:p/>
          <a:p>
            <a:r>
              <a:rPr sz="1600" b="1">
                <a:solidFill>
                  <a:srgbClr val="1F77B4"/>
                </a:solidFill>
                <a:latin typeface="Times New Roman"/>
              </a:rPr>
              <a:t>TR:SAU CẢI THIỆN</a:t>
            </a:r>
          </a:p>
          <a:p>
            <a:r>
              <a:rPr sz="1600" b="1">
                <a:solidFill>
                  <a:srgbClr val="1F77B4"/>
                </a:solidFill>
                <a:latin typeface="Times New Roman"/>
              </a:rPr>
              <a:t>改善後</a:t>
            </a:r>
          </a:p>
        </p:txBody>
      </p:sp>
      <p:sp>
        <p:nvSpPr>
          <p:cNvPr id="17" name="Rounded Rectangle 7"/>
          <p:cNvSpPr/>
          <p:nvPr/>
        </p:nvSpPr>
        <p:spPr>
          <a:xfrm>
            <a:off x="8807304" y="962060"/>
            <a:ext cx="3168500" cy="5689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latin typeface="Times New Roman"/>
              </a:rPr>
              <a:t>LỢI ÍCH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600" b="1">
                <a:latin typeface="Times New Roman"/>
              </a:rPr>
              <a:t>效益</a:t>
            </a:r>
          </a:p>
          <a:p/>
          <a:p>
            <a:r>
              <a:rPr sz="1600" b="1">
                <a:solidFill>
                  <a:srgbClr val="1F77B4"/>
                </a:solidFill>
                <a:latin typeface="Times New Roman"/>
              </a:rPr>
              <a:t>TR:LỢI ÍCH</a:t>
            </a:r>
          </a:p>
          <a:p>
            <a:r>
              <a:rPr sz="1600" b="1">
                <a:solidFill>
                  <a:srgbClr val="1F77B4"/>
                </a:solidFill>
                <a:latin typeface="Times New Roman"/>
              </a:rPr>
              <a:t>效益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658701" y="1024271"/>
            <a:ext cx="0" cy="505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432588" y="973575"/>
            <a:ext cx="61845" cy="5110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1553" y="1613860"/>
            <a:ext cx="11864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8481060" y="1901825"/>
            <a:ext cx="371348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>
                <a:solidFill>
                  <a:srgbClr val="FF0000"/>
                </a:solidFill>
                <a:latin typeface="Times New Roman"/>
              </a:rPr>
              <a:t>Giảm thời gian ký duyệt và lưu trữ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r>
              <a:rPr>
                <a:solidFill>
                  <a:srgbClr val="FF0000"/>
                </a:solidFill>
                <a:latin typeface="Times New Roman"/>
              </a:rPr>
              <a:t>縮短簽核與歸檔時間。</a:t>
            </a:r>
          </a:p>
          <a:p>
            <a:r>
              <a:rPr>
                <a:solidFill>
                  <a:srgbClr val="FF0000"/>
                </a:solidFill>
                <a:latin typeface="Times New Roman"/>
              </a:rPr>
              <a:t>Hạn chế in ấn và quản lý hồ sơ</a:t>
            </a:r>
          </a:p>
          <a:p>
            <a:r>
              <a:rPr>
                <a:solidFill>
                  <a:srgbClr val="FF0000"/>
                </a:solidFill>
                <a:latin typeface="Times New Roman"/>
              </a:rPr>
              <a:t>減少列印及檔案管理的工作量</a:t>
            </a:r>
          </a:p>
          <a:p>
            <a:r>
              <a:rPr>
                <a:solidFill>
                  <a:srgbClr val="FF0000"/>
                </a:solidFill>
                <a:latin typeface="Times New Roman"/>
              </a:rPr>
              <a:t>Dễ dàng tra cứu dữ liệu</a:t>
            </a:r>
          </a:p>
          <a:p>
            <a:r>
              <a:rPr>
                <a:solidFill>
                  <a:srgbClr val="FF0000"/>
                </a:solidFill>
                <a:latin typeface="Times New Roman"/>
              </a:rPr>
              <a:t>易於查詢資料</a:t>
            </a:r>
          </a:p>
          <a:p/>
          <a:p>
            <a:r>
              <a:rPr>
                <a:solidFill>
                  <a:srgbClr val="1F77B4"/>
                </a:solidFill>
                <a:latin typeface="Times New Roman"/>
              </a:rPr>
              <a:t>TR:Giảm thời gian ký duyệt và lưu trữ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縮短簽核與歸檔時間。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Hạn chế in ấn và quản lý hồ sơ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減少列印及檔案管理的工作量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Dễ dàng tra cứu dữ liệu</a:t>
            </a:r>
          </a:p>
          <a:p>
            <a:r>
              <a:rPr>
                <a:solidFill>
                  <a:srgbClr val="1F77B4"/>
                </a:solidFill>
                <a:latin typeface="Times New Roman"/>
              </a:rPr>
              <a:t>易於查詢資料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/>
        </p:nvSpPr>
        <p:spPr>
          <a:xfrm>
            <a:off x="1868805" y="0"/>
            <a:ext cx="9711690" cy="96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defRPr>
            </a:lvl1pPr>
          </a:lstStyle>
          <a:p>
            <a:pPr algn="l"/>
            <a:r>
              <a:rPr sz="2400">
                <a:solidFill>
                  <a:srgbClr val="FF0000"/>
                </a:solidFill>
                <a:latin typeface="Times New Roman"/>
              </a:rPr>
              <a:t>2.  ĐỀ XUẤT KÝ DUYỆT ĐƠN TRÊN UOF</a:t>
            </a:r>
            <a:endParaRPr lang="en-US" altLang="zh-TW" sz="24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solidFill>
                  <a:srgbClr val="FF0000"/>
                </a:solidFill>
                <a:latin typeface="Times New Roman"/>
              </a:rPr>
              <a:t>     建議改善 UOF 上的單據</a:t>
            </a:r>
          </a:p>
          <a:p/>
          <a:p>
            <a:r>
              <a:rPr sz="2400">
                <a:solidFill>
                  <a:srgbClr val="1F77B4"/>
                </a:solidFill>
                <a:latin typeface="Times New Roman"/>
              </a:rPr>
              <a:t>TR:2.  ĐỀ XUẤT KÝ DUYỆT ĐƠN TRÊN UOF</a:t>
            </a:r>
          </a:p>
          <a:p>
            <a:r>
              <a:rPr sz="2400">
                <a:solidFill>
                  <a:srgbClr val="1F77B4"/>
                </a:solidFill>
                <a:latin typeface="Times New Roman"/>
              </a:rPr>
              <a:t>     建議改善 UOF 上的單據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064951" y="1380497"/>
            <a:ext cx="25615" cy="5391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88048" y="1810184"/>
            <a:ext cx="11408074" cy="10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37481" y="1243398"/>
            <a:ext cx="2140772" cy="4775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latin typeface="Times New Roman"/>
              </a:rPr>
              <a:t>HIỆN TẠI </a:t>
            </a:r>
            <a:endParaRPr lang="en-US" sz="1400" b="1" dirty="0">
              <a:solidFill>
                <a:sysClr val="windowText" lastClr="0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400" b="1">
                <a:latin typeface="Times New Roman"/>
              </a:rPr>
              <a:t>正在使用</a:t>
            </a:r>
          </a:p>
          <a:p/>
          <a:p>
            <a:r>
              <a:rPr sz="1400" b="1">
                <a:solidFill>
                  <a:srgbClr val="1F77B4"/>
                </a:solidFill>
                <a:latin typeface="Times New Roman"/>
              </a:rPr>
              <a:t>TR:HIỆN TẠI </a:t>
            </a:r>
          </a:p>
          <a:p>
            <a:r>
              <a:rPr sz="1400" b="1">
                <a:solidFill>
                  <a:srgbClr val="1F77B4"/>
                </a:solidFill>
                <a:latin typeface="Times New Roman"/>
              </a:rPr>
              <a:t>正在使用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94" y="1243398"/>
            <a:ext cx="2140772" cy="4775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latin typeface="Times New Roman"/>
              </a:rPr>
              <a:t>ĐỀ XUẤT KÝ UOF</a:t>
            </a:r>
            <a:endParaRPr lang="en-US" sz="1400" b="1" dirty="0">
              <a:solidFill>
                <a:sysClr val="windowText" lastClr="0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400" b="1">
                <a:latin typeface="Times New Roman"/>
              </a:rPr>
              <a:t>UOF 簽核建議</a:t>
            </a:r>
          </a:p>
          <a:p/>
          <a:p>
            <a:r>
              <a:rPr sz="1400" b="1">
                <a:solidFill>
                  <a:srgbClr val="1F77B4"/>
                </a:solidFill>
                <a:latin typeface="Times New Roman"/>
              </a:rPr>
              <a:t>TR:ĐỀ XUẤT KÝ UOF</a:t>
            </a:r>
          </a:p>
          <a:p>
            <a:r>
              <a:rPr sz="1400" b="1">
                <a:solidFill>
                  <a:srgbClr val="1F77B4"/>
                </a:solidFill>
                <a:latin typeface="Times New Roman"/>
              </a:rPr>
              <a:t>UOF 簽核建議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2064385"/>
            <a:ext cx="5523865" cy="35382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5" name="Group 14"/>
          <p:cNvGrpSpPr/>
          <p:nvPr/>
        </p:nvGrpSpPr>
        <p:grpSpPr>
          <a:xfrm>
            <a:off x="6310342" y="2064385"/>
            <a:ext cx="5270153" cy="3593465"/>
            <a:chOff x="6325919" y="2767330"/>
            <a:chExt cx="5151390" cy="3427730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5919" y="2767330"/>
              <a:ext cx="5151390" cy="20789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5919" y="4834267"/>
              <a:ext cx="5151390" cy="13607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(1/7)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(1/2)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(1/7)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(1/2)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863215" y="1325245"/>
            <a:ext cx="6619240" cy="5010150"/>
            <a:chOff x="4509" y="2087"/>
            <a:chExt cx="10424" cy="789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09" y="2087"/>
              <a:ext cx="10425" cy="78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3" name="Group 2"/>
            <p:cNvGrpSpPr/>
            <p:nvPr/>
          </p:nvGrpSpPr>
          <p:grpSpPr>
            <a:xfrm>
              <a:off x="6136" y="2547"/>
              <a:ext cx="1636" cy="7095"/>
              <a:chOff x="1300584" y="1445191"/>
              <a:chExt cx="1039476" cy="4505057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732081" y="1445191"/>
                <a:ext cx="607979" cy="4505057"/>
                <a:chOff x="1626115" y="1314264"/>
                <a:chExt cx="607979" cy="4505057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626115" y="1314264"/>
                  <a:ext cx="374580" cy="32771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1</a:t>
                  </a:r>
                  <a:endPara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1904883" y="5491603"/>
                  <a:ext cx="329211" cy="32771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2</a:t>
                  </a:r>
                  <a:endParaRPr lang="vi-VN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" name="Oval 9"/>
              <p:cNvSpPr/>
              <p:nvPr/>
            </p:nvSpPr>
            <p:spPr>
              <a:xfrm>
                <a:off x="1300584" y="2110399"/>
                <a:ext cx="336565" cy="32771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1300584" y="2110399"/>
                <a:ext cx="329211" cy="32771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(2/7)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(1/2)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(2/7)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(1/2)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2547016" y="1710080"/>
            <a:ext cx="8900160" cy="4054648"/>
            <a:chOff x="2480310" y="1286019"/>
            <a:chExt cx="8900160" cy="4054648"/>
          </a:xfrm>
        </p:grpSpPr>
        <p:grpSp>
          <p:nvGrpSpPr>
            <p:cNvPr id="23" name="Group 22"/>
            <p:cNvGrpSpPr/>
            <p:nvPr/>
          </p:nvGrpSpPr>
          <p:grpSpPr>
            <a:xfrm>
              <a:off x="2480310" y="1286019"/>
              <a:ext cx="8900160" cy="4054648"/>
              <a:chOff x="1805940" y="1503189"/>
              <a:chExt cx="8900160" cy="4054648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805940" y="1503189"/>
                <a:ext cx="8900160" cy="4054648"/>
                <a:chOff x="1805940" y="1503189"/>
                <a:chExt cx="8900160" cy="4054648"/>
              </a:xfrm>
            </p:grpSpPr>
            <p:pic>
              <p:nvPicPr>
                <p:cNvPr id="4" name="Picture 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805940" y="1503189"/>
                  <a:ext cx="8900160" cy="4054648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3051810" y="3783330"/>
                  <a:ext cx="960120" cy="588284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/>
              <p:cNvSpPr/>
              <p:nvPr/>
            </p:nvSpPr>
            <p:spPr>
              <a:xfrm>
                <a:off x="10262870" y="1733953"/>
                <a:ext cx="329016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+mj-lt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4</a:t>
                </a:r>
                <a:endParaRPr lang="vi-VN" b="1" dirty="0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849751" y="3603383"/>
                <a:ext cx="329016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+mj-lt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5</a:t>
                </a:r>
                <a:endParaRPr lang="vi-VN" b="1" dirty="0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6300" y="2879805"/>
              <a:ext cx="5266372" cy="22887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6" name="Oval 25"/>
            <p:cNvSpPr/>
            <p:nvPr/>
          </p:nvSpPr>
          <p:spPr>
            <a:xfrm>
              <a:off x="9623656" y="3550081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6</a:t>
              </a:r>
              <a:endParaRPr lang="vi-VN" b="1" dirty="0">
                <a:solidFill>
                  <a:srgbClr val="FF0000"/>
                </a:solidFill>
                <a:latin typeface="+mj-lt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6124856" y="4751565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7</a:t>
              </a:r>
              <a:endParaRPr lang="vi-VN" b="1" dirty="0">
                <a:solidFill>
                  <a:srgbClr val="FF0000"/>
                </a:solidFill>
                <a:latin typeface="+mj-lt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ectangle 28"/>
          <p:cNvSpPr/>
          <p:nvPr/>
        </p:nvSpPr>
        <p:spPr>
          <a:xfrm>
            <a:off x="203306" y="4267354"/>
            <a:ext cx="4067436" cy="23742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sz="1300" b="1" u="sng">
                <a:latin typeface="Times New Roman"/>
              </a:rPr>
              <a:t>Thao tác THÊM MỚI 新增操作</a:t>
            </a:r>
            <a:endParaRPr lang="en-US" sz="1300" b="1" u="sng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300" b="1" u="sng">
                <a:latin typeface="Times New Roman"/>
              </a:rPr>
              <a:t>4 – Điền các thông tin liên quan đến bảo dưỡng xe</a:t>
            </a:r>
          </a:p>
          <a:p>
            <a:r>
              <a:rPr sz="1300" b="1" u="sng">
                <a:latin typeface="Times New Roman"/>
              </a:rPr>
              <a:t>填寫車輛保養相關信息</a:t>
            </a:r>
          </a:p>
          <a:p>
            <a:r>
              <a:rPr sz="1300" b="1" u="sng">
                <a:latin typeface="Times New Roman"/>
              </a:rPr>
              <a:t>5 – Bấm “Chi tiết thêm mới”</a:t>
            </a:r>
          </a:p>
          <a:p>
            <a:r>
              <a:rPr sz="1300" b="1" u="sng">
                <a:latin typeface="Times New Roman"/>
              </a:rPr>
              <a:t>點擊【新增詳細】</a:t>
            </a:r>
          </a:p>
          <a:p>
            <a:r>
              <a:rPr sz="1300" b="1" u="sng">
                <a:latin typeface="Times New Roman"/>
              </a:rPr>
              <a:t>6 – Điền thông tin Hạng mục bảo dưỡng</a:t>
            </a:r>
          </a:p>
          <a:p>
            <a:r>
              <a:rPr sz="1300" b="1" u="sng">
                <a:latin typeface="Times New Roman"/>
              </a:rPr>
              <a:t>填寫 【保養項目】信息</a:t>
            </a:r>
            <a:br/>
            <a:r>
              <a:t>7 – Bấm “Chắc chắn”</a:t>
            </a:r>
          </a:p>
          <a:p>
            <a:r>
              <a:rPr sz="1300" b="1" u="sng">
                <a:latin typeface="Times New Roman"/>
              </a:rPr>
              <a:t>點選「確認」</a:t>
            </a:r>
          </a:p>
          <a:p/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TR:Thao tác THÊM MỚI 新增操作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4 – Điền các thông tin liên quan đến bảo dưỡng xe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填寫車輛保養相關信息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5 – Bấm “Chi tiết thêm mới”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點擊【新增詳細】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6 – Điền thông tin Hạng mục bảo dưỡng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填寫 【保養項目】信息</a:t>
            </a:r>
            <a:br/>
            <a:r>
              <a:t>7 – Bấm “Chắc chắn”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點選「確認」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500" b="1" u="sng">
                <a:latin typeface="Times New Roman"/>
              </a:rPr>
              <a:t>Người làm đơn: 打單者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/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TR:Người làm đơn: 打單者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(3/7)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(1/2)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(3/7)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(1/2)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500" b="1" u="sng">
                <a:latin typeface="Times New Roman"/>
              </a:rPr>
              <a:t>Người làm đơn: 打單者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/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TR:Người làm đơn: 打單者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95656" y="1660747"/>
            <a:ext cx="8083867" cy="3893234"/>
            <a:chOff x="3755335" y="1143826"/>
            <a:chExt cx="8083867" cy="389323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55335" y="1143826"/>
              <a:ext cx="8083867" cy="389323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6954" y="1983357"/>
              <a:ext cx="5731829" cy="268101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grpSp>
          <p:nvGrpSpPr>
            <p:cNvPr id="33" name="Group 32"/>
            <p:cNvGrpSpPr/>
            <p:nvPr/>
          </p:nvGrpSpPr>
          <p:grpSpPr>
            <a:xfrm>
              <a:off x="4457010" y="2762706"/>
              <a:ext cx="7221773" cy="1820549"/>
              <a:chOff x="4466154" y="2296132"/>
              <a:chExt cx="7221773" cy="1820549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4466154" y="2296132"/>
                <a:ext cx="7221773" cy="1820549"/>
                <a:chOff x="3791784" y="2513302"/>
                <a:chExt cx="7221773" cy="1820549"/>
              </a:xfrm>
            </p:grpSpPr>
            <p:cxnSp>
              <p:nvCxnSpPr>
                <p:cNvPr id="37" name="Straight Arrow Connector 36"/>
                <p:cNvCxnSpPr/>
                <p:nvPr/>
              </p:nvCxnSpPr>
              <p:spPr>
                <a:xfrm flipV="1">
                  <a:off x="3887712" y="3509796"/>
                  <a:ext cx="1318166" cy="653545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Oval 37"/>
                <p:cNvSpPr/>
                <p:nvPr/>
              </p:nvSpPr>
              <p:spPr>
                <a:xfrm>
                  <a:off x="10684541" y="2513302"/>
                  <a:ext cx="329016" cy="327737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2</a:t>
                  </a:r>
                  <a:endPara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3791784" y="4006114"/>
                  <a:ext cx="329016" cy="327737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1</a:t>
                  </a:r>
                  <a:endPara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5" name="Oval 34"/>
              <p:cNvSpPr/>
              <p:nvPr/>
            </p:nvSpPr>
            <p:spPr>
              <a:xfrm>
                <a:off x="8677929" y="3625075"/>
                <a:ext cx="329016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0" name="Rectangle 39"/>
          <p:cNvSpPr/>
          <p:nvPr/>
        </p:nvSpPr>
        <p:spPr>
          <a:xfrm>
            <a:off x="210037" y="4608570"/>
            <a:ext cx="3998891" cy="21375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sz="1300" b="1" u="sng">
                <a:latin typeface="Times New Roman"/>
              </a:rPr>
              <a:t>Thao tác SỬA: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300" b="1" u="sng">
                <a:latin typeface="Times New Roman"/>
              </a:rPr>
              <a:t>編輯操作</a:t>
            </a:r>
          </a:p>
          <a:p>
            <a:r>
              <a:rPr sz="1300" b="1" u="sng">
                <a:latin typeface="Times New Roman"/>
              </a:rPr>
              <a:t>1 – Bấm “Sửa”</a:t>
            </a:r>
          </a:p>
          <a:p>
            <a:r>
              <a:rPr sz="1300" b="1" u="sng">
                <a:latin typeface="Times New Roman"/>
              </a:rPr>
              <a:t>點擊【編輯】</a:t>
            </a:r>
          </a:p>
          <a:p>
            <a:r>
              <a:rPr sz="1300" b="1" u="sng">
                <a:latin typeface="Times New Roman"/>
              </a:rPr>
              <a:t>2 – Điền thông tin Hạng mục bảo dưỡng</a:t>
            </a:r>
          </a:p>
          <a:p>
            <a:r>
              <a:rPr sz="1300" b="1" u="sng">
                <a:latin typeface="Times New Roman"/>
              </a:rPr>
              <a:t>填寫【保養項目】信息</a:t>
            </a:r>
            <a:br/>
            <a:r>
              <a:t>3 – Bấm “Chắc chắn”</a:t>
            </a:r>
          </a:p>
          <a:p>
            <a:r>
              <a:rPr sz="1300" b="1" u="sng">
                <a:latin typeface="Times New Roman"/>
              </a:rPr>
              <a:t>點選「確認」</a:t>
            </a:r>
          </a:p>
          <a:p/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TR:Thao tác SỬA: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編輯操作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1 – Bấm “Sửa”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點擊【編輯】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2 – Điền thông tin Hạng mục bảo dưỡng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填寫【保養項目】信息</a:t>
            </a:r>
            <a:br/>
            <a:r>
              <a:t>3 – Bấm “Chắc chắn”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點選「確認」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(4/7)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(1/2)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(4/7)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(1/2)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500" b="1" u="sng">
                <a:latin typeface="Times New Roman"/>
              </a:rPr>
              <a:t>Người làm đơn: 打單者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/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TR:Người làm đơn: 打單者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306" y="4994910"/>
            <a:ext cx="2196994" cy="16466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sz="1300" b="1" u="sng">
                <a:latin typeface="Times New Roman"/>
              </a:rPr>
              <a:t>Thao tác XÓA: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300" b="1" u="sng">
                <a:latin typeface="Times New Roman"/>
              </a:rPr>
              <a:t>移除操作</a:t>
            </a:r>
            <a:br/>
            <a:r>
              <a:t>1 – Bấm “Xóa”</a:t>
            </a:r>
          </a:p>
          <a:p>
            <a:r>
              <a:rPr sz="1300" b="1" u="sng">
                <a:latin typeface="Times New Roman"/>
              </a:rPr>
              <a:t>點擊【移除】</a:t>
            </a:r>
          </a:p>
          <a:p>
            <a:r>
              <a:rPr sz="1300" b="1" u="sng">
                <a:latin typeface="Times New Roman"/>
              </a:rPr>
              <a:t>       2 – Bấm “Ok”</a:t>
            </a:r>
          </a:p>
          <a:p>
            <a:r>
              <a:rPr sz="1300" b="1" u="sng">
                <a:latin typeface="Times New Roman"/>
              </a:rPr>
              <a:t>點擊【OK】</a:t>
            </a:r>
          </a:p>
          <a:p/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TR:Thao tác XÓA: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移除操作</a:t>
            </a:r>
            <a:br/>
            <a:r>
              <a:t>1 – Bấm “Xóa”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點擊【移除】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       2 – Bấm “Ok”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點擊【OK】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594610" y="1855057"/>
            <a:ext cx="8051609" cy="3643676"/>
            <a:chOff x="2640330" y="1580737"/>
            <a:chExt cx="8051609" cy="3643676"/>
          </a:xfrm>
        </p:grpSpPr>
        <p:grpSp>
          <p:nvGrpSpPr>
            <p:cNvPr id="6" name="Group 5"/>
            <p:cNvGrpSpPr/>
            <p:nvPr/>
          </p:nvGrpSpPr>
          <p:grpSpPr>
            <a:xfrm>
              <a:off x="2640330" y="1580737"/>
              <a:ext cx="8051609" cy="3643676"/>
              <a:chOff x="2651760" y="1580737"/>
              <a:chExt cx="8051609" cy="3643676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651760" y="1580737"/>
                <a:ext cx="8051609" cy="36436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37885" y="1580737"/>
                <a:ext cx="3455867" cy="111674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20" name="Oval 19"/>
            <p:cNvSpPr/>
            <p:nvPr/>
          </p:nvSpPr>
          <p:spPr>
            <a:xfrm>
              <a:off x="3523011" y="4543839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8544591" y="2369743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(5/7)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(2/2)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(5/7)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(2/2)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7130" y="955675"/>
            <a:ext cx="9857740" cy="15017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500" b="1" u="sng">
                <a:latin typeface="Times New Roman"/>
              </a:rPr>
              <a:t>Người làm đơn: 打單者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500" b="1" u="sng">
                <a:latin typeface="Times New Roman"/>
              </a:rPr>
              <a:t>Điền đầy đủ thông tin và đính kèm file (nếu có).</a:t>
            </a:r>
          </a:p>
          <a:p>
            <a:r>
              <a:rPr sz="1500" b="1" u="sng">
                <a:latin typeface="Times New Roman"/>
              </a:rPr>
              <a:t>請完整填寫相關資料，並附上檔案（如有）</a:t>
            </a:r>
          </a:p>
          <a:p/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TR:Người làm đơn: 打單者</a:t>
            </a:r>
          </a:p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Điền đầy đủ thông tin và đính kèm file (nếu có).</a:t>
            </a:r>
          </a:p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請完整填寫相關資料，並附上檔案（如有）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325880" y="2457450"/>
            <a:ext cx="8477250" cy="4086844"/>
            <a:chOff x="1325880" y="2457450"/>
            <a:chExt cx="8477250" cy="40868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25880" y="2457450"/>
              <a:ext cx="8477250" cy="408684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4" name="Group 13"/>
            <p:cNvGrpSpPr/>
            <p:nvPr/>
          </p:nvGrpSpPr>
          <p:grpSpPr>
            <a:xfrm>
              <a:off x="5467985" y="2760980"/>
              <a:ext cx="4335145" cy="3686175"/>
              <a:chOff x="6503720" y="2720580"/>
              <a:chExt cx="4335291" cy="3686012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10464462" y="2720580"/>
                <a:ext cx="374549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4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503720" y="6078855"/>
                <a:ext cx="374549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5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6361" y="3497580"/>
              <a:ext cx="4557405" cy="234822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Oval 18"/>
            <p:cNvSpPr/>
            <p:nvPr/>
          </p:nvSpPr>
          <p:spPr>
            <a:xfrm>
              <a:off x="7065064" y="5383406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6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(6/7)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(1/2)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(6/7)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(1/2)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500" b="1" u="sng">
                <a:latin typeface="Times New Roman"/>
              </a:rPr>
              <a:t>Thu mua Điền phí Dự tính</a:t>
            </a:r>
            <a:endParaRPr lang="en-US" altLang="zh-CN" sz="15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500" b="1" u="sng">
                <a:latin typeface="Times New Roman"/>
              </a:rPr>
              <a:t>採購填寫預計費用</a:t>
            </a:r>
          </a:p>
          <a:p/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TR:Thu mua Điền phí Dự tính</a:t>
            </a:r>
          </a:p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採購填寫預計費用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556142" y="1779063"/>
            <a:ext cx="9121408" cy="3299873"/>
            <a:chOff x="1848521" y="1580737"/>
            <a:chExt cx="9121408" cy="3299873"/>
          </a:xfrm>
        </p:grpSpPr>
        <p:grpSp>
          <p:nvGrpSpPr>
            <p:cNvPr id="9" name="Group 8"/>
            <p:cNvGrpSpPr/>
            <p:nvPr/>
          </p:nvGrpSpPr>
          <p:grpSpPr>
            <a:xfrm>
              <a:off x="1848521" y="1580737"/>
              <a:ext cx="9121408" cy="3299873"/>
              <a:chOff x="1848521" y="1580737"/>
              <a:chExt cx="9121408" cy="3299873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848521" y="1580737"/>
                <a:ext cx="9121408" cy="329987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grpSp>
            <p:nvGrpSpPr>
              <p:cNvPr id="24" name="Group 23"/>
              <p:cNvGrpSpPr/>
              <p:nvPr/>
            </p:nvGrpSpPr>
            <p:grpSpPr>
              <a:xfrm>
                <a:off x="2569876" y="2033235"/>
                <a:ext cx="6926549" cy="2676525"/>
                <a:chOff x="2569876" y="2033235"/>
                <a:chExt cx="6926549" cy="2676525"/>
              </a:xfrm>
            </p:grpSpPr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724275" y="2033235"/>
                  <a:ext cx="5772150" cy="2676525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cxnSp>
              <p:nvCxnSpPr>
                <p:cNvPr id="32" name="Straight Arrow Connector 31"/>
                <p:cNvCxnSpPr>
                  <a:endCxn id="31" idx="1"/>
                </p:cNvCxnSpPr>
                <p:nvPr/>
              </p:nvCxnSpPr>
              <p:spPr>
                <a:xfrm flipV="1">
                  <a:off x="2569876" y="3371498"/>
                  <a:ext cx="1154399" cy="601714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4" name="Oval 33"/>
            <p:cNvSpPr/>
            <p:nvPr/>
          </p:nvSpPr>
          <p:spPr>
            <a:xfrm>
              <a:off x="2527132" y="3814856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6678930" y="3344604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15957" y="4335934"/>
              <a:ext cx="762973" cy="2922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6588646" y="4177321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217053" y="4609782"/>
            <a:ext cx="4067436" cy="20615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sz="1300" b="1" u="sng">
                <a:latin typeface="Times New Roman"/>
              </a:rPr>
              <a:t>Thao tác Điền chi phí dự tính: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300" b="1" u="sng">
                <a:latin typeface="Times New Roman"/>
              </a:rPr>
              <a:t>預計費用調整操作</a:t>
            </a:r>
          </a:p>
          <a:p>
            <a:r>
              <a:rPr sz="1300" b="1" u="sng">
                <a:latin typeface="Times New Roman"/>
              </a:rPr>
              <a:t>1 – Bẩm “Sửa”</a:t>
            </a:r>
          </a:p>
          <a:p>
            <a:r>
              <a:rPr sz="1300" b="1" u="sng">
                <a:latin typeface="Times New Roman"/>
              </a:rPr>
              <a:t>點擊【編輯】</a:t>
            </a:r>
          </a:p>
          <a:p>
            <a:r>
              <a:rPr sz="1300" b="1" u="sng">
                <a:latin typeface="Times New Roman"/>
              </a:rPr>
              <a:t>2 – Thu mua điền phí dự tính</a:t>
            </a:r>
          </a:p>
          <a:p>
            <a:r>
              <a:rPr sz="1300" b="1" u="sng">
                <a:latin typeface="Times New Roman"/>
              </a:rPr>
              <a:t>採購填寫預計費用</a:t>
            </a:r>
          </a:p>
          <a:p>
            <a:r>
              <a:rPr sz="1300" b="1" u="sng">
                <a:latin typeface="Times New Roman"/>
              </a:rPr>
              <a:t>3 – Bấm “Chắc chắn”</a:t>
            </a:r>
          </a:p>
          <a:p>
            <a:r>
              <a:rPr sz="1300" b="1" u="sng">
                <a:latin typeface="Times New Roman"/>
              </a:rPr>
              <a:t>點選「確認」</a:t>
            </a:r>
          </a:p>
          <a:p/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TR:Thao tác Điền chi phí dự tính: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預計費用調整操作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1 – Bẩm “Sửa”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點擊【編輯】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2 – Thu mua điền phí dự tính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採購填寫預計費用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3 – Bấm “Chắc chắn”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點選「確認」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sz="2400" b="1">
                <a:solidFill>
                  <a:srgbClr val="FF0000"/>
                </a:solidFill>
                <a:latin typeface="Times New Roman"/>
              </a:rPr>
              <a:t>3. THAO TÁC LÀM ĐƠN (7/7)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2400" b="1">
                <a:solidFill>
                  <a:srgbClr val="FF0000"/>
                </a:solidFill>
                <a:latin typeface="Times New Roman"/>
              </a:rPr>
              <a:t>         打單的操作 (1/2)</a:t>
            </a: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TR:3. THAO TÁC LÀM ĐƠN (7/7)</a:t>
            </a:r>
          </a:p>
          <a:p>
            <a:r>
              <a:rPr sz="2400" b="1">
                <a:solidFill>
                  <a:srgbClr val="1F77B4"/>
                </a:solidFill>
                <a:latin typeface="Times New Roman"/>
              </a:rPr>
              <a:t>         打單的操作 (1/2)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146" y="9234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500" b="1" u="sng">
                <a:latin typeface="Times New Roman"/>
              </a:rPr>
              <a:t>Thu mua Điền phí Thực tế:</a:t>
            </a:r>
            <a:endParaRPr lang="en-US" altLang="zh-CN" sz="15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500" b="1" u="sng">
                <a:latin typeface="Times New Roman"/>
              </a:rPr>
              <a:t>採購填寫實際費用</a:t>
            </a:r>
          </a:p>
          <a:p/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TR:Thu mua Điền phí Thực tế:</a:t>
            </a:r>
          </a:p>
          <a:p>
            <a:r>
              <a:rPr sz="1500" b="1" u="sng">
                <a:solidFill>
                  <a:srgbClr val="1F77B4"/>
                </a:solidFill>
                <a:latin typeface="Times New Roman"/>
              </a:rPr>
              <a:t>採購填寫實際費用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61" y="1580737"/>
            <a:ext cx="8944671" cy="3699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oup 5"/>
          <p:cNvGrpSpPr/>
          <p:nvPr/>
        </p:nvGrpSpPr>
        <p:grpSpPr>
          <a:xfrm>
            <a:off x="2515702" y="2202390"/>
            <a:ext cx="7055802" cy="2792520"/>
            <a:chOff x="2515702" y="2202390"/>
            <a:chExt cx="7055802" cy="279252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0279" y="2202390"/>
              <a:ext cx="5991225" cy="27925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25" name="Group 24"/>
            <p:cNvGrpSpPr/>
            <p:nvPr/>
          </p:nvGrpSpPr>
          <p:grpSpPr>
            <a:xfrm>
              <a:off x="2515702" y="3365581"/>
              <a:ext cx="4436050" cy="1533510"/>
              <a:chOff x="2527132" y="3094625"/>
              <a:chExt cx="4436050" cy="1533510"/>
            </a:xfrm>
          </p:grpSpPr>
          <p:cxnSp>
            <p:nvCxnSpPr>
              <p:cNvPr id="26" name="Straight Arrow Connector 25"/>
              <p:cNvCxnSpPr>
                <a:endCxn id="3" idx="1"/>
              </p:cNvCxnSpPr>
              <p:nvPr/>
            </p:nvCxnSpPr>
            <p:spPr>
              <a:xfrm flipV="1">
                <a:off x="2569876" y="3327694"/>
                <a:ext cx="1021833" cy="64551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/>
              <p:cNvSpPr/>
              <p:nvPr/>
            </p:nvSpPr>
            <p:spPr>
              <a:xfrm>
                <a:off x="2527132" y="3814856"/>
                <a:ext cx="374536" cy="327751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1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6334598" y="3094625"/>
                <a:ext cx="374536" cy="327751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2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915957" y="4335934"/>
                <a:ext cx="762973" cy="2922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588646" y="4177321"/>
                <a:ext cx="374536" cy="327751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8" name="Rectangle 37"/>
          <p:cNvSpPr/>
          <p:nvPr/>
        </p:nvSpPr>
        <p:spPr>
          <a:xfrm>
            <a:off x="338623" y="4448277"/>
            <a:ext cx="4067436" cy="21266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sz="1300" b="1" u="sng">
                <a:latin typeface="Times New Roman"/>
              </a:rPr>
              <a:t>Thao tác Điền chi phí Thực tế: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300" b="1" u="sng">
                <a:latin typeface="Times New Roman"/>
              </a:rPr>
              <a:t>實際費用填寫作業</a:t>
            </a:r>
          </a:p>
          <a:p>
            <a:r>
              <a:rPr sz="1300" b="1" u="sng">
                <a:latin typeface="Times New Roman"/>
              </a:rPr>
              <a:t>1 – Bẩm “Sửa”</a:t>
            </a:r>
          </a:p>
          <a:p>
            <a:r>
              <a:rPr sz="1300" b="1" u="sng">
                <a:latin typeface="Times New Roman"/>
              </a:rPr>
              <a:t>點擊【編輯】</a:t>
            </a:r>
          </a:p>
          <a:p>
            <a:r>
              <a:rPr sz="1300" b="1" u="sng">
                <a:latin typeface="Times New Roman"/>
              </a:rPr>
              <a:t>2 – Thu mua điền phí Thực tế</a:t>
            </a:r>
          </a:p>
          <a:p>
            <a:r>
              <a:rPr sz="1300" b="1" u="sng">
                <a:latin typeface="Times New Roman"/>
              </a:rPr>
              <a:t>採購填寫</a:t>
            </a:r>
          </a:p>
          <a:p>
            <a:r>
              <a:rPr sz="1300" b="1" u="sng">
                <a:latin typeface="Times New Roman"/>
              </a:rPr>
              <a:t>3 – Bấm “Chắc chắn”</a:t>
            </a:r>
          </a:p>
          <a:p>
            <a:r>
              <a:rPr sz="1300" b="1" u="sng">
                <a:latin typeface="Times New Roman"/>
              </a:rPr>
              <a:t>點選「確認」</a:t>
            </a:r>
          </a:p>
          <a:p/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TR:Thao tác Điền chi phí Thực tế: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實際費用填寫作業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1 – Bẩm “Sửa”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點擊【編輯】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2 – Thu mua điền phí Thực tế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採購填寫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3 – Bấm “Chắc chắn”</a:t>
            </a:r>
          </a:p>
          <a:p>
            <a:r>
              <a:rPr sz="1300" b="1" u="sng">
                <a:solidFill>
                  <a:srgbClr val="1F77B4"/>
                </a:solidFill>
                <a:latin typeface="Times New Roman"/>
              </a:rPr>
              <a:t>點選「確認」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0657" y="113710"/>
            <a:ext cx="9929883" cy="837961"/>
          </a:xfrm>
        </p:spPr>
        <p:txBody>
          <a:bodyPr>
            <a:noAutofit/>
          </a:bodyPr>
          <a:lstStyle/>
          <a:p>
            <a:r>
              <a:rPr sz="2400" b="1">
                <a:solidFill>
                  <a:srgbClr val="FF0000"/>
                </a:solidFill>
                <a:latin typeface="Times New Roman"/>
              </a:rPr>
              <a:t>4. LƯU TRÌNH KÝ DUYỆT</a:t>
            </a:r>
            <a:br/>
            <a:r>
              <a:t>      簽核流程</a:t>
            </a:r>
            <a:endParaRPr lang="zh-CN" altLang="en-US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TR:4. LƯU TRÌNH KÝ DUYỆT</a:t>
            </a:r>
            <a:br/>
            <a:r>
              <a:t>      簽核流程</a:t>
            </a:r>
          </a:p>
        </p:txBody>
      </p:sp>
      <p:sp>
        <p:nvSpPr>
          <p:cNvPr id="14" name="Rounded Rectangle 7"/>
          <p:cNvSpPr/>
          <p:nvPr/>
        </p:nvSpPr>
        <p:spPr>
          <a:xfrm>
            <a:off x="722546" y="1106612"/>
            <a:ext cx="4624070" cy="5575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latin typeface="Times New Roman"/>
              </a:rPr>
              <a:t>TH: Không phát sinh chênh lệch phí bảo dưỡng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600" b="1">
                <a:latin typeface="Times New Roman"/>
              </a:rPr>
              <a:t>情況一：無發生保養費用</a:t>
            </a:r>
          </a:p>
          <a:p/>
          <a:p>
            <a:r>
              <a:rPr sz="1600" b="1">
                <a:solidFill>
                  <a:srgbClr val="1F77B4"/>
                </a:solidFill>
                <a:latin typeface="Times New Roman"/>
              </a:rPr>
              <a:t>TR:TH: Không phát sinh chênh lệch phí bảo dưỡng</a:t>
            </a:r>
          </a:p>
          <a:p>
            <a:r>
              <a:rPr sz="1600" b="1">
                <a:solidFill>
                  <a:srgbClr val="1F77B4"/>
                </a:solidFill>
                <a:latin typeface="Times New Roman"/>
              </a:rPr>
              <a:t>情況一：無發生保養費用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945630" y="1820545"/>
            <a:ext cx="3648710" cy="4805045"/>
            <a:chOff x="10938" y="2867"/>
            <a:chExt cx="5746" cy="7567"/>
          </a:xfrm>
        </p:grpSpPr>
        <p:sp>
          <p:nvSpPr>
            <p:cNvPr id="5" name="Down Arrow 22"/>
            <p:cNvSpPr/>
            <p:nvPr/>
          </p:nvSpPr>
          <p:spPr>
            <a:xfrm>
              <a:off x="13591" y="3849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Rounded Rectangle 37"/>
            <p:cNvSpPr/>
            <p:nvPr/>
          </p:nvSpPr>
          <p:spPr>
            <a:xfrm>
              <a:off x="11335" y="2867"/>
              <a:ext cx="4943" cy="899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Nhân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viên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lập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đơn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打單者</a:t>
              </a:r>
              <a:endParaRPr lang="zh-CN" alt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Rounded Rectangle 37"/>
            <p:cNvSpPr/>
            <p:nvPr/>
          </p:nvSpPr>
          <p:spPr>
            <a:xfrm>
              <a:off x="11317" y="4162"/>
              <a:ext cx="4980" cy="892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6" name="Rounded Rectangle 44"/>
            <p:cNvSpPr/>
            <p:nvPr/>
          </p:nvSpPr>
          <p:spPr>
            <a:xfrm>
              <a:off x="10938" y="5450"/>
              <a:ext cx="5746" cy="910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dự tính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Down Arrow 22"/>
            <p:cNvSpPr/>
            <p:nvPr/>
          </p:nvSpPr>
          <p:spPr>
            <a:xfrm>
              <a:off x="13591" y="5137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Down Arrow 22"/>
            <p:cNvSpPr/>
            <p:nvPr/>
          </p:nvSpPr>
          <p:spPr>
            <a:xfrm>
              <a:off x="13591" y="6422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" name="Rounded Rectangle 37"/>
            <p:cNvSpPr/>
            <p:nvPr/>
          </p:nvSpPr>
          <p:spPr>
            <a:xfrm>
              <a:off x="11317" y="6737"/>
              <a:ext cx="4980" cy="908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P.TGĐ)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簽核層級（副總經理）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Rounded Rectangle 44"/>
            <p:cNvSpPr/>
            <p:nvPr/>
          </p:nvSpPr>
          <p:spPr>
            <a:xfrm>
              <a:off x="10938" y="8041"/>
              <a:ext cx="5737" cy="951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thực tế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Down Arrow 22"/>
            <p:cNvSpPr/>
            <p:nvPr/>
          </p:nvSpPr>
          <p:spPr>
            <a:xfrm>
              <a:off x="13591" y="7728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37"/>
            <p:cNvSpPr/>
            <p:nvPr/>
          </p:nvSpPr>
          <p:spPr>
            <a:xfrm>
              <a:off x="11317" y="9467"/>
              <a:ext cx="4980" cy="967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(Từ TP đến P.TGĐ)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</a:t>
              </a:r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副理</a:t>
              </a:r>
              <a:r>
                <a:rPr lang="en-US" altLang="zh-CN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 =&gt; </a:t>
              </a:r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副總經理）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Down Arrow 22"/>
            <p:cNvSpPr/>
            <p:nvPr/>
          </p:nvSpPr>
          <p:spPr>
            <a:xfrm>
              <a:off x="13590" y="9091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ounded Rectangle 7"/>
          <p:cNvSpPr/>
          <p:nvPr/>
        </p:nvSpPr>
        <p:spPr>
          <a:xfrm>
            <a:off x="6501068" y="1106612"/>
            <a:ext cx="4448810" cy="5575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latin typeface="Times New Roman"/>
              </a:rPr>
              <a:t>TH: Có phát sinh chênh lệch phí bảo dưỡng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sz="1600" b="1">
                <a:latin typeface="Times New Roman"/>
              </a:rPr>
              <a:t>情況：有發生保養費用</a:t>
            </a:r>
          </a:p>
          <a:p/>
          <a:p>
            <a:r>
              <a:rPr sz="1600" b="1">
                <a:solidFill>
                  <a:srgbClr val="1F77B4"/>
                </a:solidFill>
                <a:latin typeface="Times New Roman"/>
              </a:rPr>
              <a:t>TR:TH: Có phát sinh chênh lệch phí bảo dưỡng</a:t>
            </a:r>
          </a:p>
          <a:p>
            <a:r>
              <a:rPr sz="1600" b="1">
                <a:solidFill>
                  <a:srgbClr val="1F77B4"/>
                </a:solidFill>
                <a:latin typeface="Times New Roman"/>
              </a:rPr>
              <a:t>情況：有發生保養費用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179830" y="1820545"/>
            <a:ext cx="3642995" cy="3855720"/>
            <a:chOff x="1858" y="2867"/>
            <a:chExt cx="5737" cy="6072"/>
          </a:xfrm>
        </p:grpSpPr>
        <p:sp>
          <p:nvSpPr>
            <p:cNvPr id="21" name="Down Arrow 22"/>
            <p:cNvSpPr/>
            <p:nvPr/>
          </p:nvSpPr>
          <p:spPr>
            <a:xfrm>
              <a:off x="4554" y="3774"/>
              <a:ext cx="346" cy="214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Rounded Rectangle 37"/>
            <p:cNvSpPr/>
            <p:nvPr/>
          </p:nvSpPr>
          <p:spPr>
            <a:xfrm>
              <a:off x="2255" y="2867"/>
              <a:ext cx="4943" cy="834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Nhân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viên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lập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đơn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打單者</a:t>
              </a:r>
              <a:endParaRPr lang="zh-CN" alt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Rounded Rectangle 37"/>
            <p:cNvSpPr/>
            <p:nvPr/>
          </p:nvSpPr>
          <p:spPr>
            <a:xfrm>
              <a:off x="2237" y="4137"/>
              <a:ext cx="4980" cy="884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Down Arrow 22"/>
            <p:cNvSpPr/>
            <p:nvPr/>
          </p:nvSpPr>
          <p:spPr>
            <a:xfrm>
              <a:off x="4554" y="5119"/>
              <a:ext cx="346" cy="264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Rounded Rectangle 44"/>
            <p:cNvSpPr/>
            <p:nvPr/>
          </p:nvSpPr>
          <p:spPr>
            <a:xfrm>
              <a:off x="1867" y="5456"/>
              <a:ext cx="5728" cy="832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dự tính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8" name="Down Arrow 22"/>
            <p:cNvSpPr/>
            <p:nvPr/>
          </p:nvSpPr>
          <p:spPr>
            <a:xfrm>
              <a:off x="4511" y="6456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Rounded Rectangle 37"/>
            <p:cNvSpPr/>
            <p:nvPr/>
          </p:nvSpPr>
          <p:spPr>
            <a:xfrm>
              <a:off x="2237" y="6722"/>
              <a:ext cx="4980" cy="908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P.TGĐ)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簽核層級（副總經理）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Down Arrow 22"/>
            <p:cNvSpPr/>
            <p:nvPr/>
          </p:nvSpPr>
          <p:spPr>
            <a:xfrm>
              <a:off x="4511" y="7703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Rounded Rectangle 44"/>
            <p:cNvSpPr/>
            <p:nvPr/>
          </p:nvSpPr>
          <p:spPr>
            <a:xfrm>
              <a:off x="1858" y="8006"/>
              <a:ext cx="5737" cy="933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thực tế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32" name="Straight Connector 31"/>
          <p:cNvCxnSpPr/>
          <p:nvPr/>
        </p:nvCxnSpPr>
        <p:spPr>
          <a:xfrm>
            <a:off x="5870406" y="1091786"/>
            <a:ext cx="0" cy="505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0657" y="113710"/>
            <a:ext cx="9929883" cy="837961"/>
          </a:xfrm>
        </p:spPr>
        <p:txBody>
          <a:bodyPr>
            <a:noAutofit/>
          </a:bodyPr>
          <a:lstStyle/>
          <a:p>
            <a:r>
              <a:rPr sz="2400" b="1">
                <a:solidFill>
                  <a:srgbClr val="FF0000"/>
                </a:solidFill>
                <a:latin typeface="Times New Roman"/>
              </a:rPr>
              <a:t>4. LƯU TRÌNH KÝ DUYỆT</a:t>
            </a:r>
            <a:br/>
            <a:r>
              <a:t>    簽核流程</a:t>
            </a:r>
            <a:endParaRPr lang="zh-CN" altLang="en-US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TR:4. LƯU TRÌNH KÝ DUYỆT</a:t>
            </a:r>
            <a:br/>
            <a:r>
              <a:t>    簽核流程</a:t>
            </a: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2433955" y="1358392"/>
          <a:ext cx="6952615" cy="5210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6645"/>
                <a:gridCol w="1016635"/>
                <a:gridCol w="1130300"/>
                <a:gridCol w="1409065"/>
                <a:gridCol w="1029970"/>
              </a:tblGrid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/>
                        <a:t>Xưởng 1廠</a:t>
                      </a:r>
                      <a:endParaRPr lang="en-US" sz="130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  <a:p/>
                    <a:p>
                      <a:r>
                        <a:rPr>
                          <a:solidFill>
                            <a:srgbClr val="1F77B4"/>
                          </a:solidFill>
                        </a:rPr>
                        <a:t>TR:Xưởng 1廠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latin typeface="Times New Roman"/>
                        </a:rPr>
                        <a:t>Xưởng 2+5</a:t>
                      </a:r>
                      <a:endParaRPr lang="en-US" sz="1300" b="1" dirty="0">
                        <a:ln>
                          <a:noFill/>
                        </a:ln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 b="1">
                          <a:latin typeface="Times New Roman"/>
                        </a:rPr>
                        <a:t>廠</a:t>
                      </a: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TR:Xưởng 2+5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latin typeface="Times New Roman"/>
                        </a:rPr>
                        <a:t>Xưởng 3+4</a:t>
                      </a:r>
                      <a:endParaRPr lang="en-US" sz="1300" b="1" dirty="0">
                        <a:ln>
                          <a:noFill/>
                        </a:ln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 b="1">
                          <a:latin typeface="Times New Roman"/>
                        </a:rPr>
                        <a:t>廠</a:t>
                      </a: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TR:Xưởng 3+4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latin typeface="Times New Roman"/>
                        </a:rPr>
                        <a:t>Xưởng 6</a:t>
                      </a:r>
                      <a:endParaRPr lang="en-US" sz="1300" b="1" dirty="0">
                        <a:ln>
                          <a:noFill/>
                        </a:ln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 b="1">
                          <a:latin typeface="Times New Roman"/>
                        </a:rPr>
                        <a:t>廠</a:t>
                      </a: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TR:Xưởng 6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latin typeface="Times New Roman"/>
                        </a:rPr>
                        <a:t>Người làm đơn (NLĐ)</a:t>
                      </a:r>
                      <a:endParaRPr lang="en-US" sz="1300" b="1" dirty="0">
                        <a:ln>
                          <a:noFill/>
                        </a:ln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 b="1">
                          <a:latin typeface="Times New Roman"/>
                        </a:rPr>
                        <a:t>打單者</a:t>
                      </a: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TR:Người làm đơn (NLĐ)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打單者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NLĐ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 b="1">
                          <a:latin typeface="Times New Roman"/>
                        </a:rPr>
                        <a:t>勞動者</a:t>
                      </a: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TR:NLĐ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NLĐ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勞動者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TR:NLĐ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NLĐ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勞動者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TR:NLĐ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NLĐ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勞動者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TR:NLĐ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Nhóm/ Tổ trưởng (NT/TT)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 小組長/組長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TR:Nhóm/ Tổ trưởng (NT/TT)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 小組長/組長</a:t>
                      </a:r>
                    </a:p>
                  </a:txBody>
                  <a:tcPr anchor="ctr"/>
                </a:tc>
              </a:tr>
              <a:tr h="42545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#00400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TR:#00400</a:t>
                      </a:r>
                    </a:p>
                  </a:txBody>
                  <a:tcPr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#01932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TR:#01932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#00758;#00231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TR:#00758;#00231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#03027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TR:#03027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#02196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TR:#02196</a:t>
                      </a:r>
                    </a:p>
                  </a:txBody>
                  <a:tcPr anchor="ctr"/>
                </a:tc>
              </a:tr>
              <a:tr h="261620">
                <a:tc vMerge="1">
                  <a:txBody>
                    <a:bodyPr/>
                    <a:p>
                      <a:r>
                        <a:rPr/>
                        <a:t>#02529</a:t>
                      </a:r>
                    </a:p>
                    <a:p/>
                    <a:p>
                      <a:r>
                        <a:rPr>
                          <a:solidFill>
                            <a:srgbClr val="1F77B4"/>
                          </a:solidFill>
                        </a:rPr>
                        <a:t>TR:#02529</a:t>
                      </a:r>
                    </a:p>
                  </a:txBody>
                  <a:tcPr/>
                </a:tc>
                <a:tc vMerge="1">
                  <a:txBody>
                    <a:bodyPr/>
                    <a:p>
                      <a:r>
                        <a:rPr/>
                        <a:t>Trưởng phòng (TP)</a:t>
                      </a:r>
                    </a:p>
                    <a:p>
                      <a:r>
                        <a:rPr/>
                        <a:t>課長</a:t>
                      </a:r>
                    </a:p>
                    <a:p/>
                    <a:p>
                      <a:r>
                        <a:rPr>
                          <a:solidFill>
                            <a:srgbClr val="1F77B4"/>
                          </a:solidFill>
                        </a:rPr>
                        <a:t>TR:Trưởng phòng (TP)</a:t>
                      </a:r>
                    </a:p>
                    <a:p>
                      <a:r>
                        <a:rPr>
                          <a:solidFill>
                            <a:srgbClr val="1F77B4"/>
                          </a:solidFill>
                        </a:rPr>
                        <a:t>課長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TP 課長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TR:TP 課長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TP 課長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TR:TP 課長</a:t>
                      </a:r>
                    </a:p>
                  </a:txBody>
                  <a:tcPr anchor="ctr"/>
                </a:tc>
                <a:tc vMerge="1">
                  <a:txBody>
                    <a:bodyPr/>
                    <a:p>
                      <a:r>
                        <a:rPr/>
                        <a:t>TP 課長</a:t>
                      </a:r>
                    </a:p>
                    <a:p/>
                    <a:p>
                      <a:r>
                        <a:rPr>
                          <a:solidFill>
                            <a:srgbClr val="1F77B4"/>
                          </a:solidFill>
                        </a:rPr>
                        <a:t>TR:TP 課長</a:t>
                      </a:r>
                    </a:p>
                  </a:txBody>
                  <a:tcPr/>
                </a:tc>
              </a:tr>
              <a:tr h="39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TP 課長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TR:TP 課長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Phó giám đốc (P.GĐ)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副理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TR:Phó giám đốc (P.GĐ)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副理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300">
                          <a:latin typeface="Times New Roman"/>
                        </a:rPr>
                        <a:t>P.GĐ 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TR:P.GĐ 副總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P.GĐ 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TR:P.GĐ 副總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P.GĐ 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TR:P.GĐ 副總</a:t>
                      </a:r>
                    </a:p>
                  </a:txBody>
                  <a:tcPr anchor="ctr"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P.GĐ 副總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TR:P.GĐ 副總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Giám đốc (GĐ)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經理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TR:Giám đốc (GĐ)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經理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GĐ 經理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TR:GĐ 經理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GĐ 經理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TR:GĐ 經理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GĐ 經理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TR:GĐ 經理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GĐ 經理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TR:GĐ 經理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Phó tổng giám đốc (P.TGĐ)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副總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TR:Phó tổng giám đốc (P.TGĐ)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副總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P.TGĐ 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TR:P.TGĐ 副總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P.TGĐ 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TR:P.TGĐ 副總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P.TGĐ 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TR:P.TGĐ 副總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P.TGĐ 副總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TR:P.TGĐ 副總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Thu mua xác nhận (TM)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採購確認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TR:Thu mua xác nhận (TM)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採購確認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TM 採購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TR:TM 採購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TM 採購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TR:TM 採購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TM 採購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TR:TM 採購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TM 採購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TR:TM 採購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Thông báo 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通知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TR:Thông báo 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通知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NLĐ; NT/TT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>
                          <a:latin typeface="Times New Roman"/>
                        </a:rPr>
                        <a:t>小組長/組長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TR:NLĐ; NT/TT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小組長/組長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NLĐ; NT/TT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>
                          <a:latin typeface="Times New Roman"/>
                        </a:rPr>
                        <a:t>小組長/組長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TR:NLĐ; NT/TT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小組長/組長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Times New Roman"/>
                        </a:rPr>
                        <a:t>NLĐ; NT/TT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>
                          <a:latin typeface="Times New Roman"/>
                        </a:rPr>
                        <a:t>小組長/組長</a:t>
                      </a:r>
                    </a:p>
                    <a:p/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TR:NLĐ; NT/TT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>
                          <a:solidFill>
                            <a:srgbClr val="1F77B4"/>
                          </a:solidFill>
                          <a:latin typeface="Times New Roman"/>
                        </a:rPr>
                        <a:t>小組長/組長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latin typeface="Times New Roman"/>
                        </a:rPr>
                        <a:t>NLĐ; NT/TT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sz="1300" b="1"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 b="1">
                          <a:latin typeface="Times New Roman"/>
                        </a:rPr>
                        <a:t>小組長/組長</a:t>
                      </a:r>
                    </a:p>
                    <a:p/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TR:NLĐ; NT/TT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勞動者</a:t>
                      </a:r>
                    </a:p>
                    <a:p>
                      <a:r>
                        <a:rPr sz="1300" b="1">
                          <a:solidFill>
                            <a:srgbClr val="1F77B4"/>
                          </a:solidFill>
                          <a:latin typeface="Times New Roman"/>
                        </a:rPr>
                        <a:t>小組長/組長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NLĐ; NT/TT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NLĐ; NT/TT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NLĐ; NT/TT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NLĐ; NT/TT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/>
          <p:nvPr/>
        </p:nvSpPr>
        <p:spPr>
          <a:xfrm>
            <a:off x="1581158" y="85594"/>
            <a:ext cx="8748888" cy="87785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FF0000"/>
                </a:solidFill>
                <a:latin typeface="Times New Roman"/>
              </a:rPr>
              <a:t>5. THÔNG BÁO EMAIL &amp; BPM KÝ HOÀN THÀNH</a:t>
            </a:r>
            <a:br/>
            <a:r>
              <a:t>        完成簽核 EMAIL &amp; BPM 的通知</a:t>
            </a:r>
            <a:endParaRPr lang="zh-CN" altLang="en-US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/>
          <a:p>
            <a:r>
              <a:rPr sz="2400" b="1">
                <a:solidFill>
                  <a:srgbClr val="1F77B4"/>
                </a:solidFill>
                <a:latin typeface="Times New Roman"/>
              </a:rPr>
              <a:t>TR:5. THÔNG BÁO EMAIL &amp; BPM KÝ HOÀN THÀNH</a:t>
            </a:r>
            <a:br/>
            <a:r>
              <a:t>        完成簽核 EMAIL &amp; BPM 的通知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6325919" y="1478844"/>
            <a:ext cx="5182142" cy="620280"/>
          </a:xfrm>
          <a:prstGeom prst="wedgeRoundRectCallout">
            <a:avLst>
              <a:gd name="adj1" fmla="val -24597"/>
              <a:gd name="adj2" fmla="val -4868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b="1">
                <a:solidFill>
                  <a:srgbClr val="FF0000"/>
                </a:solidFill>
                <a:latin typeface="Times New Roman"/>
              </a:rPr>
              <a:t>BPM: Hạng mục công việc hoàn thành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b="1">
                <a:solidFill>
                  <a:srgbClr val="FF0000"/>
                </a:solidFill>
                <a:latin typeface="Times New Roman"/>
              </a:rPr>
              <a:t>  完成工作項目</a:t>
            </a:r>
          </a:p>
          <a:p/>
          <a:p>
            <a:r>
              <a:rPr b="1">
                <a:solidFill>
                  <a:srgbClr val="1F77B4"/>
                </a:solidFill>
                <a:latin typeface="Times New Roman"/>
              </a:rPr>
              <a:t>TR:BPM: Hạng mục công việc hoàn thành</a:t>
            </a:r>
          </a:p>
          <a:p>
            <a:r>
              <a:rPr b="1">
                <a:solidFill>
                  <a:srgbClr val="1F77B4"/>
                </a:solidFill>
                <a:latin typeface="Times New Roman"/>
              </a:rPr>
              <a:t>  完成工作項目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895118" y="1478844"/>
            <a:ext cx="4914668" cy="620280"/>
          </a:xfrm>
          <a:prstGeom prst="wedgeRoundRectCallout">
            <a:avLst>
              <a:gd name="adj1" fmla="val -24597"/>
              <a:gd name="adj2" fmla="val -4868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b="1">
                <a:solidFill>
                  <a:srgbClr val="FF0000"/>
                </a:solidFill>
                <a:latin typeface="Times New Roman"/>
              </a:rPr>
              <a:t>EMAIL: Thông báo quy trình ký hoàn thành</a:t>
            </a:r>
            <a:endParaRPr lang="vi-VN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b="1">
                <a:solidFill>
                  <a:srgbClr val="FF0000"/>
                </a:solidFill>
                <a:latin typeface="Times New Roman"/>
              </a:rPr>
              <a:t>  簽核完成通知</a:t>
            </a:r>
          </a:p>
          <a:p/>
          <a:p>
            <a:r>
              <a:rPr b="1">
                <a:solidFill>
                  <a:srgbClr val="1F77B4"/>
                </a:solidFill>
                <a:latin typeface="Times New Roman"/>
              </a:rPr>
              <a:t>TR:EMAIL: Thông báo quy trình ký hoàn thành</a:t>
            </a:r>
          </a:p>
          <a:p>
            <a:r>
              <a:rPr b="1">
                <a:solidFill>
                  <a:srgbClr val="1F77B4"/>
                </a:solidFill>
                <a:latin typeface="Times New Roman"/>
              </a:rPr>
              <a:t>  簽核完成通知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325919" y="2767330"/>
            <a:ext cx="5151390" cy="3427730"/>
            <a:chOff x="6325919" y="2767330"/>
            <a:chExt cx="5151390" cy="342773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25919" y="2767330"/>
              <a:ext cx="5151390" cy="20789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5919" y="4834267"/>
              <a:ext cx="5151390" cy="13607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18" y="2767330"/>
            <a:ext cx="4914668" cy="34277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08329" y="1703906"/>
            <a:ext cx="10515600" cy="2170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7200" b="1" i="1">
                <a:solidFill>
                  <a:srgbClr val="0707FF"/>
                </a:solidFill>
                <a:latin typeface="Times New Roman"/>
              </a:rPr>
              <a:t>THANK YOU！</a:t>
            </a:r>
            <a:endParaRPr lang="zh-CN" altLang="en-US" sz="7200" b="1" i="1" dirty="0">
              <a:solidFill>
                <a:srgbClr val="0707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/>
          <a:p>
            <a:r>
              <a:rPr sz="7200" b="1" i="1">
                <a:solidFill>
                  <a:srgbClr val="1F77B4"/>
                </a:solidFill>
                <a:latin typeface="Times New Roman"/>
              </a:rPr>
              <a:t>TR:THANK YOU！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94*433"/>
  <p:tag name="TABLE_ENDDRAG_RECT" val="434*74*494*43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03BE9727992A24479AC7469DEEDEA94C" ma:contentTypeVersion="18" ma:contentTypeDescription="Tạo tài liệu mới." ma:contentTypeScope="" ma:versionID="fcedeea1ed1b8db8f0f651ab27b63a68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a5dd6d7f0f03813c2927d9f419379363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Thẻ Hình ảnh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2.xml><?xml version="1.0" encoding="utf-8"?>
<ds:datastoreItem xmlns:ds="http://schemas.openxmlformats.org/officeDocument/2006/customXml" ds:itemID="{0F65C1FF-1446-411D-B2FF-AF5D22B215D4}">
  <ds:schemaRefs/>
</ds:datastoreItem>
</file>

<file path=customXml/itemProps3.xml><?xml version="1.0" encoding="utf-8"?>
<ds:datastoreItem xmlns:ds="http://schemas.openxmlformats.org/officeDocument/2006/customXml" ds:itemID="{97D2AC0E-D8DE-4CBE-8993-E684431096FB}"/>
</file>

<file path=customXml/itemProps4.xml><?xml version="1.0" encoding="utf-8"?>
<ds:datastoreItem xmlns:ds="http://schemas.openxmlformats.org/officeDocument/2006/customXml" ds:itemID="{7644DA33-5212-4847-828F-AFC42312FE7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3053</Words>
  <Application>WPS Presentation</Application>
  <PresentationFormat>Widescreen</PresentationFormat>
  <Paragraphs>339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Microsoft JhengHei</vt:lpstr>
      <vt:lpstr>Wingdings</vt:lpstr>
      <vt:lpstr>Microsoft YaHei</vt:lpstr>
      <vt:lpstr>Arial Unicode MS</vt:lpstr>
      <vt:lpstr>Calibri Light</vt:lpstr>
      <vt:lpstr>Calibri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LƯU TRÌNH KÝ DUYỆT       簽核流程</vt:lpstr>
      <vt:lpstr>4. LƯU TRÌNH KÝ DUYỆT     簽核流程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EIP 概念介紹</dc:title>
  <dc:creator>User</dc:creator>
  <cp:lastModifiedBy>Hien Nguyen</cp:lastModifiedBy>
  <cp:revision>246</cp:revision>
  <dcterms:created xsi:type="dcterms:W3CDTF">2023-02-18T02:27:00Z</dcterms:created>
  <dcterms:modified xsi:type="dcterms:W3CDTF">2026-01-08T04:05:43Z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0x01010003BE9727992A24479AC7469DEEDEA94C</vt:lpwstr>
  </property>
  <property fmtid="{D5CDD505-2E9C-101B-9397-08002B2CF9AE}" pid="3" name="MediaServiceImageTags">
    <vt:lpwstr/>
  </property>
  <property fmtid="{D5CDD505-2E9C-101B-9397-08002B2CF9AE}" pid="4" name="ICV">
    <vt:lpwstr>22C5B34CB1E542ED971EA5BE74A35B4D_13</vt:lpwstr>
  </property>
  <property fmtid="{D5CDD505-2E9C-101B-9397-08002B2CF9AE}" pid="5" name="KSOProductBuildVer">
    <vt:lpwstr>1033-12.2.0.23196</vt:lpwstr>
  </property>
</Properties>
</file>