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309" r:id="rId3"/>
    <p:sldId id="333" r:id="rId4"/>
    <p:sldId id="331" r:id="rId5"/>
    <p:sldId id="317" r:id="rId6"/>
    <p:sldId id="336" r:id="rId8"/>
    <p:sldId id="339" r:id="rId9"/>
    <p:sldId id="340" r:id="rId10"/>
    <p:sldId id="330" r:id="rId11"/>
    <p:sldId id="337" r:id="rId12"/>
    <p:sldId id="338" r:id="rId13"/>
    <p:sldId id="334" r:id="rId14"/>
    <p:sldId id="335" r:id="rId15"/>
    <p:sldId id="319" r:id="rId16"/>
    <p:sldId id="32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707FF"/>
    <a:srgbClr val="0000CC"/>
    <a:srgbClr val="401BC0"/>
    <a:srgbClr val="E050D9"/>
    <a:srgbClr val="3D8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88" autoAdjust="0"/>
  </p:normalViewPr>
  <p:slideViewPr>
    <p:cSldViewPr snapToGrid="0">
      <p:cViewPr>
        <p:scale>
          <a:sx n="50" d="100"/>
          <a:sy n="50" d="100"/>
        </p:scale>
        <p:origin x="139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customXml" Target="../customXml/item3.xml"/><Relationship Id="rId22" Type="http://schemas.openxmlformats.org/officeDocument/2006/relationships/customXml" Target="../customXml/item2.xml"/><Relationship Id="rId21" Type="http://schemas.openxmlformats.org/officeDocument/2006/relationships/customXml" Target="../customXml/item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8C2204-0341-4078-81D2-5D325AEBB96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FA0C7-5DD6-4124-9231-1F628070753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0FA0C7-5DD6-4124-9231-1F628070753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0FA0C7-5DD6-4124-9231-1F628070753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0FA0C7-5DD6-4124-9231-1F628070753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0FA0C7-5DD6-4124-9231-1F628070753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0FA0C7-5DD6-4124-9231-1F628070753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0FA0C7-5DD6-4124-9231-1F628070753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0FA0C7-5DD6-4124-9231-1F628070753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4334-D09A-4FA5-ADE4-DAFA58A7F28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4334-D09A-4FA5-ADE4-DAFA58A7F28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4334-D09A-4FA5-ADE4-DAFA58A7F28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4334-D09A-4FA5-ADE4-DAFA58A7F28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4334-D09A-4FA5-ADE4-DAFA58A7F28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4334-D09A-4FA5-ADE4-DAFA58A7F28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4334-D09A-4FA5-ADE4-DAFA58A7F28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4334-D09A-4FA5-ADE4-DAFA58A7F28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4334-D09A-4FA5-ADE4-DAFA58A7F28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4334-D09A-4FA5-ADE4-DAFA58A7F28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4334-D09A-4FA5-ADE4-DAFA58A7F28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497FB-27AA-46C5-9217-E039E6C03C1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94334-D09A-4FA5-ADE4-DAFA58A7F284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8" y="0"/>
            <a:ext cx="1555184" cy="100640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021840"/>
            <a:ext cx="12192001" cy="1727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ĐỀ XUẤT KÝ DUYỆT </a:t>
            </a:r>
            <a:r>
              <a:rPr lang="vi-VN" sz="32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BPM</a:t>
            </a:r>
            <a:endParaRPr lang="vi-VN" sz="3200" b="1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ĐƠN XIN BẢO DƯỠNG XE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2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【車輛保養申請單】打單操作說明</a:t>
            </a:r>
            <a:endParaRPr lang="zh-CN" altLang="en-US" sz="3200" b="1" dirty="0">
              <a:solidFill>
                <a:srgbClr val="0707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/>
        </p:nvSpPr>
        <p:spPr>
          <a:xfrm>
            <a:off x="1868805" y="0"/>
            <a:ext cx="9711690" cy="969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</a:defRPr>
            </a:lvl1pPr>
          </a:lstStyle>
          <a:p>
            <a:pPr marL="457200" indent="-457200" algn="l">
              <a:buAutoNum type="arabicPeriod"/>
            </a:pPr>
            <a:r>
              <a:rPr lang="en-US" altLang="zh-TW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ĐỀ XUẤT CẢI THIỆN</a:t>
            </a:r>
            <a:endParaRPr lang="en-US" altLang="zh-TW" sz="240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sz="2400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400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改善建議</a:t>
            </a:r>
            <a:r>
              <a:rPr lang="en-US" altLang="zh-TW" sz="2400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altLang="zh-TW" sz="2400" b="1" dirty="0">
              <a:solidFill>
                <a:srgbClr val="0707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7"/>
          <p:cNvSpPr/>
          <p:nvPr/>
        </p:nvSpPr>
        <p:spPr>
          <a:xfrm>
            <a:off x="111553" y="1771416"/>
            <a:ext cx="3517302" cy="2663790"/>
          </a:xfrm>
          <a:prstGeom prst="roundRect">
            <a:avLst/>
          </a:prstGeom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In bản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giấy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cứng,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xin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ký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duyệt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tới cấp P.TGĐ =&gt; Thu mua xác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nhận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列印紙本，並請簽核至副總層級 </a:t>
            </a:r>
            <a:r>
              <a:rPr lang="en-US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=&gt; </a:t>
            </a:r>
            <a:r>
              <a:rPr lang="zh-CN" altLang="en-US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採購確認</a:t>
            </a:r>
            <a:endParaRPr lang="en-US" dirty="0">
              <a:solidFill>
                <a:srgbClr val="0707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endParaRPr lang="en-US" dirty="0">
              <a:solidFill>
                <a:srgbClr val="0707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Rounded Rectangle 7"/>
          <p:cNvSpPr/>
          <p:nvPr/>
        </p:nvSpPr>
        <p:spPr>
          <a:xfrm>
            <a:off x="3766568" y="3334159"/>
            <a:ext cx="4554220" cy="3050750"/>
          </a:xfrm>
          <a:prstGeom prst="roundRect">
            <a:avLst/>
          </a:prstGeom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Sau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khi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ký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duyệt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hoàn thành, tự động gửi thông báo kết quả ký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duyệt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qua email UOF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cho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người lập và người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quản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lý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簽核完畢後，</a:t>
            </a:r>
            <a:r>
              <a:rPr lang="zh-TW" altLang="en-US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系統將自動透過 </a:t>
            </a:r>
            <a:r>
              <a:rPr lang="en-US" altLang="zh-TW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UOF </a:t>
            </a:r>
            <a:r>
              <a:rPr lang="zh-TW" altLang="en-US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電子郵件發送簽核結果通知給申請人及</a:t>
            </a:r>
            <a:r>
              <a:rPr lang="zh-CN" altLang="en-US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管理者</a:t>
            </a:r>
            <a:endParaRPr lang="en-US" dirty="0">
              <a:solidFill>
                <a:srgbClr val="0707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2" name="Rounded Rectangle 7"/>
          <p:cNvSpPr/>
          <p:nvPr/>
        </p:nvSpPr>
        <p:spPr>
          <a:xfrm>
            <a:off x="3828562" y="1818965"/>
            <a:ext cx="4652645" cy="1515194"/>
          </a:xfrm>
          <a:prstGeom prst="roundRect">
            <a:avLst/>
          </a:prstGeom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Ký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duyệt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điện tử BPM đến cấp P.TGĐ =&gt; Thu Mua tiếp nhận xác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nhận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đơn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BPM </a:t>
            </a:r>
            <a:r>
              <a:rPr lang="zh-CN" altLang="en-US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電子簽核至副總 </a:t>
            </a:r>
            <a:r>
              <a:rPr lang="en-US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=&gt;  </a:t>
            </a:r>
            <a:r>
              <a:rPr lang="zh-CN" altLang="en-US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採購確認</a:t>
            </a:r>
            <a:endParaRPr lang="en-US" dirty="0">
              <a:solidFill>
                <a:srgbClr val="0707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Rounded Rectangle 7"/>
          <p:cNvSpPr/>
          <p:nvPr/>
        </p:nvSpPr>
        <p:spPr>
          <a:xfrm>
            <a:off x="391885" y="973575"/>
            <a:ext cx="2888167" cy="55742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TRƯỚC CẢI THIỆN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改善前</a:t>
            </a:r>
            <a:endParaRPr lang="en-US" sz="1600" b="1" dirty="0">
              <a:solidFill>
                <a:srgbClr val="0707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5" name="Rounded Rectangle 7"/>
          <p:cNvSpPr/>
          <p:nvPr/>
        </p:nvSpPr>
        <p:spPr>
          <a:xfrm>
            <a:off x="4511750" y="962061"/>
            <a:ext cx="3168500" cy="568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SAU CẢI THIỆN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改善後</a:t>
            </a:r>
            <a:endParaRPr lang="en-US" sz="1600" b="1" dirty="0">
              <a:solidFill>
                <a:srgbClr val="0707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7" name="Rounded Rectangle 7"/>
          <p:cNvSpPr/>
          <p:nvPr/>
        </p:nvSpPr>
        <p:spPr>
          <a:xfrm>
            <a:off x="8807304" y="962060"/>
            <a:ext cx="3168500" cy="56894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LỢI ÍCH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效益</a:t>
            </a:r>
            <a:endParaRPr lang="en-US" sz="1600" b="1" dirty="0">
              <a:solidFill>
                <a:srgbClr val="0707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3658701" y="1024271"/>
            <a:ext cx="0" cy="5059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8432588" y="973575"/>
            <a:ext cx="61845" cy="51102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11553" y="1613860"/>
            <a:ext cx="11864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Box 3"/>
          <p:cNvSpPr txBox="1"/>
          <p:nvPr/>
        </p:nvSpPr>
        <p:spPr>
          <a:xfrm>
            <a:off x="8481060" y="1901825"/>
            <a:ext cx="371348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Giảm thời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gian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ký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duyệt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và lưu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trữ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TW" altLang="en-US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縮短簽核與歸檔時間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dirty="0" err="1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Hạn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chế in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ấn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và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quản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lý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hồ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sơ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減少列印及檔案管理的工作量</a:t>
            </a:r>
            <a:endParaRPr lang="en-US" dirty="0">
              <a:solidFill>
                <a:srgbClr val="0707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Dễ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dàng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tra cứu dữ liệu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易於查詢資料</a:t>
            </a:r>
            <a:r>
              <a:rPr lang="en-US" altLang="zh-CN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   </a:t>
            </a:r>
            <a:endParaRPr lang="en-US" altLang="zh-CN" dirty="0">
              <a:solidFill>
                <a:srgbClr val="0707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/>
        </p:nvSpPr>
        <p:spPr>
          <a:xfrm>
            <a:off x="1868805" y="0"/>
            <a:ext cx="9711690" cy="969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</a:defRPr>
            </a:lvl1pPr>
          </a:lstStyle>
          <a:p>
            <a:pPr algn="l"/>
            <a:r>
              <a:rPr lang="en-US" altLang="zh-TW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 ĐỀ XUẤT KÝ DUYỆT ĐƠN TRÊN UOF</a:t>
            </a:r>
            <a:endParaRPr lang="en-US" altLang="zh-TW" sz="240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建議改善 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UOF 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上的單據</a:t>
            </a:r>
            <a:endParaRPr lang="zh-CN" altLang="en-US" sz="2400" b="1" dirty="0">
              <a:solidFill>
                <a:srgbClr val="0000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6064951" y="1380497"/>
            <a:ext cx="25615" cy="5391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388048" y="1810184"/>
            <a:ext cx="11408074" cy="107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037481" y="1243398"/>
            <a:ext cx="2140772" cy="47758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HIỆN TẠI </a:t>
            </a:r>
            <a:endParaRPr lang="en-US" sz="1400" b="1" dirty="0">
              <a:solidFill>
                <a:sysClr val="windowText" lastClr="00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CN" altLang="en-US" sz="1400" b="1" dirty="0">
                <a:solidFill>
                  <a:srgbClr val="000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正在使用</a:t>
            </a:r>
            <a:endParaRPr lang="en-US" sz="1400" b="1" dirty="0">
              <a:solidFill>
                <a:srgbClr val="0000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28494" y="1243398"/>
            <a:ext cx="2140772" cy="47758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ĐỀ XUẤT KÝ UOF</a:t>
            </a:r>
            <a:endParaRPr lang="en-US" sz="1400" b="1" dirty="0">
              <a:solidFill>
                <a:sysClr val="windowText" lastClr="00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sz="1400" b="1" dirty="0">
                <a:solidFill>
                  <a:srgbClr val="000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UOF </a:t>
            </a:r>
            <a:r>
              <a:rPr lang="zh-CN" altLang="en-US" sz="1400" b="1" dirty="0">
                <a:solidFill>
                  <a:srgbClr val="000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簽核建議</a:t>
            </a:r>
            <a:endParaRPr lang="en-US" sz="1400" b="1" dirty="0">
              <a:solidFill>
                <a:srgbClr val="0000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075" y="2064385"/>
            <a:ext cx="5523865" cy="35382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15" name="Group 14"/>
          <p:cNvGrpSpPr/>
          <p:nvPr/>
        </p:nvGrpSpPr>
        <p:grpSpPr>
          <a:xfrm>
            <a:off x="6310342" y="2064385"/>
            <a:ext cx="5270153" cy="3593465"/>
            <a:chOff x="6325919" y="2767330"/>
            <a:chExt cx="5151390" cy="3427730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25919" y="2767330"/>
              <a:ext cx="5151390" cy="207899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25919" y="4834267"/>
              <a:ext cx="5151390" cy="136079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722791" y="111841"/>
            <a:ext cx="10146691" cy="1007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vi-VN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  3. </a:t>
            </a:r>
            <a:r>
              <a:rPr lang="vi-VN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THAO TÁC LÀM ĐƠN (1</a:t>
            </a:r>
            <a:r>
              <a:rPr lang="en-US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/7</a:t>
            </a:r>
            <a:r>
              <a:rPr lang="vi-VN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)</a:t>
            </a:r>
            <a:endParaRPr lang="vi-VN" altLang="vi-VN" sz="24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        </a:t>
            </a:r>
            <a:r>
              <a:rPr lang="zh-CN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打單的操作</a:t>
            </a:r>
            <a:r>
              <a:rPr lang="vi-VN" altLang="zh-C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vi-VN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(1/</a:t>
            </a:r>
            <a:r>
              <a:rPr lang="en-US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2</a:t>
            </a:r>
            <a:r>
              <a:rPr lang="vi-VN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)</a:t>
            </a:r>
            <a:endParaRPr lang="vi-VN" altLang="vi-VN" sz="2400" b="1" dirty="0">
              <a:solidFill>
                <a:srgbClr val="0707FF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2863215" y="1325245"/>
            <a:ext cx="6619240" cy="5010150"/>
            <a:chOff x="4509" y="2087"/>
            <a:chExt cx="10424" cy="789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509" y="2087"/>
              <a:ext cx="10425" cy="789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grpSp>
          <p:nvGrpSpPr>
            <p:cNvPr id="3" name="Group 2"/>
            <p:cNvGrpSpPr/>
            <p:nvPr/>
          </p:nvGrpSpPr>
          <p:grpSpPr>
            <a:xfrm>
              <a:off x="6136" y="2547"/>
              <a:ext cx="1636" cy="7095"/>
              <a:chOff x="1300584" y="1445191"/>
              <a:chExt cx="1039476" cy="4505057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1732081" y="1445191"/>
                <a:ext cx="607979" cy="4505057"/>
                <a:chOff x="1626115" y="1314264"/>
                <a:chExt cx="607979" cy="4505057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1626115" y="1314264"/>
                  <a:ext cx="374580" cy="32771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vi-VN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Microsoft JhengHei" panose="020B0604030504040204" pitchFamily="34" charset="-120"/>
                      <a:cs typeface="Times New Roman" panose="02020603050405020304" pitchFamily="18" charset="0"/>
                    </a:rPr>
                    <a:t>1</a:t>
                  </a:r>
                  <a:endParaRPr lang="vi-V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" name="Oval 8"/>
                <p:cNvSpPr/>
                <p:nvPr/>
              </p:nvSpPr>
              <p:spPr>
                <a:xfrm>
                  <a:off x="1904883" y="5491603"/>
                  <a:ext cx="329211" cy="32771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vi-VN" b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Microsoft JhengHei" panose="020B0604030504040204" pitchFamily="34" charset="-120"/>
                      <a:cs typeface="Times New Roman" panose="02020603050405020304" pitchFamily="18" charset="0"/>
                    </a:rPr>
                    <a:t>2</a:t>
                  </a:r>
                  <a:endParaRPr lang="vi-VN" b="1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0" name="Oval 9"/>
              <p:cNvSpPr/>
              <p:nvPr/>
            </p:nvSpPr>
            <p:spPr>
              <a:xfrm>
                <a:off x="1300584" y="2110399"/>
                <a:ext cx="336565" cy="32771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vi-V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3</a:t>
                </a:r>
                <a:endParaRPr lang="vi-V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1300584" y="2110399"/>
                <a:ext cx="329211" cy="32771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vi-V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3</a:t>
                </a:r>
                <a:endParaRPr lang="vi-V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722791" y="111841"/>
            <a:ext cx="10146691" cy="1007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vi-VN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  3. </a:t>
            </a:r>
            <a:r>
              <a:rPr lang="vi-VN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THAO TÁC LÀM ĐƠN (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2/7</a:t>
            </a:r>
            <a:r>
              <a:rPr lang="vi-VN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)</a:t>
            </a:r>
            <a:endParaRPr lang="vi-VN" altLang="vi-VN" sz="24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        </a:t>
            </a:r>
            <a:r>
              <a:rPr lang="zh-CN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打單的操作</a:t>
            </a:r>
            <a:r>
              <a:rPr lang="vi-VN" altLang="zh-C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vi-VN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(1/</a:t>
            </a:r>
            <a:r>
              <a:rPr lang="en-US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2</a:t>
            </a:r>
            <a:r>
              <a:rPr lang="vi-VN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)</a:t>
            </a:r>
            <a:endParaRPr lang="vi-VN" altLang="vi-VN" sz="2400" b="1" dirty="0">
              <a:solidFill>
                <a:srgbClr val="0707FF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2547016" y="1710080"/>
            <a:ext cx="8900160" cy="4054648"/>
            <a:chOff x="2480310" y="1286019"/>
            <a:chExt cx="8900160" cy="4054648"/>
          </a:xfrm>
        </p:grpSpPr>
        <p:grpSp>
          <p:nvGrpSpPr>
            <p:cNvPr id="23" name="Group 22"/>
            <p:cNvGrpSpPr/>
            <p:nvPr/>
          </p:nvGrpSpPr>
          <p:grpSpPr>
            <a:xfrm>
              <a:off x="2480310" y="1286019"/>
              <a:ext cx="8900160" cy="4054648"/>
              <a:chOff x="1805940" y="1503189"/>
              <a:chExt cx="8900160" cy="4054648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1805940" y="1503189"/>
                <a:ext cx="8900160" cy="4054648"/>
                <a:chOff x="1805940" y="1503189"/>
                <a:chExt cx="8900160" cy="4054648"/>
              </a:xfrm>
            </p:grpSpPr>
            <p:pic>
              <p:nvPicPr>
                <p:cNvPr id="4" name="Picture 3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1805940" y="1503189"/>
                  <a:ext cx="8900160" cy="4054648"/>
                </a:xfrm>
                <a:prstGeom prst="rect">
                  <a:avLst/>
                </a:prstGeom>
                <a:ln>
                  <a:noFill/>
                </a:ln>
                <a:effectLst>
                  <a:outerShdw blurRad="292100" dist="139700" dir="2700000" algn="tl" rotWithShape="0">
                    <a:srgbClr val="333333">
                      <a:alpha val="65000"/>
                    </a:srgbClr>
                  </a:outerShdw>
                </a:effectLst>
              </p:spPr>
            </p:pic>
            <p:cxnSp>
              <p:nvCxnSpPr>
                <p:cNvPr id="13" name="Straight Arrow Connector 12"/>
                <p:cNvCxnSpPr/>
                <p:nvPr/>
              </p:nvCxnSpPr>
              <p:spPr>
                <a:xfrm>
                  <a:off x="3051810" y="3783330"/>
                  <a:ext cx="960120" cy="588284"/>
                </a:xfrm>
                <a:prstGeom prst="straightConnector1">
                  <a:avLst/>
                </a:prstGeom>
                <a:ln w="127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Oval 16"/>
              <p:cNvSpPr/>
              <p:nvPr/>
            </p:nvSpPr>
            <p:spPr>
              <a:xfrm>
                <a:off x="10262870" y="1733953"/>
                <a:ext cx="329016" cy="32773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rgbClr val="FF0000"/>
                    </a:solidFill>
                    <a:latin typeface="+mj-lt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4</a:t>
                </a:r>
                <a:endParaRPr lang="vi-VN" b="1" dirty="0">
                  <a:solidFill>
                    <a:srgbClr val="FF0000"/>
                  </a:solidFill>
                  <a:latin typeface="+mj-lt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2849751" y="3603383"/>
                <a:ext cx="329016" cy="32773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rgbClr val="FF0000"/>
                    </a:solidFill>
                    <a:latin typeface="+mj-lt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5</a:t>
                </a:r>
                <a:endParaRPr lang="vi-VN" b="1" dirty="0">
                  <a:solidFill>
                    <a:srgbClr val="FF0000"/>
                  </a:solidFill>
                  <a:latin typeface="+mj-lt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86300" y="2879805"/>
              <a:ext cx="5266372" cy="228872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26" name="Oval 25"/>
            <p:cNvSpPr/>
            <p:nvPr/>
          </p:nvSpPr>
          <p:spPr>
            <a:xfrm>
              <a:off x="9623656" y="3550081"/>
              <a:ext cx="329016" cy="327737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rgbClr val="FF0000"/>
                  </a:solidFill>
                  <a:latin typeface="+mj-lt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6</a:t>
              </a:r>
              <a:endParaRPr lang="vi-VN" b="1" dirty="0">
                <a:solidFill>
                  <a:srgbClr val="FF0000"/>
                </a:solidFill>
                <a:latin typeface="+mj-lt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6124856" y="4751565"/>
              <a:ext cx="329016" cy="327737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rgbClr val="FF0000"/>
                  </a:solidFill>
                  <a:latin typeface="+mj-lt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7</a:t>
              </a:r>
              <a:endParaRPr lang="vi-VN" b="1" dirty="0">
                <a:solidFill>
                  <a:srgbClr val="FF0000"/>
                </a:solidFill>
                <a:latin typeface="+mj-lt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Rectangle 28"/>
          <p:cNvSpPr/>
          <p:nvPr/>
        </p:nvSpPr>
        <p:spPr>
          <a:xfrm>
            <a:off x="203306" y="4267354"/>
            <a:ext cx="4067436" cy="23742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300" b="1" u="sng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Thao tác THÊM MỚI </a:t>
            </a:r>
            <a:r>
              <a:rPr lang="zh-CN" altLang="en-US" sz="1300" b="1" u="sng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新增操作</a:t>
            </a:r>
            <a:endParaRPr lang="en-US" sz="1300" b="1" u="sng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4 – Điền các thông tin liên </a:t>
            </a:r>
            <a:r>
              <a:rPr lang="en-US" sz="1300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quan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đến bảo dưỡng </a:t>
            </a:r>
            <a:r>
              <a:rPr lang="en-US" sz="1300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xe</a:t>
            </a:r>
            <a:endParaRPr lang="en-US" sz="13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indent="233680">
              <a:lnSpc>
                <a:spcPct val="120000"/>
              </a:lnSpc>
            </a:pPr>
            <a:r>
              <a:rPr lang="zh-CN" altLang="en-US" sz="1300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填寫車輛保養相關信息</a:t>
            </a:r>
            <a:endParaRPr lang="en-US" sz="1300" dirty="0">
              <a:solidFill>
                <a:srgbClr val="0707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5 – Bấm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“Chi tiết thêm mới”</a:t>
            </a:r>
            <a:endParaRPr lang="en-US" sz="13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indent="233680">
              <a:lnSpc>
                <a:spcPct val="120000"/>
              </a:lnSpc>
            </a:pPr>
            <a:r>
              <a:rPr lang="zh-CN" altLang="en-US" sz="13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點擊</a:t>
            </a:r>
            <a:r>
              <a:rPr lang="en-US" altLang="zh-CN" sz="13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CN" altLang="en-US" sz="13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新增詳細</a:t>
            </a:r>
            <a:r>
              <a:rPr lang="en-US" altLang="zh-CN" sz="13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】</a:t>
            </a:r>
            <a:endParaRPr lang="en-US" sz="1300" b="1" dirty="0">
              <a:solidFill>
                <a:srgbClr val="0707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6 – Điền thông tin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Hạng mục bảo dưỡng</a:t>
            </a:r>
            <a:endParaRPr lang="en-US" sz="13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indent="233680">
              <a:lnSpc>
                <a:spcPct val="120000"/>
              </a:lnSpc>
            </a:pPr>
            <a:r>
              <a:rPr lang="zh-CN" altLang="en-US" sz="13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填寫 </a:t>
            </a:r>
            <a:r>
              <a:rPr lang="en-US" altLang="zh-CN" sz="13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CN" altLang="en-US" sz="13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保養項目</a:t>
            </a:r>
            <a:r>
              <a:rPr lang="en-US" altLang="zh-CN" sz="13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】</a:t>
            </a:r>
            <a:r>
              <a:rPr lang="zh-CN" altLang="en-US" sz="13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信息</a:t>
            </a:r>
            <a:b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</a:b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7 – Bấm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“Chắc chắn”</a:t>
            </a:r>
            <a:endParaRPr lang="en-US" sz="13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indent="288925">
              <a:lnSpc>
                <a:spcPct val="120000"/>
              </a:lnSpc>
            </a:pPr>
            <a:r>
              <a:rPr lang="zh-TW" altLang="en-US" sz="1300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點選「確認」</a:t>
            </a:r>
            <a:endParaRPr lang="en-US" sz="1300" b="1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93146" y="989944"/>
            <a:ext cx="5267960" cy="59079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zh-CN" sz="1500" b="1" u="sng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Người </a:t>
            </a:r>
            <a:r>
              <a:rPr lang="en-US" sz="1500" b="1" u="sng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làm </a:t>
            </a:r>
            <a:r>
              <a:rPr lang="en-US" sz="1500" b="1" u="sng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đơn</a:t>
            </a:r>
            <a:r>
              <a:rPr lang="en-US" altLang="zh-CN" sz="1500" b="1" u="sng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zh-CN" altLang="en-US" sz="1500" b="1" u="sng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打單者</a:t>
            </a:r>
            <a:endParaRPr lang="en-US" altLang="zh-CN" sz="1500" b="1" dirty="0">
              <a:solidFill>
                <a:srgbClr val="0707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722791" y="111841"/>
            <a:ext cx="10146691" cy="1007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vi-VN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  3. </a:t>
            </a:r>
            <a:r>
              <a:rPr lang="vi-VN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THAO TÁC LÀM ĐƠN (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3/7</a:t>
            </a:r>
            <a:r>
              <a:rPr lang="vi-VN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)</a:t>
            </a:r>
            <a:endParaRPr lang="vi-VN" altLang="vi-VN" sz="24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        </a:t>
            </a:r>
            <a:r>
              <a:rPr lang="zh-CN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打單的操作</a:t>
            </a:r>
            <a:r>
              <a:rPr lang="vi-VN" altLang="zh-C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vi-VN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(1/</a:t>
            </a:r>
            <a:r>
              <a:rPr lang="en-US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2</a:t>
            </a:r>
            <a:r>
              <a:rPr lang="vi-VN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)</a:t>
            </a:r>
            <a:endParaRPr lang="vi-VN" altLang="vi-VN" sz="2400" b="1" dirty="0">
              <a:solidFill>
                <a:srgbClr val="0707FF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93146" y="989944"/>
            <a:ext cx="5267960" cy="59079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zh-CN" sz="1500" b="1" u="sng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Người </a:t>
            </a:r>
            <a:r>
              <a:rPr lang="en-US" sz="1500" b="1" u="sng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làm </a:t>
            </a:r>
            <a:r>
              <a:rPr lang="en-US" sz="1500" b="1" u="sng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đơn</a:t>
            </a:r>
            <a:r>
              <a:rPr lang="en-US" altLang="zh-CN" sz="1500" b="1" u="sng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zh-CN" altLang="en-US" sz="1500" b="1" u="sng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打</a:t>
            </a:r>
            <a:r>
              <a:rPr lang="zh-CN" altLang="en-US" sz="1500" b="1" u="sng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單者</a:t>
            </a:r>
            <a:endParaRPr lang="en-US" altLang="zh-CN" sz="1500" b="1" dirty="0">
              <a:solidFill>
                <a:srgbClr val="0707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3095656" y="1660747"/>
            <a:ext cx="8083867" cy="3893234"/>
            <a:chOff x="3755335" y="1143826"/>
            <a:chExt cx="8083867" cy="389323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755335" y="1143826"/>
              <a:ext cx="8083867" cy="389323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6954" y="1983357"/>
              <a:ext cx="5731829" cy="2681017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grpSp>
          <p:nvGrpSpPr>
            <p:cNvPr id="33" name="Group 32"/>
            <p:cNvGrpSpPr/>
            <p:nvPr/>
          </p:nvGrpSpPr>
          <p:grpSpPr>
            <a:xfrm>
              <a:off x="4457010" y="2762706"/>
              <a:ext cx="7221773" cy="1820549"/>
              <a:chOff x="4466154" y="2296132"/>
              <a:chExt cx="7221773" cy="1820549"/>
            </a:xfrm>
          </p:grpSpPr>
          <p:grpSp>
            <p:nvGrpSpPr>
              <p:cNvPr id="34" name="Group 33"/>
              <p:cNvGrpSpPr/>
              <p:nvPr/>
            </p:nvGrpSpPr>
            <p:grpSpPr>
              <a:xfrm>
                <a:off x="4466154" y="2296132"/>
                <a:ext cx="7221773" cy="1820549"/>
                <a:chOff x="3791784" y="2513302"/>
                <a:chExt cx="7221773" cy="1820549"/>
              </a:xfrm>
            </p:grpSpPr>
            <p:cxnSp>
              <p:nvCxnSpPr>
                <p:cNvPr id="37" name="Straight Arrow Connector 36"/>
                <p:cNvCxnSpPr/>
                <p:nvPr/>
              </p:nvCxnSpPr>
              <p:spPr>
                <a:xfrm flipV="1">
                  <a:off x="3887712" y="3509796"/>
                  <a:ext cx="1318166" cy="653545"/>
                </a:xfrm>
                <a:prstGeom prst="straightConnector1">
                  <a:avLst/>
                </a:prstGeom>
                <a:ln w="127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Oval 37"/>
                <p:cNvSpPr/>
                <p:nvPr/>
              </p:nvSpPr>
              <p:spPr>
                <a:xfrm>
                  <a:off x="10684541" y="2513302"/>
                  <a:ext cx="329016" cy="327737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Microsoft JhengHei" panose="020B0604030504040204" pitchFamily="34" charset="-120"/>
                      <a:cs typeface="Times New Roman" panose="02020603050405020304" pitchFamily="18" charset="0"/>
                    </a:rPr>
                    <a:t>2</a:t>
                  </a:r>
                  <a:endParaRPr lang="vi-V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" name="Oval 38"/>
                <p:cNvSpPr/>
                <p:nvPr/>
              </p:nvSpPr>
              <p:spPr>
                <a:xfrm>
                  <a:off x="3791784" y="4006114"/>
                  <a:ext cx="329016" cy="327737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Microsoft JhengHei" panose="020B0604030504040204" pitchFamily="34" charset="-120"/>
                      <a:cs typeface="Times New Roman" panose="02020603050405020304" pitchFamily="18" charset="0"/>
                    </a:rPr>
                    <a:t>1</a:t>
                  </a:r>
                  <a:endParaRPr lang="vi-V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5" name="Oval 34"/>
              <p:cNvSpPr/>
              <p:nvPr/>
            </p:nvSpPr>
            <p:spPr>
              <a:xfrm>
                <a:off x="8677929" y="3625075"/>
                <a:ext cx="329016" cy="32773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3</a:t>
                </a:r>
                <a:endParaRPr lang="vi-V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0" name="Rectangle 39"/>
          <p:cNvSpPr/>
          <p:nvPr/>
        </p:nvSpPr>
        <p:spPr>
          <a:xfrm>
            <a:off x="210037" y="4608570"/>
            <a:ext cx="3998891" cy="21375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300" b="1" u="sng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Thao tác SỬA:</a:t>
            </a:r>
            <a:endParaRPr lang="en-US" sz="1300" b="1" u="sng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indent="233680">
              <a:lnSpc>
                <a:spcPct val="120000"/>
              </a:lnSpc>
            </a:pPr>
            <a:r>
              <a:rPr lang="zh-CN" altLang="en-US" sz="1300" b="1" u="sng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編輯操作</a:t>
            </a:r>
            <a:endParaRPr lang="en-US" sz="1300" b="1" u="sng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1 – Bấm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“Sửa”</a:t>
            </a:r>
            <a:endParaRPr lang="en-US" sz="13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indent="233680">
              <a:lnSpc>
                <a:spcPct val="120000"/>
              </a:lnSpc>
            </a:pPr>
            <a:r>
              <a:rPr lang="zh-CN" altLang="en-US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點擊</a:t>
            </a:r>
            <a:r>
              <a:rPr lang="en-US" altLang="zh-CN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CN" altLang="en-US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編輯</a:t>
            </a:r>
            <a:r>
              <a:rPr lang="en-US" altLang="zh-CN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】</a:t>
            </a:r>
            <a:endParaRPr lang="en-US" sz="1300" b="1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2 – Điền thông tin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Hạng mục bảo dưỡng</a:t>
            </a:r>
            <a:endParaRPr lang="en-US" sz="13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indent="233680">
              <a:lnSpc>
                <a:spcPct val="120000"/>
              </a:lnSpc>
            </a:pPr>
            <a:r>
              <a:rPr lang="zh-CN" altLang="en-US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填寫</a:t>
            </a:r>
            <a:r>
              <a:rPr lang="en-US" altLang="zh-CN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CN" altLang="en-US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保養項目</a:t>
            </a:r>
            <a:r>
              <a:rPr lang="en-US" altLang="zh-CN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】</a:t>
            </a:r>
            <a:r>
              <a:rPr lang="zh-CN" altLang="en-US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信息</a:t>
            </a:r>
            <a:b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</a:b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3 – Bấm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“Chắc chắn”</a:t>
            </a:r>
            <a:endParaRPr lang="en-US" sz="13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indent="288925">
              <a:lnSpc>
                <a:spcPct val="120000"/>
              </a:lnSpc>
            </a:pPr>
            <a:r>
              <a:rPr lang="zh-TW" altLang="en-US" sz="1300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點選「確認」</a:t>
            </a:r>
            <a:endParaRPr lang="en-US" sz="1300" b="1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722791" y="111841"/>
            <a:ext cx="10146691" cy="1007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vi-VN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  3. </a:t>
            </a:r>
            <a:r>
              <a:rPr lang="vi-VN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THAO TÁC LÀM ĐƠN (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4/7</a:t>
            </a:r>
            <a:r>
              <a:rPr lang="vi-VN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)</a:t>
            </a:r>
            <a:endParaRPr lang="vi-VN" altLang="vi-VN" sz="24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        </a:t>
            </a:r>
            <a:r>
              <a:rPr lang="zh-CN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打單的操作</a:t>
            </a:r>
            <a:r>
              <a:rPr lang="vi-VN" altLang="zh-C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vi-VN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(1/</a:t>
            </a:r>
            <a:r>
              <a:rPr lang="en-US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2</a:t>
            </a:r>
            <a:r>
              <a:rPr lang="vi-VN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)</a:t>
            </a:r>
            <a:endParaRPr lang="vi-VN" altLang="vi-VN" sz="2400" b="1" dirty="0">
              <a:solidFill>
                <a:srgbClr val="0707FF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93146" y="989944"/>
            <a:ext cx="5267960" cy="59079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zh-CN" sz="1500" b="1" u="sng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Người </a:t>
            </a:r>
            <a:r>
              <a:rPr lang="en-US" sz="1500" b="1" u="sng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làm </a:t>
            </a:r>
            <a:r>
              <a:rPr lang="en-US" sz="1500" b="1" u="sng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đơn</a:t>
            </a:r>
            <a:r>
              <a:rPr lang="en-US" altLang="zh-CN" sz="1500" b="1" u="sng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zh-CN" altLang="en-US" sz="1500" b="1" u="sng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打</a:t>
            </a:r>
            <a:r>
              <a:rPr lang="zh-CN" altLang="en-US" sz="1500" b="1" u="sng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單者</a:t>
            </a:r>
            <a:endParaRPr lang="en-US" altLang="zh-CN" sz="1500" b="1" dirty="0">
              <a:solidFill>
                <a:srgbClr val="0707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03306" y="4994910"/>
            <a:ext cx="2196994" cy="164666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300" b="1" u="sng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Thao tác XÓA:</a:t>
            </a:r>
            <a:endParaRPr lang="en-US" sz="1300" b="1" u="sng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zh-CN" altLang="en-US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移除操作</a:t>
            </a:r>
            <a:b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– Bấm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“Xóa”</a:t>
            </a:r>
            <a:endParaRPr lang="en-US" sz="13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indent="516255">
              <a:lnSpc>
                <a:spcPct val="120000"/>
              </a:lnSpc>
            </a:pPr>
            <a:r>
              <a:rPr lang="zh-CN" altLang="en-US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點擊</a:t>
            </a:r>
            <a:r>
              <a:rPr lang="en-US" altLang="zh-CN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CN" altLang="en-US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移除</a:t>
            </a:r>
            <a:r>
              <a:rPr lang="en-US" altLang="zh-CN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】</a:t>
            </a:r>
            <a:endParaRPr lang="en-US" sz="1300" b="1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      2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– Bấm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“Ok”</a:t>
            </a:r>
            <a:endParaRPr lang="en-US" sz="13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indent="516255">
              <a:lnSpc>
                <a:spcPct val="120000"/>
              </a:lnSpc>
            </a:pPr>
            <a:r>
              <a:rPr lang="zh-CN" altLang="en-US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點擊</a:t>
            </a:r>
            <a:r>
              <a:rPr lang="en-US" altLang="zh-CN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【OK】</a:t>
            </a:r>
            <a:endParaRPr lang="en-US" sz="1300" b="1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594610" y="1855057"/>
            <a:ext cx="8051609" cy="3643676"/>
            <a:chOff x="2640330" y="1580737"/>
            <a:chExt cx="8051609" cy="3643676"/>
          </a:xfrm>
        </p:grpSpPr>
        <p:grpSp>
          <p:nvGrpSpPr>
            <p:cNvPr id="6" name="Group 5"/>
            <p:cNvGrpSpPr/>
            <p:nvPr/>
          </p:nvGrpSpPr>
          <p:grpSpPr>
            <a:xfrm>
              <a:off x="2640330" y="1580737"/>
              <a:ext cx="8051609" cy="3643676"/>
              <a:chOff x="2651760" y="1580737"/>
              <a:chExt cx="8051609" cy="3643676"/>
            </a:xfrm>
          </p:grpSpPr>
          <p:pic>
            <p:nvPicPr>
              <p:cNvPr id="2" name="Picture 1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651760" y="1580737"/>
                <a:ext cx="8051609" cy="3643676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937885" y="1580737"/>
                <a:ext cx="3455867" cy="1116743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p:grpSp>
        <p:sp>
          <p:nvSpPr>
            <p:cNvPr id="20" name="Oval 19"/>
            <p:cNvSpPr/>
            <p:nvPr/>
          </p:nvSpPr>
          <p:spPr>
            <a:xfrm>
              <a:off x="3523011" y="4543839"/>
              <a:ext cx="329016" cy="327737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vi-VN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8544591" y="2369743"/>
              <a:ext cx="329016" cy="327737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vi-VN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 txBox="1"/>
          <p:nvPr/>
        </p:nvSpPr>
        <p:spPr>
          <a:xfrm>
            <a:off x="1722791" y="111841"/>
            <a:ext cx="10146691" cy="1007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vi-VN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   3. </a:t>
            </a:r>
            <a:r>
              <a:rPr lang="vi-VN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THAO TÁC LÀM ĐƠN (</a:t>
            </a:r>
            <a:r>
              <a:rPr lang="en-US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5/7</a:t>
            </a:r>
            <a:r>
              <a:rPr lang="vi-VN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)</a:t>
            </a:r>
            <a:endParaRPr lang="vi-VN" altLang="vi-VN" sz="24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        </a:t>
            </a:r>
            <a:r>
              <a:rPr lang="zh-CN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打單的操作</a:t>
            </a:r>
            <a:r>
              <a:rPr lang="vi-VN" altLang="zh-C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vi-VN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2</a:t>
            </a:r>
            <a:r>
              <a:rPr lang="vi-VN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/</a:t>
            </a:r>
            <a:r>
              <a:rPr lang="en-US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2</a:t>
            </a:r>
            <a:r>
              <a:rPr lang="vi-VN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)</a:t>
            </a:r>
            <a:endParaRPr lang="vi-VN" altLang="vi-VN" sz="2400" b="1" dirty="0">
              <a:solidFill>
                <a:srgbClr val="0707FF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167130" y="955675"/>
            <a:ext cx="9857740" cy="150177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zh-CN" sz="1500" b="1" u="sng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Người </a:t>
            </a:r>
            <a:r>
              <a:rPr lang="en-US" sz="1500" b="1" u="sng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làm </a:t>
            </a:r>
            <a:r>
              <a:rPr lang="en-US" sz="1500" b="1" u="sng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đơn</a:t>
            </a:r>
            <a:r>
              <a:rPr lang="en-US" altLang="zh-CN" sz="1500" b="1" u="sng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zh-CN" altLang="en-US" sz="1500" b="1" u="sng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打單者</a:t>
            </a:r>
            <a:endParaRPr lang="en-US" altLang="zh-CN" sz="1500" b="1" dirty="0">
              <a:solidFill>
                <a:srgbClr val="0707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1500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Điền</a:t>
            </a: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1500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đầy</a:t>
            </a: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1500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đủ</a:t>
            </a: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1500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thông</a:t>
            </a: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tin </a:t>
            </a:r>
            <a:r>
              <a:rPr lang="en-US" altLang="zh-CN" sz="1500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và</a:t>
            </a: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1500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đính</a:t>
            </a: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1500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kèm</a:t>
            </a: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file (</a:t>
            </a:r>
            <a:r>
              <a:rPr lang="en-US" altLang="zh-CN" sz="1500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nếu</a:t>
            </a: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1500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có</a:t>
            </a: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).</a:t>
            </a:r>
            <a:endParaRPr lang="en-US" altLang="zh-CN" sz="15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TW" altLang="en-US" sz="1500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請完整填寫相關資料，並</a:t>
            </a:r>
            <a:r>
              <a:rPr lang="zh-CN" altLang="en-US" sz="1500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附上檔案（如有）</a:t>
            </a:r>
            <a:endParaRPr lang="en-US" sz="1500" dirty="0">
              <a:solidFill>
                <a:srgbClr val="0707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325880" y="2457450"/>
            <a:ext cx="8477250" cy="4086844"/>
            <a:chOff x="1325880" y="2457450"/>
            <a:chExt cx="8477250" cy="408684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25880" y="2457450"/>
              <a:ext cx="8477250" cy="408684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grpSp>
          <p:nvGrpSpPr>
            <p:cNvPr id="14" name="Group 13"/>
            <p:cNvGrpSpPr/>
            <p:nvPr/>
          </p:nvGrpSpPr>
          <p:grpSpPr>
            <a:xfrm>
              <a:off x="5467985" y="2760980"/>
              <a:ext cx="4335145" cy="3686175"/>
              <a:chOff x="6503720" y="2720580"/>
              <a:chExt cx="4335291" cy="3686012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10464462" y="2720580"/>
                <a:ext cx="374549" cy="32773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4</a:t>
                </a:r>
                <a:endParaRPr lang="vi-V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6503720" y="6078855"/>
                <a:ext cx="374549" cy="32773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5</a:t>
                </a:r>
                <a:endParaRPr lang="vi-V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86361" y="3497580"/>
              <a:ext cx="4557405" cy="234822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9" name="Oval 18"/>
            <p:cNvSpPr/>
            <p:nvPr/>
          </p:nvSpPr>
          <p:spPr>
            <a:xfrm>
              <a:off x="7065064" y="5383406"/>
              <a:ext cx="374536" cy="327751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6</a:t>
              </a:r>
              <a:endParaRPr lang="vi-VN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722791" y="111841"/>
            <a:ext cx="10146691" cy="1007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vi-VN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  3. </a:t>
            </a:r>
            <a:r>
              <a:rPr lang="vi-VN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THAO TÁC LÀM ĐƠN (</a:t>
            </a:r>
            <a:r>
              <a:rPr lang="en-US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6/7</a:t>
            </a:r>
            <a:r>
              <a:rPr lang="vi-VN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)</a:t>
            </a:r>
            <a:endParaRPr lang="vi-VN" altLang="vi-VN" sz="24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        </a:t>
            </a:r>
            <a:r>
              <a:rPr lang="zh-CN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打單的操作</a:t>
            </a:r>
            <a:r>
              <a:rPr lang="vi-VN" altLang="zh-C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vi-VN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(1/</a:t>
            </a:r>
            <a:r>
              <a:rPr lang="en-US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2</a:t>
            </a:r>
            <a:r>
              <a:rPr lang="vi-VN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)</a:t>
            </a:r>
            <a:endParaRPr lang="vi-VN" altLang="vi-VN" sz="2400" b="1" dirty="0">
              <a:solidFill>
                <a:srgbClr val="0707FF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93146" y="989944"/>
            <a:ext cx="5267960" cy="59079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zh-CN" sz="1500" b="1" u="sng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Thu mua Điền phí Dự </a:t>
            </a:r>
            <a:r>
              <a:rPr lang="en-US" altLang="zh-CN" sz="1500" b="1" u="sng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tính</a:t>
            </a:r>
            <a:endParaRPr lang="en-US" altLang="zh-CN" sz="1500" b="1" u="sng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zh-CN" altLang="en-US" sz="1500" b="1" u="sng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採購填寫預計費用</a:t>
            </a:r>
            <a:endParaRPr lang="en-US" altLang="zh-CN" sz="1500" b="1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556142" y="1779063"/>
            <a:ext cx="9121408" cy="3299873"/>
            <a:chOff x="1848521" y="1580737"/>
            <a:chExt cx="9121408" cy="3299873"/>
          </a:xfrm>
        </p:grpSpPr>
        <p:grpSp>
          <p:nvGrpSpPr>
            <p:cNvPr id="9" name="Group 8"/>
            <p:cNvGrpSpPr/>
            <p:nvPr/>
          </p:nvGrpSpPr>
          <p:grpSpPr>
            <a:xfrm>
              <a:off x="1848521" y="1580737"/>
              <a:ext cx="9121408" cy="3299873"/>
              <a:chOff x="1848521" y="1580737"/>
              <a:chExt cx="9121408" cy="3299873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848521" y="1580737"/>
                <a:ext cx="9121408" cy="3299873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grpSp>
            <p:nvGrpSpPr>
              <p:cNvPr id="24" name="Group 23"/>
              <p:cNvGrpSpPr/>
              <p:nvPr/>
            </p:nvGrpSpPr>
            <p:grpSpPr>
              <a:xfrm>
                <a:off x="2569876" y="2033235"/>
                <a:ext cx="6926549" cy="2676525"/>
                <a:chOff x="2569876" y="2033235"/>
                <a:chExt cx="6926549" cy="2676525"/>
              </a:xfrm>
            </p:grpSpPr>
            <p:pic>
              <p:nvPicPr>
                <p:cNvPr id="31" name="Picture 30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724275" y="2033235"/>
                  <a:ext cx="5772150" cy="2676525"/>
                </a:xfrm>
                <a:prstGeom prst="rect">
                  <a:avLst/>
                </a:prstGeom>
                <a:ln>
                  <a:noFill/>
                </a:ln>
                <a:effectLst>
                  <a:outerShdw blurRad="292100" dist="139700" dir="2700000" algn="tl" rotWithShape="0">
                    <a:srgbClr val="333333">
                      <a:alpha val="65000"/>
                    </a:srgbClr>
                  </a:outerShdw>
                </a:effectLst>
              </p:spPr>
            </p:pic>
            <p:cxnSp>
              <p:nvCxnSpPr>
                <p:cNvPr id="32" name="Straight Arrow Connector 31"/>
                <p:cNvCxnSpPr>
                  <a:endCxn id="31" idx="1"/>
                </p:cNvCxnSpPr>
                <p:nvPr/>
              </p:nvCxnSpPr>
              <p:spPr>
                <a:xfrm flipV="1">
                  <a:off x="2569876" y="3371498"/>
                  <a:ext cx="1154399" cy="601714"/>
                </a:xfrm>
                <a:prstGeom prst="straightConnector1">
                  <a:avLst/>
                </a:prstGeom>
                <a:ln w="127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4" name="Oval 33"/>
            <p:cNvSpPr/>
            <p:nvPr/>
          </p:nvSpPr>
          <p:spPr>
            <a:xfrm>
              <a:off x="2527132" y="3814856"/>
              <a:ext cx="374536" cy="327751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vi-VN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6678930" y="3344604"/>
              <a:ext cx="374536" cy="327751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vi-VN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15957" y="4335934"/>
              <a:ext cx="762973" cy="29220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6588646" y="4177321"/>
              <a:ext cx="374536" cy="327751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3</a:t>
              </a:r>
              <a:endParaRPr lang="vi-VN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Rectangle 36"/>
          <p:cNvSpPr/>
          <p:nvPr/>
        </p:nvSpPr>
        <p:spPr>
          <a:xfrm>
            <a:off x="217053" y="4609782"/>
            <a:ext cx="4067436" cy="20615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300" b="1" u="sng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Thao tác Điền chi phí dự </a:t>
            </a:r>
            <a:r>
              <a:rPr lang="en-US" sz="1300" b="1" u="sng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tính</a:t>
            </a:r>
            <a:r>
              <a:rPr lang="en-US" sz="1300" b="1" u="sng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:</a:t>
            </a:r>
            <a:endParaRPr lang="en-US" sz="1300" b="1" u="sng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zh-CN" altLang="en-US" sz="1300" b="1" u="sng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預計費用調整操作</a:t>
            </a:r>
            <a:endParaRPr lang="en-US" sz="1300" b="1" u="sng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1 – </a:t>
            </a:r>
            <a:r>
              <a:rPr lang="en-US" sz="1300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Bẩm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“Sửa”</a:t>
            </a:r>
            <a:endParaRPr lang="en-US" sz="13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indent="233680">
              <a:lnSpc>
                <a:spcPct val="120000"/>
              </a:lnSpc>
            </a:pPr>
            <a:r>
              <a:rPr lang="zh-CN" altLang="en-US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點擊</a:t>
            </a:r>
            <a:r>
              <a:rPr lang="en-US" altLang="zh-CN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CN" altLang="en-US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編輯</a:t>
            </a:r>
            <a:r>
              <a:rPr lang="en-US" altLang="zh-CN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】</a:t>
            </a:r>
            <a:endParaRPr lang="en-US" sz="1300" b="1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2 – Thu mua điền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phí dự </a:t>
            </a:r>
            <a:r>
              <a:rPr lang="en-US" sz="1300" b="1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tính</a:t>
            </a:r>
            <a:endParaRPr lang="en-US" sz="13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indent="233680">
              <a:lnSpc>
                <a:spcPct val="120000"/>
              </a:lnSpc>
            </a:pPr>
            <a:r>
              <a:rPr lang="zh-CN" altLang="en-US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採購填寫預計費用</a:t>
            </a:r>
            <a:endParaRPr lang="en-US" sz="1300" b="1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3 – Bấm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“Chắc chắn”</a:t>
            </a:r>
            <a:endParaRPr lang="en-US" sz="13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indent="288925">
              <a:lnSpc>
                <a:spcPct val="120000"/>
              </a:lnSpc>
            </a:pPr>
            <a:r>
              <a:rPr lang="zh-TW" altLang="en-US" sz="1300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點選「確認」</a:t>
            </a:r>
            <a:endParaRPr lang="en-US" sz="1300" b="1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722791" y="111841"/>
            <a:ext cx="10146691" cy="1007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vi-VN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  3. </a:t>
            </a:r>
            <a:r>
              <a:rPr lang="vi-VN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THAO TÁC LÀM ĐƠN (</a:t>
            </a:r>
            <a:r>
              <a:rPr lang="en-US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7/7</a:t>
            </a:r>
            <a:r>
              <a:rPr lang="vi-VN" alt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)</a:t>
            </a:r>
            <a:endParaRPr lang="vi-VN" altLang="vi-VN" sz="24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        </a:t>
            </a:r>
            <a:r>
              <a:rPr lang="zh-CN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打單的操作</a:t>
            </a:r>
            <a:r>
              <a:rPr lang="vi-VN" altLang="zh-C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vi-VN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(1/</a:t>
            </a:r>
            <a:r>
              <a:rPr lang="en-US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2</a:t>
            </a:r>
            <a:r>
              <a:rPr lang="vi-VN" altLang="vi-V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)</a:t>
            </a:r>
            <a:endParaRPr lang="vi-VN" altLang="vi-VN" sz="2400" b="1" dirty="0">
              <a:solidFill>
                <a:srgbClr val="0707FF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93146" y="923444"/>
            <a:ext cx="5267960" cy="59079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zh-CN" sz="1500" b="1" u="sng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Thu mua Điền phí Thực tế:</a:t>
            </a:r>
            <a:endParaRPr lang="en-US" altLang="zh-CN" sz="1500" b="1" u="sng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zh-CN" altLang="en-US" sz="1500" b="1" u="sng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採購填寫實際費用</a:t>
            </a:r>
            <a:endParaRPr lang="en-US" altLang="zh-CN" sz="1500" b="1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5661" y="1580737"/>
            <a:ext cx="8944671" cy="36990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6" name="Group 5"/>
          <p:cNvGrpSpPr/>
          <p:nvPr/>
        </p:nvGrpSpPr>
        <p:grpSpPr>
          <a:xfrm>
            <a:off x="2515702" y="2202390"/>
            <a:ext cx="7055802" cy="2792520"/>
            <a:chOff x="2515702" y="2202390"/>
            <a:chExt cx="7055802" cy="279252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80279" y="2202390"/>
              <a:ext cx="5991225" cy="279252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grpSp>
          <p:nvGrpSpPr>
            <p:cNvPr id="25" name="Group 24"/>
            <p:cNvGrpSpPr/>
            <p:nvPr/>
          </p:nvGrpSpPr>
          <p:grpSpPr>
            <a:xfrm>
              <a:off x="2515702" y="3365581"/>
              <a:ext cx="4436050" cy="1533510"/>
              <a:chOff x="2527132" y="3094625"/>
              <a:chExt cx="4436050" cy="1533510"/>
            </a:xfrm>
          </p:grpSpPr>
          <p:cxnSp>
            <p:nvCxnSpPr>
              <p:cNvPr id="26" name="Straight Arrow Connector 25"/>
              <p:cNvCxnSpPr>
                <a:endCxn id="3" idx="1"/>
              </p:cNvCxnSpPr>
              <p:nvPr/>
            </p:nvCxnSpPr>
            <p:spPr>
              <a:xfrm flipV="1">
                <a:off x="2569876" y="3327694"/>
                <a:ext cx="1021833" cy="645518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Oval 26"/>
              <p:cNvSpPr/>
              <p:nvPr/>
            </p:nvSpPr>
            <p:spPr>
              <a:xfrm>
                <a:off x="2527132" y="3814856"/>
                <a:ext cx="374536" cy="327751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1</a:t>
                </a:r>
                <a:endParaRPr lang="vi-V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6334598" y="3094625"/>
                <a:ext cx="374536" cy="327751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2</a:t>
                </a:r>
                <a:endParaRPr lang="vi-V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5915957" y="4335934"/>
                <a:ext cx="762973" cy="29220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6588646" y="4177321"/>
                <a:ext cx="374536" cy="327751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3</a:t>
                </a:r>
                <a:endParaRPr lang="vi-V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8" name="Rectangle 37"/>
          <p:cNvSpPr/>
          <p:nvPr/>
        </p:nvSpPr>
        <p:spPr>
          <a:xfrm>
            <a:off x="338623" y="4448277"/>
            <a:ext cx="4067436" cy="21266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300" b="1" u="sng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Thao tác Điền chi phí Thực tế:</a:t>
            </a:r>
            <a:endParaRPr lang="en-US" sz="1300" b="1" u="sng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zh-CN" altLang="en-US" sz="1300" b="1" u="sng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實際費用填寫作業</a:t>
            </a:r>
            <a:endParaRPr lang="en-US" sz="1300" b="1" u="sng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1 – </a:t>
            </a:r>
            <a:r>
              <a:rPr lang="en-US" sz="1300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Bẩm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“Sửa”</a:t>
            </a:r>
            <a:endParaRPr lang="en-US" sz="13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indent="233680">
              <a:lnSpc>
                <a:spcPct val="120000"/>
              </a:lnSpc>
            </a:pPr>
            <a:r>
              <a:rPr lang="zh-CN" altLang="en-US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點擊</a:t>
            </a:r>
            <a:r>
              <a:rPr lang="en-US" altLang="zh-CN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CN" altLang="en-US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編輯</a:t>
            </a:r>
            <a:r>
              <a:rPr lang="en-US" altLang="zh-CN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】</a:t>
            </a:r>
            <a:endParaRPr lang="en-US" sz="1300" b="1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2 – Thu mua điền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phí Thực tế</a:t>
            </a:r>
            <a:endParaRPr lang="en-US" sz="13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indent="233680">
              <a:lnSpc>
                <a:spcPct val="120000"/>
              </a:lnSpc>
            </a:pPr>
            <a:r>
              <a:rPr lang="zh-CN" altLang="en-US" sz="13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採購填寫</a:t>
            </a:r>
            <a:endParaRPr lang="en-US" sz="1300" b="1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3 – Bấm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“Chắc chắn”</a:t>
            </a:r>
            <a:endParaRPr lang="en-US" sz="13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indent="288925">
              <a:lnSpc>
                <a:spcPct val="120000"/>
              </a:lnSpc>
            </a:pPr>
            <a:r>
              <a:rPr lang="zh-TW" altLang="en-US" sz="1300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點選「確認」</a:t>
            </a:r>
            <a:endParaRPr lang="en-US" sz="1300" b="1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0657" y="113710"/>
            <a:ext cx="9929883" cy="837961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4. LƯU TRÌNH KÝ DUYỆT</a:t>
            </a:r>
            <a:b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     </a:t>
            </a:r>
            <a:r>
              <a:rPr lang="zh-CN" altLang="en-US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簽核流程</a:t>
            </a:r>
            <a:endParaRPr lang="zh-CN" altLang="en-US" sz="2400" b="1" dirty="0">
              <a:solidFill>
                <a:srgbClr val="0707FF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Rounded Rectangle 7"/>
          <p:cNvSpPr/>
          <p:nvPr/>
        </p:nvSpPr>
        <p:spPr>
          <a:xfrm>
            <a:off x="722546" y="1106612"/>
            <a:ext cx="4624070" cy="55753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TH: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Không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phát sinh chênh lệch phí bảo dưỡng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情況一：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無發生</a:t>
            </a:r>
            <a:r>
              <a:rPr lang="zh-CN" altLang="en-US" sz="16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保養費用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6945630" y="1820545"/>
            <a:ext cx="3648710" cy="4805045"/>
            <a:chOff x="10938" y="2867"/>
            <a:chExt cx="5746" cy="7567"/>
          </a:xfrm>
        </p:grpSpPr>
        <p:sp>
          <p:nvSpPr>
            <p:cNvPr id="5" name="Down Arrow 22"/>
            <p:cNvSpPr/>
            <p:nvPr/>
          </p:nvSpPr>
          <p:spPr>
            <a:xfrm>
              <a:off x="13591" y="3849"/>
              <a:ext cx="432" cy="230"/>
            </a:xfrm>
            <a:prstGeom prst="downArrow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4" name="Rounded Rectangle 37"/>
            <p:cNvSpPr/>
            <p:nvPr/>
          </p:nvSpPr>
          <p:spPr>
            <a:xfrm>
              <a:off x="11335" y="2867"/>
              <a:ext cx="4943" cy="899"/>
            </a:xfrm>
            <a:prstGeom prst="roundRect">
              <a:avLst/>
            </a:prstGeom>
            <a:ln w="19050"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dk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Nhân </a:t>
              </a:r>
              <a:r>
                <a:rPr lang="en-US" sz="1400" b="1" dirty="0" err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viên</a:t>
              </a:r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lập</a:t>
              </a:r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đơn</a:t>
              </a:r>
              <a:endParaRPr lang="en-US" sz="1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400" b="1" dirty="0">
                  <a:solidFill>
                    <a:srgbClr val="0707FF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打單者</a:t>
              </a:r>
              <a:endParaRPr lang="zh-CN" altLang="en-US" sz="1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5" name="Rounded Rectangle 37"/>
            <p:cNvSpPr/>
            <p:nvPr/>
          </p:nvSpPr>
          <p:spPr>
            <a:xfrm>
              <a:off x="11317" y="4162"/>
              <a:ext cx="4980" cy="892"/>
            </a:xfrm>
            <a:prstGeom prst="roundRect">
              <a:avLst/>
            </a:prstGeom>
            <a:ln w="19050"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dk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Cấp ký </a:t>
              </a:r>
              <a:r>
                <a:rPr lang="en-US" sz="1400" b="1" dirty="0" err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duyệt</a:t>
              </a:r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(đến P.GĐ)</a:t>
              </a:r>
              <a:endParaRPr lang="en-US" sz="1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簽核層級（副理）</a:t>
              </a:r>
              <a:endParaRPr lang="en-US" sz="1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6" name="Rounded Rectangle 44"/>
            <p:cNvSpPr/>
            <p:nvPr/>
          </p:nvSpPr>
          <p:spPr>
            <a:xfrm>
              <a:off x="10938" y="5450"/>
              <a:ext cx="5746" cy="910"/>
            </a:xfrm>
            <a:prstGeom prst="roundRect">
              <a:avLst/>
            </a:prstGeom>
            <a:ln w="19050">
              <a:solidFill>
                <a:srgbClr val="0000FF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Thu mua xác nhận giá dự tính (#09244)</a:t>
              </a:r>
              <a:endPara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endParaRPr>
            </a:p>
            <a:p>
              <a:pPr algn="ctr"/>
              <a:r>
                <a:rPr lang="zh-CN" altLang="en-US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採購確認</a:t>
              </a:r>
              <a:endParaRPr lang="en-US" sz="14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" name="Down Arrow 22"/>
            <p:cNvSpPr/>
            <p:nvPr/>
          </p:nvSpPr>
          <p:spPr>
            <a:xfrm>
              <a:off x="13591" y="5137"/>
              <a:ext cx="432" cy="230"/>
            </a:xfrm>
            <a:prstGeom prst="downArrow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6" name="Down Arrow 22"/>
            <p:cNvSpPr/>
            <p:nvPr/>
          </p:nvSpPr>
          <p:spPr>
            <a:xfrm>
              <a:off x="13591" y="6422"/>
              <a:ext cx="432" cy="230"/>
            </a:xfrm>
            <a:prstGeom prst="downArrow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" name="Rounded Rectangle 37"/>
            <p:cNvSpPr/>
            <p:nvPr/>
          </p:nvSpPr>
          <p:spPr>
            <a:xfrm>
              <a:off x="11317" y="6737"/>
              <a:ext cx="4980" cy="908"/>
            </a:xfrm>
            <a:prstGeom prst="roundRect">
              <a:avLst/>
            </a:prstGeom>
            <a:ln w="19050"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dk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Cấp ký </a:t>
              </a:r>
              <a:r>
                <a:rPr lang="en-US" sz="1400" b="1" dirty="0" err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duyệt</a:t>
              </a:r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(đến P.TGĐ)</a:t>
              </a:r>
              <a:endParaRPr lang="en-US" sz="1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簽核層級（副總經理）</a:t>
              </a:r>
              <a:endParaRPr lang="en-US" sz="1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" name="Rounded Rectangle 44"/>
            <p:cNvSpPr/>
            <p:nvPr/>
          </p:nvSpPr>
          <p:spPr>
            <a:xfrm>
              <a:off x="10938" y="8041"/>
              <a:ext cx="5737" cy="951"/>
            </a:xfrm>
            <a:prstGeom prst="roundRect">
              <a:avLst/>
            </a:prstGeom>
            <a:ln w="19050">
              <a:solidFill>
                <a:srgbClr val="0000FF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Thu mua xác nhận giá thực tế (#09244)</a:t>
              </a:r>
              <a:endPara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endParaRPr>
            </a:p>
            <a:p>
              <a:pPr algn="ctr"/>
              <a:r>
                <a:rPr lang="zh-CN" altLang="en-US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採購確認</a:t>
              </a:r>
              <a:endParaRPr lang="en-US" sz="14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8" name="Down Arrow 22"/>
            <p:cNvSpPr/>
            <p:nvPr/>
          </p:nvSpPr>
          <p:spPr>
            <a:xfrm>
              <a:off x="13591" y="7728"/>
              <a:ext cx="432" cy="230"/>
            </a:xfrm>
            <a:prstGeom prst="downArrow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Rounded Rectangle 37"/>
            <p:cNvSpPr/>
            <p:nvPr/>
          </p:nvSpPr>
          <p:spPr>
            <a:xfrm>
              <a:off x="11317" y="9467"/>
              <a:ext cx="4980" cy="967"/>
            </a:xfrm>
            <a:prstGeom prst="roundRect">
              <a:avLst/>
            </a:prstGeom>
            <a:ln w="19050"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dk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Cấp ký </a:t>
              </a:r>
              <a:r>
                <a:rPr lang="en-US" sz="1400" b="1" dirty="0" err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duyệt</a:t>
              </a:r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(Từ TP đến P.TGĐ)</a:t>
              </a:r>
              <a:endParaRPr lang="en-US" sz="1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簽核層級（</a:t>
              </a:r>
              <a:r>
                <a:rPr lang="zh-CN" altLang="en-US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副理</a:t>
              </a:r>
              <a:r>
                <a:rPr lang="en-US" altLang="zh-CN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 =&gt; </a:t>
              </a:r>
              <a:r>
                <a:rPr lang="zh-CN" altLang="en-US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副總經理）</a:t>
              </a:r>
              <a:endParaRPr lang="en-US" sz="1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2" name="Down Arrow 22"/>
            <p:cNvSpPr/>
            <p:nvPr/>
          </p:nvSpPr>
          <p:spPr>
            <a:xfrm>
              <a:off x="13590" y="9091"/>
              <a:ext cx="432" cy="230"/>
            </a:xfrm>
            <a:prstGeom prst="downArrow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Rounded Rectangle 7"/>
          <p:cNvSpPr/>
          <p:nvPr/>
        </p:nvSpPr>
        <p:spPr>
          <a:xfrm>
            <a:off x="6501068" y="1106612"/>
            <a:ext cx="4448810" cy="55753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TH: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Có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phát sinh chênh lệch phí bảo dưỡng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情況：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有發生</a:t>
            </a:r>
            <a:r>
              <a:rPr lang="zh-CN" altLang="en-US" sz="16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保養費用</a:t>
            </a:r>
            <a:endParaRPr lang="en-US" sz="1600" b="1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179830" y="1820545"/>
            <a:ext cx="3642995" cy="3855720"/>
            <a:chOff x="1858" y="2867"/>
            <a:chExt cx="5737" cy="6072"/>
          </a:xfrm>
        </p:grpSpPr>
        <p:sp>
          <p:nvSpPr>
            <p:cNvPr id="21" name="Down Arrow 22"/>
            <p:cNvSpPr/>
            <p:nvPr/>
          </p:nvSpPr>
          <p:spPr>
            <a:xfrm>
              <a:off x="4554" y="3774"/>
              <a:ext cx="346" cy="214"/>
            </a:xfrm>
            <a:prstGeom prst="downArrow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2" name="Rounded Rectangle 37"/>
            <p:cNvSpPr/>
            <p:nvPr/>
          </p:nvSpPr>
          <p:spPr>
            <a:xfrm>
              <a:off x="2255" y="2867"/>
              <a:ext cx="4943" cy="834"/>
            </a:xfrm>
            <a:prstGeom prst="roundRect">
              <a:avLst/>
            </a:prstGeom>
            <a:ln w="19050"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dk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Nhân </a:t>
              </a:r>
              <a:r>
                <a:rPr lang="en-US" sz="1400" b="1" dirty="0" err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viên</a:t>
              </a:r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lập</a:t>
              </a:r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đơn</a:t>
              </a:r>
              <a:endParaRPr lang="en-US" sz="1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400" b="1" dirty="0">
                  <a:solidFill>
                    <a:srgbClr val="0707FF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打單者</a:t>
              </a:r>
              <a:endParaRPr lang="zh-CN" altLang="en-US" sz="1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3" name="Rounded Rectangle 37"/>
            <p:cNvSpPr/>
            <p:nvPr/>
          </p:nvSpPr>
          <p:spPr>
            <a:xfrm>
              <a:off x="2237" y="4137"/>
              <a:ext cx="4980" cy="884"/>
            </a:xfrm>
            <a:prstGeom prst="roundRect">
              <a:avLst/>
            </a:prstGeom>
            <a:ln w="19050"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dk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Cấp ký </a:t>
              </a:r>
              <a:r>
                <a:rPr lang="en-US" sz="1400" b="1" dirty="0" err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duyệt</a:t>
              </a:r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(đến P.GĐ)</a:t>
              </a:r>
              <a:endParaRPr lang="en-US" sz="1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簽核層級（副理）</a:t>
              </a:r>
              <a:endParaRPr lang="en-US" sz="1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Down Arrow 22"/>
            <p:cNvSpPr/>
            <p:nvPr/>
          </p:nvSpPr>
          <p:spPr>
            <a:xfrm>
              <a:off x="4554" y="5119"/>
              <a:ext cx="346" cy="264"/>
            </a:xfrm>
            <a:prstGeom prst="downArrow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7" name="Rounded Rectangle 44"/>
            <p:cNvSpPr/>
            <p:nvPr/>
          </p:nvSpPr>
          <p:spPr>
            <a:xfrm>
              <a:off x="1867" y="5456"/>
              <a:ext cx="5728" cy="832"/>
            </a:xfrm>
            <a:prstGeom prst="roundRect">
              <a:avLst/>
            </a:prstGeom>
            <a:ln w="19050">
              <a:solidFill>
                <a:srgbClr val="0000FF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Thu mua xác nhận giá dự tính (#09244)</a:t>
              </a:r>
              <a:endPara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endParaRPr>
            </a:p>
            <a:p>
              <a:pPr algn="ctr"/>
              <a:r>
                <a:rPr lang="zh-CN" altLang="en-US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採購確認</a:t>
              </a:r>
              <a:endParaRPr lang="en-US" sz="14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28" name="Down Arrow 22"/>
            <p:cNvSpPr/>
            <p:nvPr/>
          </p:nvSpPr>
          <p:spPr>
            <a:xfrm>
              <a:off x="4511" y="6456"/>
              <a:ext cx="432" cy="230"/>
            </a:xfrm>
            <a:prstGeom prst="downArrow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9" name="Rounded Rectangle 37"/>
            <p:cNvSpPr/>
            <p:nvPr/>
          </p:nvSpPr>
          <p:spPr>
            <a:xfrm>
              <a:off x="2237" y="6722"/>
              <a:ext cx="4980" cy="908"/>
            </a:xfrm>
            <a:prstGeom prst="roundRect">
              <a:avLst/>
            </a:prstGeom>
            <a:ln w="19050"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dk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Cấp ký </a:t>
              </a:r>
              <a:r>
                <a:rPr lang="en-US" sz="1400" b="1" dirty="0" err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duyệt</a:t>
              </a:r>
              <a:r>
                <a:rPr lang="en-US" sz="1400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(đến P.TGĐ)</a:t>
              </a:r>
              <a:endParaRPr lang="en-US" sz="1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簽核層級（副總經理）</a:t>
              </a:r>
              <a:endParaRPr lang="en-US" sz="1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0" name="Down Arrow 22"/>
            <p:cNvSpPr/>
            <p:nvPr/>
          </p:nvSpPr>
          <p:spPr>
            <a:xfrm>
              <a:off x="4511" y="7703"/>
              <a:ext cx="432" cy="230"/>
            </a:xfrm>
            <a:prstGeom prst="downArrow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1" name="Rounded Rectangle 44"/>
            <p:cNvSpPr/>
            <p:nvPr/>
          </p:nvSpPr>
          <p:spPr>
            <a:xfrm>
              <a:off x="1858" y="8006"/>
              <a:ext cx="5737" cy="933"/>
            </a:xfrm>
            <a:prstGeom prst="roundRect">
              <a:avLst/>
            </a:prstGeom>
            <a:ln w="19050">
              <a:solidFill>
                <a:srgbClr val="0000FF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Thu mua xác nhận giá thực tế (#09244)</a:t>
              </a:r>
              <a:endPara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endParaRPr>
            </a:p>
            <a:p>
              <a:pPr algn="ctr"/>
              <a:r>
                <a:rPr lang="zh-CN" altLang="en-US" sz="1400" b="1" dirty="0">
                  <a:solidFill>
                    <a:srgbClr val="0707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採購確認</a:t>
              </a:r>
              <a:endParaRPr lang="en-US" sz="14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endParaRPr>
            </a:p>
          </p:txBody>
        </p:sp>
      </p:grpSp>
      <p:cxnSp>
        <p:nvCxnSpPr>
          <p:cNvPr id="32" name="Straight Connector 31"/>
          <p:cNvCxnSpPr/>
          <p:nvPr/>
        </p:nvCxnSpPr>
        <p:spPr>
          <a:xfrm>
            <a:off x="5870406" y="1091786"/>
            <a:ext cx="0" cy="5059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0657" y="113710"/>
            <a:ext cx="9929883" cy="837961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4. LƯU TRÌNH KÝ DUYỆT</a:t>
            </a:r>
            <a:b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   </a:t>
            </a:r>
            <a:r>
              <a:rPr lang="zh-CN" altLang="en-US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簽核流程</a:t>
            </a:r>
            <a:endParaRPr lang="zh-CN" altLang="en-US" sz="2400" b="1" dirty="0">
              <a:solidFill>
                <a:srgbClr val="0707FF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/>
          <p:nvPr>
            <p:custDataLst>
              <p:tags r:id="rId1"/>
            </p:custDataLst>
          </p:nvPr>
        </p:nvGraphicFramePr>
        <p:xfrm>
          <a:off x="2433955" y="1358392"/>
          <a:ext cx="6952615" cy="5210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66645"/>
                <a:gridCol w="1016635"/>
                <a:gridCol w="1130300"/>
                <a:gridCol w="1409065"/>
                <a:gridCol w="1029970"/>
              </a:tblGrid>
              <a:tr h="4343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 err="1">
                          <a:ln>
                            <a:noFill/>
                          </a:ln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Xưởng</a:t>
                      </a:r>
                      <a:r>
                        <a:rPr lang="en-US" sz="1300" b="1" dirty="0">
                          <a:ln>
                            <a:noFill/>
                          </a:ln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1</a:t>
                      </a:r>
                      <a:r>
                        <a:rPr lang="zh-CN" altLang="en-US" sz="1300" b="1" dirty="0">
                          <a:ln>
                            <a:noFill/>
                          </a:ln>
                          <a:solidFill>
                            <a:srgbClr val="0707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廠</a:t>
                      </a:r>
                      <a:endParaRPr lang="en-US" sz="1300" b="1" dirty="0">
                        <a:ln>
                          <a:noFill/>
                        </a:ln>
                        <a:solidFill>
                          <a:srgbClr val="0707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 err="1">
                          <a:ln>
                            <a:noFill/>
                          </a:ln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Xưởng</a:t>
                      </a:r>
                      <a:r>
                        <a:rPr lang="en-US" sz="1300" b="1" dirty="0">
                          <a:ln>
                            <a:noFill/>
                          </a:ln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2+5</a:t>
                      </a:r>
                      <a:endParaRPr lang="en-US" sz="1300" b="1" dirty="0">
                        <a:ln>
                          <a:noFill/>
                        </a:ln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300" b="1" dirty="0">
                          <a:ln>
                            <a:noFill/>
                          </a:ln>
                          <a:solidFill>
                            <a:srgbClr val="0707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廠</a:t>
                      </a:r>
                      <a:endParaRPr lang="en-US" sz="1300" b="1" dirty="0">
                        <a:ln>
                          <a:noFill/>
                        </a:ln>
                        <a:solidFill>
                          <a:srgbClr val="0707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 err="1">
                          <a:ln>
                            <a:noFill/>
                          </a:ln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Xưởng</a:t>
                      </a:r>
                      <a:r>
                        <a:rPr lang="en-US" sz="1300" b="1" dirty="0">
                          <a:ln>
                            <a:noFill/>
                          </a:ln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3+4</a:t>
                      </a:r>
                      <a:endParaRPr lang="en-US" sz="1300" b="1" dirty="0">
                        <a:ln>
                          <a:noFill/>
                        </a:ln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300" b="1" dirty="0">
                          <a:ln>
                            <a:noFill/>
                          </a:ln>
                          <a:solidFill>
                            <a:srgbClr val="0707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廠</a:t>
                      </a:r>
                      <a:endParaRPr lang="en-US" sz="1300" b="1" dirty="0">
                        <a:ln>
                          <a:noFill/>
                        </a:ln>
                        <a:solidFill>
                          <a:srgbClr val="0707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 err="1">
                          <a:ln>
                            <a:noFill/>
                          </a:ln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Xưởng</a:t>
                      </a:r>
                      <a:r>
                        <a:rPr lang="en-US" sz="1300" b="1" dirty="0">
                          <a:ln>
                            <a:noFill/>
                          </a:ln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6</a:t>
                      </a:r>
                      <a:endParaRPr lang="en-US" sz="1300" b="1" dirty="0">
                        <a:ln>
                          <a:noFill/>
                        </a:ln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300" b="1" dirty="0">
                          <a:ln>
                            <a:noFill/>
                          </a:ln>
                          <a:solidFill>
                            <a:srgbClr val="0707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廠</a:t>
                      </a:r>
                      <a:endParaRPr lang="en-US" sz="1300" b="1" dirty="0">
                        <a:ln>
                          <a:noFill/>
                        </a:ln>
                        <a:solidFill>
                          <a:srgbClr val="0707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Người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1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làm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1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đơn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(NLĐ)</a:t>
                      </a:r>
                      <a:endParaRPr lang="en-US" sz="1300" b="1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300" b="1" dirty="0">
                          <a:solidFill>
                            <a:srgbClr val="0707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打單者</a:t>
                      </a:r>
                      <a:endParaRPr lang="en-US" sz="1300" b="1" dirty="0">
                        <a:solidFill>
                          <a:srgbClr val="0707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NLĐ</a:t>
                      </a:r>
                      <a:endParaRPr lang="en-US" sz="1300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勞動者</a:t>
                      </a:r>
                      <a:endParaRPr lang="en-US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NLĐ</a:t>
                      </a:r>
                      <a:endParaRPr lang="en-US" altLang="zh-TW" sz="1300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勞動者</a:t>
                      </a:r>
                      <a:endParaRPr lang="en-US" sz="1300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NLĐ</a:t>
                      </a:r>
                      <a:endParaRPr lang="en-US" altLang="zh-TW" sz="1300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勞動者</a:t>
                      </a:r>
                      <a:endParaRPr lang="en-US" sz="1300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NLĐ</a:t>
                      </a:r>
                      <a:endParaRPr lang="en-US" altLang="zh-TW" sz="1300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勞動者</a:t>
                      </a:r>
                      <a:endParaRPr lang="en-US" sz="1300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425450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Nhóm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/ </a:t>
                      </a:r>
                      <a:r>
                        <a:rPr lang="en-US" sz="1300" b="1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Tổ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1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trưởng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(NT/TT)</a:t>
                      </a:r>
                      <a:endParaRPr lang="en-US" sz="1300" b="1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300" b="1" dirty="0">
                          <a:solidFill>
                            <a:srgbClr val="0707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小組長</a:t>
                      </a:r>
                      <a:r>
                        <a:rPr lang="en-US" altLang="zh-CN" sz="1300" b="1" dirty="0">
                          <a:solidFill>
                            <a:srgbClr val="0707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1300" b="1" dirty="0">
                          <a:solidFill>
                            <a:srgbClr val="0707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組長</a:t>
                      </a:r>
                      <a:endParaRPr lang="en-US" sz="1300" b="1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#00400</a:t>
                      </a:r>
                      <a:endParaRPr lang="en-US" sz="13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#01932</a:t>
                      </a:r>
                      <a:endParaRPr lang="en-US" sz="13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#00758;#00231</a:t>
                      </a:r>
                      <a:endParaRPr lang="en-US" sz="13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#03027</a:t>
                      </a:r>
                      <a:endParaRPr lang="en-US" sz="13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26162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#02196</a:t>
                      </a:r>
                      <a:endParaRPr lang="en-US" sz="13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#02529</a:t>
                      </a:r>
                      <a:endParaRPr lang="en-US" sz="13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cPr/>
                </a:tc>
              </a:tr>
              <a:tr h="393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Trưởng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1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phòng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(TP)</a:t>
                      </a:r>
                      <a:endParaRPr lang="en-US" sz="1300" b="1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300" b="1" dirty="0">
                          <a:solidFill>
                            <a:srgbClr val="0707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課長</a:t>
                      </a:r>
                      <a:endParaRPr lang="en-US" sz="1300" b="1" dirty="0">
                        <a:solidFill>
                          <a:srgbClr val="0707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TP 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課長</a:t>
                      </a:r>
                      <a:endParaRPr lang="en-US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TP 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課長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TP 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課長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TP 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課長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Phó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1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giám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1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đốc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(P.GĐ)</a:t>
                      </a:r>
                      <a:endParaRPr lang="en-US" sz="1300" b="1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300" b="1" dirty="0">
                          <a:solidFill>
                            <a:srgbClr val="0707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副理</a:t>
                      </a:r>
                      <a:endParaRPr lang="en-US" sz="1300" b="1" dirty="0">
                        <a:solidFill>
                          <a:srgbClr val="0707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P.GĐ 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副總</a:t>
                      </a:r>
                      <a:endParaRPr lang="en-US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P.GĐ 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副總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P.GĐ 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副總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P.GĐ 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副總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Giám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1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đốc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(GĐ)</a:t>
                      </a:r>
                      <a:endParaRPr lang="en-US" sz="1300" b="1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300" b="1" dirty="0">
                          <a:solidFill>
                            <a:srgbClr val="0707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經理</a:t>
                      </a:r>
                      <a:endParaRPr lang="en-US" sz="1300" b="1" dirty="0">
                        <a:solidFill>
                          <a:srgbClr val="0707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GĐ 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經理</a:t>
                      </a:r>
                      <a:endParaRPr lang="en-US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GĐ 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經理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GĐ 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經理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GĐ 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經理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Phó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1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tổng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1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giám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1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đốc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(P.TGĐ)</a:t>
                      </a:r>
                      <a:endParaRPr lang="en-US" sz="1300" b="1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300" b="1" dirty="0">
                          <a:solidFill>
                            <a:srgbClr val="0707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副總</a:t>
                      </a:r>
                      <a:endParaRPr lang="en-US" sz="1300" b="1" dirty="0">
                        <a:solidFill>
                          <a:srgbClr val="0707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P.TGĐ 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副總</a:t>
                      </a:r>
                      <a:endParaRPr lang="en-US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P.TGĐ 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副總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P.TGĐ 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副總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P.TGĐ 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副總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Thu </a:t>
                      </a:r>
                      <a:r>
                        <a:rPr lang="en-US" sz="1300" b="1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mua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1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xác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1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(TM)</a:t>
                      </a:r>
                      <a:endParaRPr lang="en-US" sz="1300" b="1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300" b="1" dirty="0">
                          <a:solidFill>
                            <a:srgbClr val="0707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採購確認</a:t>
                      </a:r>
                      <a:endParaRPr lang="en-US" sz="1300" b="1" dirty="0">
                        <a:solidFill>
                          <a:srgbClr val="0707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TM 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採購</a:t>
                      </a:r>
                      <a:endParaRPr lang="en-US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TM 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採購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TM 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採購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TM 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採購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1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endParaRPr lang="en-US" sz="1300" b="1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300" b="1" dirty="0">
                          <a:solidFill>
                            <a:srgbClr val="0707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通知</a:t>
                      </a:r>
                      <a:endParaRPr lang="en-US" sz="1300" b="1" dirty="0">
                        <a:solidFill>
                          <a:srgbClr val="0707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NLĐ; NT/TT</a:t>
                      </a:r>
                      <a:endParaRPr lang="en-US" sz="1300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勞動者</a:t>
                      </a:r>
                      <a:endParaRPr lang="en-US" altLang="zh-CN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小組長</a:t>
                      </a:r>
                      <a:r>
                        <a:rPr lang="en-US" altLang="zh-CN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組長</a:t>
                      </a:r>
                      <a:endParaRPr lang="en-US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  <a:sym typeface="+mn-ea"/>
                        </a:rPr>
                        <a:t>NLĐ; NT/TT</a:t>
                      </a:r>
                      <a:endParaRPr lang="en-US" altLang="zh-TW" sz="1300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勞動者</a:t>
                      </a:r>
                      <a:endParaRPr lang="en-US" altLang="zh-CN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小組長</a:t>
                      </a:r>
                      <a:r>
                        <a:rPr lang="en-US" altLang="zh-CN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組長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  <a:sym typeface="+mn-ea"/>
                        </a:rPr>
                        <a:t>NLĐ; NT/TT</a:t>
                      </a:r>
                      <a:endParaRPr lang="en-US" altLang="zh-TW" sz="1300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勞動者</a:t>
                      </a:r>
                      <a:endParaRPr lang="en-US" altLang="zh-CN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小組長</a:t>
                      </a:r>
                      <a:r>
                        <a:rPr lang="en-US" altLang="zh-CN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組長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  <a:sym typeface="+mn-ea"/>
                        </a:rPr>
                        <a:t>NLĐ; NT/TT</a:t>
                      </a:r>
                      <a:endParaRPr lang="en-US" sz="1300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勞動者</a:t>
                      </a:r>
                      <a:endParaRPr lang="en-US" altLang="zh-CN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小組長</a:t>
                      </a:r>
                      <a:r>
                        <a:rPr lang="en-US" altLang="zh-CN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13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組長</a:t>
                      </a:r>
                      <a:endParaRPr lang="en-US" altLang="zh-TW" sz="13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 txBox="1"/>
          <p:nvPr/>
        </p:nvSpPr>
        <p:spPr>
          <a:xfrm>
            <a:off x="1581158" y="85594"/>
            <a:ext cx="8748888" cy="877852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   5. THÔNG BÁO EMAIL </a:t>
            </a:r>
            <a:r>
              <a:rPr lang="en-US" altLang="zh-C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&amp; 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BPM KÝ </a:t>
            </a:r>
            <a:r>
              <a:rPr lang="en-US" altLang="zh-C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HOÀN THÀNH</a:t>
            </a:r>
            <a:br>
              <a:rPr lang="en-US" altLang="zh-C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C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完成</a:t>
            </a:r>
            <a:r>
              <a:rPr lang="zh-CN" altLang="en-US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簽核 </a:t>
            </a:r>
            <a:r>
              <a:rPr lang="en-US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EMAIL </a:t>
            </a:r>
            <a:r>
              <a:rPr lang="en-US" altLang="zh-CN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&amp; </a:t>
            </a:r>
            <a:r>
              <a:rPr lang="en-US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BPM </a:t>
            </a:r>
            <a:r>
              <a:rPr lang="zh-CN" altLang="en-US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0707FF"/>
                </a:solidFill>
                <a:effectLst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通知</a:t>
            </a:r>
            <a:endParaRPr lang="zh-CN" altLang="en-US" sz="2400" b="1" dirty="0">
              <a:solidFill>
                <a:srgbClr val="0707FF"/>
              </a:solidFill>
              <a:effectLst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Rounded Rectangular Callout 8"/>
          <p:cNvSpPr/>
          <p:nvPr/>
        </p:nvSpPr>
        <p:spPr>
          <a:xfrm>
            <a:off x="6325919" y="1478844"/>
            <a:ext cx="5182142" cy="620280"/>
          </a:xfrm>
          <a:prstGeom prst="wedgeRoundRectCallout">
            <a:avLst>
              <a:gd name="adj1" fmla="val -24597"/>
              <a:gd name="adj2" fmla="val -48684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BPM: </a:t>
            </a:r>
            <a:r>
              <a:rPr lang="vi-VN" sz="16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Hạng mục công việc hoàn thành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rgbClr val="0000CC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完成工作項目</a:t>
            </a:r>
            <a:endParaRPr lang="zh-CN" altLang="en-US" sz="1600" dirty="0">
              <a:solidFill>
                <a:srgbClr val="0707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895118" y="1478844"/>
            <a:ext cx="4914668" cy="620280"/>
          </a:xfrm>
          <a:prstGeom prst="wedgeRoundRectCallout">
            <a:avLst>
              <a:gd name="adj1" fmla="val -24597"/>
              <a:gd name="adj2" fmla="val -4868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E</a:t>
            </a:r>
            <a:r>
              <a:rPr lang="vi-VN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MAIL: </a:t>
            </a:r>
            <a:r>
              <a:rPr lang="vi-VN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Thông báo quy trình ký hoàn thành</a:t>
            </a:r>
            <a:endParaRPr lang="vi-VN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lvl="3"/>
            <a:r>
              <a:rPr lang="vi-VN" altLang="zh-CN" sz="1600" b="1" dirty="0">
                <a:solidFill>
                  <a:srgbClr val="0000CC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vi-VN" altLang="zh-CN" sz="16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CN" altLang="en-US" sz="1600" b="1" dirty="0">
                <a:solidFill>
                  <a:srgbClr val="0707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簽核完成通知</a:t>
            </a:r>
            <a:endParaRPr lang="zh-CN" altLang="en-US" sz="1600" b="1" dirty="0">
              <a:solidFill>
                <a:srgbClr val="0707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6325919" y="2767330"/>
            <a:ext cx="5151390" cy="3427730"/>
            <a:chOff x="6325919" y="2767330"/>
            <a:chExt cx="5151390" cy="342773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25919" y="2767330"/>
              <a:ext cx="5151390" cy="207899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25919" y="4834267"/>
              <a:ext cx="5151390" cy="136079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18" y="2767330"/>
            <a:ext cx="4914668" cy="34277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108329" y="1703906"/>
            <a:ext cx="10515600" cy="21703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 i="1" dirty="0">
                <a:solidFill>
                  <a:srgbClr val="0707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THANK YOU</a:t>
            </a:r>
            <a:r>
              <a:rPr lang="zh-CN" altLang="en-US" sz="7200" b="1" i="1" dirty="0">
                <a:solidFill>
                  <a:srgbClr val="0707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！</a:t>
            </a:r>
            <a:endParaRPr lang="zh-CN" altLang="en-US" sz="7200" b="1" i="1" dirty="0">
              <a:solidFill>
                <a:srgbClr val="0707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94*433"/>
  <p:tag name="TABLE_ENDDRAG_RECT" val="434*74*494*43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d157257-a3bf-4ff5-a465-4e2defe95989">
      <Terms xmlns="http://schemas.microsoft.com/office/infopath/2007/PartnerControls"/>
    </lcf76f155ced4ddcb4097134ff3c332f>
    <TaxCatchAll xmlns="5fe9d9f8-cc4e-4bb2-9b11-9758b481ddc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03BE9727992A24479AC7469DEEDEA94C" ma:contentTypeVersion="18" ma:contentTypeDescription="Tạo tài liệu mới." ma:contentTypeScope="" ma:versionID="fcedeea1ed1b8db8f0f651ab27b63a68">
  <xsd:schema xmlns:xsd="http://www.w3.org/2001/XMLSchema" xmlns:xs="http://www.w3.org/2001/XMLSchema" xmlns:p="http://schemas.microsoft.com/office/2006/metadata/properties" xmlns:ns2="9d157257-a3bf-4ff5-a465-4e2defe95989" xmlns:ns3="5fe9d9f8-cc4e-4bb2-9b11-9758b481ddc1" targetNamespace="http://schemas.microsoft.com/office/2006/metadata/properties" ma:root="true" ma:fieldsID="a5dd6d7f0f03813c2927d9f419379363" ns2:_="" ns3:_="">
    <xsd:import namespace="9d157257-a3bf-4ff5-a465-4e2defe95989"/>
    <xsd:import namespace="5fe9d9f8-cc4e-4bb2-9b11-9758b481dd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157257-a3bf-4ff5-a465-4e2defe95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Thẻ Hình ảnh" ma:readOnly="false" ma:fieldId="{5cf76f15-5ced-4ddc-b409-7134ff3c332f}" ma:taxonomyMulti="true" ma:sspId="f4cab4e9-b41f-4aee-96b1-c1b3b1261b9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9d9f8-cc4e-4bb2-9b11-9758b481ddc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hia sẻ Với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Chia sẻ Có Chi tiết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4bd9be1-660a-4bc7-baff-f2d1738c4dfe}" ma:internalName="TaxCatchAll" ma:showField="CatchAllData" ma:web="5fe9d9f8-cc4e-4bb2-9b11-9758b481dd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2.xml><?xml version="1.0" encoding="utf-8"?>
<ds:datastoreItem xmlns:ds="http://schemas.openxmlformats.org/officeDocument/2006/customXml" ds:itemID="{0F65C1FF-1446-411D-B2FF-AF5D22B215D4}">
  <ds:schemaRefs/>
</ds:datastoreItem>
</file>

<file path=customXml/itemProps3.xml><?xml version="1.0" encoding="utf-8"?>
<ds:datastoreItem xmlns:ds="http://schemas.openxmlformats.org/officeDocument/2006/customXml" ds:itemID="{97D2AC0E-D8DE-4CBE-8993-E684431096FB}"/>
</file>

<file path=customXml/itemProps4.xml><?xml version="1.0" encoding="utf-8"?>
<ds:datastoreItem xmlns:ds="http://schemas.openxmlformats.org/officeDocument/2006/customXml" ds:itemID="{7644DA33-5212-4847-828F-AFC42312FE7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3053</Words>
  <Application>WPS Presentation</Application>
  <PresentationFormat>Widescreen</PresentationFormat>
  <Paragraphs>339</Paragraphs>
  <Slides>14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Microsoft JhengHei</vt:lpstr>
      <vt:lpstr>Wingdings</vt:lpstr>
      <vt:lpstr>Microsoft YaHei</vt:lpstr>
      <vt:lpstr>Arial Unicode MS</vt:lpstr>
      <vt:lpstr>Calibri Light</vt:lpstr>
      <vt:lpstr>Calibri</vt:lpstr>
      <vt:lpstr>Malgun 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 LƯU TRÌNH KÝ DUYỆT       簽核流程</vt:lpstr>
      <vt:lpstr>4. LƯU TRÌNH KÝ DUYỆT     簽核流程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EIP 概念介紹</dc:title>
  <dc:creator>User</dc:creator>
  <cp:lastModifiedBy>Hien Nguyen</cp:lastModifiedBy>
  <cp:revision>246</cp:revision>
  <dcterms:created xsi:type="dcterms:W3CDTF">2023-02-18T02:27:00Z</dcterms:created>
  <dcterms:modified xsi:type="dcterms:W3CDTF">2026-01-08T04:05:43Z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0x01010003BE9727992A24479AC7469DEEDEA94C</vt:lpwstr>
  </property>
  <property fmtid="{D5CDD505-2E9C-101B-9397-08002B2CF9AE}" pid="3" name="MediaServiceImageTags">
    <vt:lpwstr/>
  </property>
  <property fmtid="{D5CDD505-2E9C-101B-9397-08002B2CF9AE}" pid="4" name="ICV">
    <vt:lpwstr>22C5B34CB1E542ED971EA5BE74A35B4D_13</vt:lpwstr>
  </property>
  <property fmtid="{D5CDD505-2E9C-101B-9397-08002B2CF9AE}" pid="5" name="KSOProductBuildVer">
    <vt:lpwstr>1033-12.2.0.23196</vt:lpwstr>
  </property>
</Properties>
</file>