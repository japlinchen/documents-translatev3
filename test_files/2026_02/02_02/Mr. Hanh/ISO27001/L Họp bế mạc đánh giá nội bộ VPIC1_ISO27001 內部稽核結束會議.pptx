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60" r:id="rId4"/>
    <p:sldId id="288" r:id="rId5"/>
    <p:sldId id="320" r:id="rId6"/>
    <p:sldId id="321" r:id="rId7"/>
    <p:sldId id="314" r:id="rId8"/>
    <p:sldId id="322" r:id="rId9"/>
    <p:sldId id="323" r:id="rId10"/>
    <p:sldId id="324" r:id="rId11"/>
    <p:sldId id="325" r:id="rId12"/>
    <p:sldId id="326" r:id="rId13"/>
    <p:sldId id="263"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FFE389"/>
    <a:srgbClr val="D9D9D9"/>
    <a:srgbClr val="0100A9"/>
    <a:srgbClr val="70AD47"/>
    <a:srgbClr val="0405B1"/>
    <a:srgbClr val="E9EBF5"/>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113" d="100"/>
          <a:sy n="113" d="100"/>
        </p:scale>
        <p:origin x="5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Lan" userId="ae9b1ffe-1eac-4ec3-a96e-b8bff1a16e46" providerId="ADAL" clId="{67337526-3B44-4BA6-A17F-622F9B23877A}"/>
    <pc:docChg chg="undo custSel modSld">
      <pc:chgData name="Nguyen Lan" userId="ae9b1ffe-1eac-4ec3-a96e-b8bff1a16e46" providerId="ADAL" clId="{67337526-3B44-4BA6-A17F-622F9B23877A}" dt="2026-01-30T04:30:13.466" v="69" actId="1076"/>
      <pc:docMkLst>
        <pc:docMk/>
      </pc:docMkLst>
      <pc:sldChg chg="modSp mod">
        <pc:chgData name="Nguyen Lan" userId="ae9b1ffe-1eac-4ec3-a96e-b8bff1a16e46" providerId="ADAL" clId="{67337526-3B44-4BA6-A17F-622F9B23877A}" dt="2026-01-30T04:30:13.466" v="69" actId="1076"/>
        <pc:sldMkLst>
          <pc:docMk/>
          <pc:sldMk cId="0" sldId="256"/>
        </pc:sldMkLst>
        <pc:spChg chg="mod">
          <ac:chgData name="Nguyen Lan" userId="ae9b1ffe-1eac-4ec3-a96e-b8bff1a16e46" providerId="ADAL" clId="{67337526-3B44-4BA6-A17F-622F9B23877A}" dt="2026-01-30T04:30:13.466" v="69" actId="1076"/>
          <ac:spMkLst>
            <pc:docMk/>
            <pc:sldMk cId="0" sldId="256"/>
            <ac:spMk id="16" creationId="{00000000-0000-0000-0000-000000000000}"/>
          </ac:spMkLst>
        </pc:spChg>
      </pc:sldChg>
      <pc:sldChg chg="modSp mod">
        <pc:chgData name="Nguyen Lan" userId="ae9b1ffe-1eac-4ec3-a96e-b8bff1a16e46" providerId="ADAL" clId="{67337526-3B44-4BA6-A17F-622F9B23877A}" dt="2026-01-30T04:26:53.126" v="0" actId="1076"/>
        <pc:sldMkLst>
          <pc:docMk/>
          <pc:sldMk cId="0" sldId="319"/>
        </pc:sldMkLst>
        <pc:graphicFrameChg chg="mod">
          <ac:chgData name="Nguyen Lan" userId="ae9b1ffe-1eac-4ec3-a96e-b8bff1a16e46" providerId="ADAL" clId="{67337526-3B44-4BA6-A17F-622F9B23877A}" dt="2026-01-30T04:26:53.126" v="0" actId="1076"/>
          <ac:graphicFrameMkLst>
            <pc:docMk/>
            <pc:sldMk cId="0" sldId="319"/>
            <ac:graphicFrameMk id="2" creationId="{00000000-0000-0000-0000-000000000000}"/>
          </ac:graphicFrameMkLst>
        </pc:graphicFrameChg>
      </pc:sldChg>
      <pc:sldChg chg="modSp mod">
        <pc:chgData name="Nguyen Lan" userId="ae9b1ffe-1eac-4ec3-a96e-b8bff1a16e46" providerId="ADAL" clId="{67337526-3B44-4BA6-A17F-622F9B23877A}" dt="2026-01-30T04:27:00.756" v="1" actId="1076"/>
        <pc:sldMkLst>
          <pc:docMk/>
          <pc:sldMk cId="0" sldId="320"/>
        </pc:sldMkLst>
        <pc:graphicFrameChg chg="mod">
          <ac:chgData name="Nguyen Lan" userId="ae9b1ffe-1eac-4ec3-a96e-b8bff1a16e46" providerId="ADAL" clId="{67337526-3B44-4BA6-A17F-622F9B23877A}" dt="2026-01-30T04:27:00.756" v="1" actId="1076"/>
          <ac:graphicFrameMkLst>
            <pc:docMk/>
            <pc:sldMk cId="0" sldId="320"/>
            <ac:graphicFrameMk id="2" creationId="{00000000-0000-0000-0000-000000000000}"/>
          </ac:graphicFrameMkLst>
        </pc:graphicFrameChg>
      </pc:sldChg>
      <pc:sldChg chg="modSp mod">
        <pc:chgData name="Nguyen Lan" userId="ae9b1ffe-1eac-4ec3-a96e-b8bff1a16e46" providerId="ADAL" clId="{67337526-3B44-4BA6-A17F-622F9B23877A}" dt="2026-01-30T04:27:18.396" v="2" actId="1076"/>
        <pc:sldMkLst>
          <pc:docMk/>
          <pc:sldMk cId="0" sldId="322"/>
        </pc:sldMkLst>
        <pc:graphicFrameChg chg="mod">
          <ac:chgData name="Nguyen Lan" userId="ae9b1ffe-1eac-4ec3-a96e-b8bff1a16e46" providerId="ADAL" clId="{67337526-3B44-4BA6-A17F-622F9B23877A}" dt="2026-01-30T04:27:18.396" v="2" actId="1076"/>
          <ac:graphicFrameMkLst>
            <pc:docMk/>
            <pc:sldMk cId="0" sldId="322"/>
            <ac:graphicFrameMk id="2" creationId="{00000000-0000-0000-0000-000000000000}"/>
          </ac:graphicFrameMkLst>
        </pc:graphicFrameChg>
      </pc:sldChg>
      <pc:sldChg chg="modSp mod">
        <pc:chgData name="Nguyen Lan" userId="ae9b1ffe-1eac-4ec3-a96e-b8bff1a16e46" providerId="ADAL" clId="{67337526-3B44-4BA6-A17F-622F9B23877A}" dt="2026-01-30T04:27:28.204" v="4" actId="1076"/>
        <pc:sldMkLst>
          <pc:docMk/>
          <pc:sldMk cId="0" sldId="323"/>
        </pc:sldMkLst>
        <pc:graphicFrameChg chg="mod">
          <ac:chgData name="Nguyen Lan" userId="ae9b1ffe-1eac-4ec3-a96e-b8bff1a16e46" providerId="ADAL" clId="{67337526-3B44-4BA6-A17F-622F9B23877A}" dt="2026-01-30T04:27:28.204" v="4" actId="1076"/>
          <ac:graphicFrameMkLst>
            <pc:docMk/>
            <pc:sldMk cId="0" sldId="323"/>
            <ac:graphicFrameMk id="2" creationId="{00000000-0000-0000-0000-000000000000}"/>
          </ac:graphicFrameMkLst>
        </pc:graphicFrameChg>
      </pc:sldChg>
      <pc:sldChg chg="modSp mod">
        <pc:chgData name="Nguyen Lan" userId="ae9b1ffe-1eac-4ec3-a96e-b8bff1a16e46" providerId="ADAL" clId="{67337526-3B44-4BA6-A17F-622F9B23877A}" dt="2026-01-30T04:30:00.144" v="68" actId="1037"/>
        <pc:sldMkLst>
          <pc:docMk/>
          <pc:sldMk cId="0" sldId="326"/>
        </pc:sldMkLst>
        <pc:graphicFrameChg chg="mod modGraphic">
          <ac:chgData name="Nguyen Lan" userId="ae9b1ffe-1eac-4ec3-a96e-b8bff1a16e46" providerId="ADAL" clId="{67337526-3B44-4BA6-A17F-622F9B23877A}" dt="2026-01-30T04:30:00.144" v="68" actId="1037"/>
          <ac:graphicFrameMkLst>
            <pc:docMk/>
            <pc:sldMk cId="0" sldId="326"/>
            <ac:graphicFrameMk id="2" creationId="{00000000-0000-0000-0000-000000000000}"/>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10CE092-A2EC-42DA-97B4-8295D78E167F}" type="doc">
      <dgm:prSet loTypeId="urn:microsoft.com/office/officeart/2008/layout/VerticalCurvedList#1" loCatId="list" qsTypeId="urn:microsoft.com/office/officeart/2005/8/quickstyle/simple1#1" qsCatId="simple" csTypeId="urn:microsoft.com/office/officeart/2005/8/colors/accent1_2#1" csCatId="accent1" phldr="1"/>
      <dgm:spPr/>
      <dgm:t>
        <a:bodyPr/>
        <a:lstStyle/>
        <a:p>
          <a:endParaRPr lang="zh-TW" altLang="en-US"/>
        </a:p>
      </dgm:t>
    </dgm:pt>
    <dgm:pt modelId="{B0C5E107-8C01-4AC0-8707-A07EF86373E8}">
      <dgm:prSet phldrT="[文字]" custT="1"/>
      <dgm:spPr>
        <a:solidFill>
          <a:schemeClr val="accent5">
            <a:lumMod val="60000"/>
            <a:lumOff val="40000"/>
          </a:schemeClr>
        </a:solidFill>
        <a:ln w="12700" cap="flat" cmpd="sng" algn="ctr">
          <a:solidFill>
            <a:prstClr val="white">
              <a:hueOff val="0"/>
              <a:satOff val="0"/>
              <a:lumOff val="0"/>
              <a:alphaOff val="0"/>
            </a:prstClr>
          </a:solidFill>
          <a:prstDash val="solid"/>
          <a:miter lim="800000"/>
        </a:ln>
        <a:effectLst>
          <a:outerShdw blurRad="63500" sx="102000" sy="102000" algn="ctr" rotWithShape="0">
            <a:prstClr val="black">
              <a:alpha val="40000"/>
            </a:prstClr>
          </a:outerShdw>
        </a:effectLst>
      </dgm:spPr>
      <dgm:t>
        <a:bodyPr spcFirstLastPara="0" vert="horz" wrap="square" lIns="648474" tIns="81280" rIns="81280" bIns="81280" numCol="1" spcCol="1270" anchor="ctr" anchorCtr="0"/>
        <a:lstStyle/>
        <a:p>
          <a:pPr marL="0" lvl="0" indent="0" algn="l" defTabSz="1422400">
            <a:lnSpc>
              <a:spcPct val="100000"/>
            </a:lnSpc>
            <a:spcBef>
              <a:spcPct val="0"/>
            </a:spcBef>
            <a:spcAft>
              <a:spcPts val="0"/>
            </a:spcAft>
            <a:buNone/>
          </a:pPr>
          <a:r>
            <a:rPr lang="en-US" altLang="zh-TW" sz="20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THỐNG KÊ KẾT QUẢ ĐÁNH GIÁ</a:t>
          </a:r>
        </a:p>
        <a:p>
          <a:pPr marL="0" lvl="0" indent="0" algn="l" defTabSz="1422400">
            <a:lnSpc>
              <a:spcPct val="100000"/>
            </a:lnSpc>
            <a:spcBef>
              <a:spcPct val="0"/>
            </a:spcBef>
            <a:spcAft>
              <a:spcPts val="0"/>
            </a:spcAft>
            <a:buNone/>
          </a:pPr>
          <a:r>
            <a:rPr lang="zh-TW" altLang="en-US" sz="2000" b="1"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稽核發現事項統計</a:t>
          </a:r>
          <a:endParaRPr lang="zh-TW" altLang="en-US" sz="2000" b="1" kern="1200" dirty="0">
            <a:solidFill>
              <a:srgbClr val="0000FF"/>
            </a:solidFill>
            <a:latin typeface="Microsoft JhengHei" panose="020B0604030504040204" pitchFamily="34" charset="-120"/>
            <a:ea typeface="Microsoft JhengHei" panose="020B0604030504040204" pitchFamily="34" charset="-120"/>
            <a:cs typeface="+mn-cs"/>
          </a:endParaRPr>
        </a:p>
      </dgm:t>
    </dgm:pt>
    <dgm:pt modelId="{13A67AB7-D56A-4454-8852-2B8009BD25E9}" type="parTrans" cxnId="{03F220B5-43B8-44BE-8DA9-C5AD77D17F71}">
      <dgm:prSet/>
      <dgm:spPr/>
      <dgm:t>
        <a:bodyPr/>
        <a:lstStyle/>
        <a:p>
          <a:endParaRPr lang="zh-TW" altLang="en-US" sz="2400" b="1">
            <a:latin typeface="Microsoft JhengHei" panose="020B0604030504040204" pitchFamily="34" charset="-120"/>
            <a:ea typeface="Microsoft JhengHei" panose="020B0604030504040204" pitchFamily="34" charset="-120"/>
          </a:endParaRPr>
        </a:p>
      </dgm:t>
    </dgm:pt>
    <dgm:pt modelId="{2445CF4B-2470-4AC3-9166-99AAE8ECB761}" type="sibTrans" cxnId="{03F220B5-43B8-44BE-8DA9-C5AD77D17F71}">
      <dgm:prSet/>
      <dgm:spPr/>
      <dgm:t>
        <a:bodyPr/>
        <a:lstStyle/>
        <a:p>
          <a:endParaRPr lang="zh-TW" altLang="en-US" sz="2400" b="1">
            <a:latin typeface="Microsoft JhengHei" panose="020B0604030504040204" pitchFamily="34" charset="-120"/>
            <a:ea typeface="Microsoft JhengHei" panose="020B0604030504040204" pitchFamily="34" charset="-120"/>
          </a:endParaRPr>
        </a:p>
      </dgm:t>
    </dgm:pt>
    <dgm:pt modelId="{BC751A18-6937-423C-AB4A-B9FCA4354A68}">
      <dgm:prSet phldrT="[文字]" custT="1"/>
      <dgm:spPr>
        <a:solidFill>
          <a:schemeClr val="accent5">
            <a:lumMod val="60000"/>
            <a:lumOff val="40000"/>
          </a:schemeClr>
        </a:solidFill>
        <a:ln w="12700" cap="flat" cmpd="sng" algn="ctr">
          <a:solidFill>
            <a:prstClr val="white">
              <a:hueOff val="0"/>
              <a:satOff val="0"/>
              <a:lumOff val="0"/>
              <a:alphaOff val="0"/>
            </a:prstClr>
          </a:solidFill>
          <a:prstDash val="solid"/>
          <a:miter lim="800000"/>
        </a:ln>
        <a:effectLst>
          <a:outerShdw blurRad="63500" sx="102000" sy="102000" algn="ctr" rotWithShape="0">
            <a:prstClr val="black">
              <a:alpha val="40000"/>
            </a:prstClr>
          </a:outerShdw>
        </a:effectLst>
      </dgm:spPr>
      <dgm:t>
        <a:bodyPr spcFirstLastPara="0" vert="horz" wrap="square" lIns="648474" tIns="81280" rIns="81280" bIns="81280" numCol="1" spcCol="1270" anchor="ctr" anchorCtr="0"/>
        <a:lstStyle/>
        <a:p>
          <a:pPr marL="0" lvl="0" indent="0" algn="l" defTabSz="1422400">
            <a:lnSpc>
              <a:spcPct val="100000"/>
            </a:lnSpc>
            <a:spcBef>
              <a:spcPct val="0"/>
            </a:spcBef>
            <a:spcAft>
              <a:spcPts val="0"/>
            </a:spcAft>
            <a:buNone/>
          </a:pPr>
          <a:r>
            <a:rPr lang="en-US" altLang="zh-TW" sz="20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HẠNG MỤC QUAN SÁT</a:t>
          </a:r>
        </a:p>
        <a:p>
          <a:pPr marL="0" lvl="0" indent="0" algn="l" defTabSz="1422400">
            <a:lnSpc>
              <a:spcPct val="100000"/>
            </a:lnSpc>
            <a:spcBef>
              <a:spcPct val="0"/>
            </a:spcBef>
            <a:spcAft>
              <a:spcPts val="0"/>
            </a:spcAft>
            <a:buNone/>
          </a:pPr>
          <a:r>
            <a:rPr lang="zh-TW" altLang="en-US" sz="2000" b="1"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觀察事項</a:t>
          </a:r>
        </a:p>
      </dgm:t>
    </dgm:pt>
    <dgm:pt modelId="{2BFD2AD9-0389-4B91-BC11-95779AA93DEB}" type="parTrans" cxnId="{8CB47976-9168-49B0-8E56-71E617FC73CB}">
      <dgm:prSet/>
      <dgm:spPr/>
      <dgm:t>
        <a:bodyPr/>
        <a:lstStyle/>
        <a:p>
          <a:endParaRPr lang="zh-TW" altLang="en-US" sz="2400"/>
        </a:p>
      </dgm:t>
    </dgm:pt>
    <dgm:pt modelId="{00476144-310F-49A6-87C8-96F6B5FE8A3E}" type="sibTrans" cxnId="{8CB47976-9168-49B0-8E56-71E617FC73CB}">
      <dgm:prSet/>
      <dgm:spPr/>
      <dgm:t>
        <a:bodyPr/>
        <a:lstStyle/>
        <a:p>
          <a:endParaRPr lang="zh-TW" altLang="en-US" sz="2400"/>
        </a:p>
      </dgm:t>
    </dgm:pt>
    <dgm:pt modelId="{8C7B89A8-2806-4338-8511-9414C07922B1}">
      <dgm:prSet phldrT="[文字]" custT="1"/>
      <dgm:spPr>
        <a:solidFill>
          <a:schemeClr val="accent5">
            <a:lumMod val="60000"/>
            <a:lumOff val="40000"/>
          </a:schemeClr>
        </a:solidFill>
        <a:ln w="12700" cap="flat" cmpd="sng" algn="ctr">
          <a:solidFill>
            <a:prstClr val="white">
              <a:hueOff val="0"/>
              <a:satOff val="0"/>
              <a:lumOff val="0"/>
              <a:alphaOff val="0"/>
            </a:prstClr>
          </a:solidFill>
          <a:prstDash val="solid"/>
          <a:miter lim="800000"/>
        </a:ln>
        <a:effectLst>
          <a:outerShdw blurRad="63500" sx="102000" sy="102000" algn="ctr" rotWithShape="0">
            <a:prstClr val="black">
              <a:alpha val="40000"/>
            </a:prstClr>
          </a:outerShdw>
        </a:effectLst>
      </dgm:spPr>
      <dgm:t>
        <a:bodyPr spcFirstLastPara="0" vert="horz" wrap="square" lIns="648474" tIns="81280" rIns="81280" bIns="81280" numCol="1" spcCol="1270" anchor="ctr" anchorCtr="0"/>
        <a:lstStyle/>
        <a:p>
          <a:pPr marL="0" lvl="0" indent="0" algn="l" defTabSz="1422400">
            <a:lnSpc>
              <a:spcPct val="90000"/>
            </a:lnSpc>
            <a:spcBef>
              <a:spcPct val="0"/>
            </a:spcBef>
            <a:spcAft>
              <a:spcPts val="0"/>
            </a:spcAft>
            <a:buNone/>
          </a:pPr>
          <a:r>
            <a:rPr lang="en-US" altLang="zh-TW" sz="20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HẠNG MỤC KHÔNG PHÙ HỢP NHỎ</a:t>
          </a:r>
        </a:p>
        <a:p>
          <a:pPr marL="0" lvl="0" indent="0" algn="l" defTabSz="1422400">
            <a:lnSpc>
              <a:spcPct val="90000"/>
            </a:lnSpc>
            <a:spcBef>
              <a:spcPct val="0"/>
            </a:spcBef>
            <a:spcAft>
              <a:spcPts val="0"/>
            </a:spcAft>
            <a:buNone/>
          </a:pPr>
          <a:r>
            <a:rPr lang="zh-TW" altLang="en-US" sz="2000" b="1"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次要不符合事項</a:t>
          </a:r>
        </a:p>
      </dgm:t>
    </dgm:pt>
    <dgm:pt modelId="{5B50D4E4-6234-4768-9B54-FCCC37FC7530}" type="parTrans" cxnId="{987A59F4-E20A-4977-BADB-A2C17545142A}">
      <dgm:prSet/>
      <dgm:spPr/>
      <dgm:t>
        <a:bodyPr/>
        <a:lstStyle/>
        <a:p>
          <a:endParaRPr lang="zh-TW" altLang="en-US" sz="2400"/>
        </a:p>
      </dgm:t>
    </dgm:pt>
    <dgm:pt modelId="{18C1B433-127D-432E-944F-CA89548458FA}" type="sibTrans" cxnId="{987A59F4-E20A-4977-BADB-A2C17545142A}">
      <dgm:prSet/>
      <dgm:spPr/>
      <dgm:t>
        <a:bodyPr/>
        <a:lstStyle/>
        <a:p>
          <a:endParaRPr lang="zh-TW" altLang="en-US" sz="2400"/>
        </a:p>
      </dgm:t>
    </dgm:pt>
    <dgm:pt modelId="{6D01B55E-C695-4F74-863B-7FDF46EE0669}">
      <dgm:prSet phldrT="[文字]" custT="1"/>
      <dgm:spPr>
        <a:solidFill>
          <a:schemeClr val="accent5">
            <a:lumMod val="60000"/>
            <a:lumOff val="40000"/>
          </a:schemeClr>
        </a:solidFill>
        <a:ln w="12700" cap="flat" cmpd="sng" algn="ctr">
          <a:solidFill>
            <a:prstClr val="white">
              <a:hueOff val="0"/>
              <a:satOff val="0"/>
              <a:lumOff val="0"/>
              <a:alphaOff val="0"/>
            </a:prstClr>
          </a:solidFill>
          <a:prstDash val="solid"/>
          <a:miter lim="800000"/>
        </a:ln>
        <a:effectLst>
          <a:outerShdw blurRad="63500" sx="102000" sy="102000" algn="ctr" rotWithShape="0">
            <a:prstClr val="black">
              <a:alpha val="40000"/>
            </a:prstClr>
          </a:outerShdw>
        </a:effectLst>
      </dgm:spPr>
      <dgm:t>
        <a:bodyPr spcFirstLastPara="0" vert="horz" wrap="square" lIns="648474" tIns="81280" rIns="81280" bIns="81280" numCol="1" spcCol="1270" anchor="ctr" anchorCtr="0"/>
        <a:lstStyle/>
        <a:p>
          <a:pPr marL="0" lvl="0" indent="0" algn="l" defTabSz="1422400">
            <a:lnSpc>
              <a:spcPct val="100000"/>
            </a:lnSpc>
            <a:spcBef>
              <a:spcPct val="0"/>
            </a:spcBef>
            <a:spcAft>
              <a:spcPct val="35000"/>
            </a:spcAft>
            <a:buNone/>
          </a:pPr>
          <a:r>
            <a:rPr lang="en-US" altLang="zh-TW" sz="24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Q&amp;A</a:t>
          </a:r>
          <a:endParaRPr lang="zh-TW" altLang="en-US" sz="24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endParaRPr>
        </a:p>
      </dgm:t>
    </dgm:pt>
    <dgm:pt modelId="{92B84EF1-E299-4F7F-A9E7-0BA588277CF5}" type="sibTrans" cxnId="{02A67A67-BC90-449E-802E-1AB258B0FCF4}">
      <dgm:prSet/>
      <dgm:spPr/>
      <dgm:t>
        <a:bodyPr/>
        <a:lstStyle/>
        <a:p>
          <a:endParaRPr lang="zh-TW" altLang="en-US" sz="2400" b="1">
            <a:latin typeface="Microsoft JhengHei" panose="020B0604030504040204" pitchFamily="34" charset="-120"/>
            <a:ea typeface="Microsoft JhengHei" panose="020B0604030504040204" pitchFamily="34" charset="-120"/>
          </a:endParaRPr>
        </a:p>
      </dgm:t>
    </dgm:pt>
    <dgm:pt modelId="{4550CF6B-8C8B-440E-8B04-8A9EB77A2533}" type="parTrans" cxnId="{02A67A67-BC90-449E-802E-1AB258B0FCF4}">
      <dgm:prSet/>
      <dgm:spPr/>
      <dgm:t>
        <a:bodyPr/>
        <a:lstStyle/>
        <a:p>
          <a:endParaRPr lang="zh-TW" altLang="en-US" sz="2400" b="1">
            <a:latin typeface="Microsoft JhengHei" panose="020B0604030504040204" pitchFamily="34" charset="-120"/>
            <a:ea typeface="Microsoft JhengHei" panose="020B0604030504040204" pitchFamily="34" charset="-120"/>
          </a:endParaRPr>
        </a:p>
      </dgm:t>
    </dgm:pt>
    <dgm:pt modelId="{8EDD6877-FD9E-4673-A2A0-1C4446C8C227}" type="pres">
      <dgm:prSet presAssocID="{B10CE092-A2EC-42DA-97B4-8295D78E167F}" presName="Name0" presStyleCnt="0">
        <dgm:presLayoutVars>
          <dgm:chMax val="7"/>
          <dgm:chPref val="7"/>
          <dgm:dir/>
        </dgm:presLayoutVars>
      </dgm:prSet>
      <dgm:spPr/>
    </dgm:pt>
    <dgm:pt modelId="{41B7C58D-591F-4558-A2FD-5C8BE6C7A7A8}" type="pres">
      <dgm:prSet presAssocID="{B10CE092-A2EC-42DA-97B4-8295D78E167F}" presName="Name1" presStyleCnt="0"/>
      <dgm:spPr/>
    </dgm:pt>
    <dgm:pt modelId="{2A88B821-BF59-4FBF-95CE-6EEDBC62A2B2}" type="pres">
      <dgm:prSet presAssocID="{B10CE092-A2EC-42DA-97B4-8295D78E167F}" presName="cycle" presStyleCnt="0"/>
      <dgm:spPr/>
    </dgm:pt>
    <dgm:pt modelId="{7BDE4111-434F-4373-B8E7-3757EE343B0E}" type="pres">
      <dgm:prSet presAssocID="{B10CE092-A2EC-42DA-97B4-8295D78E167F}" presName="srcNode" presStyleLbl="node1" presStyleIdx="0" presStyleCnt="4"/>
      <dgm:spPr/>
    </dgm:pt>
    <dgm:pt modelId="{02F30E9B-A75E-4A74-B184-1C956E0B41D1}" type="pres">
      <dgm:prSet presAssocID="{B10CE092-A2EC-42DA-97B4-8295D78E167F}" presName="conn" presStyleLbl="parChTrans1D2" presStyleIdx="0" presStyleCnt="1"/>
      <dgm:spPr/>
    </dgm:pt>
    <dgm:pt modelId="{67345659-6E0C-44AB-A7C5-059CDC76B3AE}" type="pres">
      <dgm:prSet presAssocID="{B10CE092-A2EC-42DA-97B4-8295D78E167F}" presName="extraNode" presStyleLbl="node1" presStyleIdx="0" presStyleCnt="4"/>
      <dgm:spPr/>
    </dgm:pt>
    <dgm:pt modelId="{AD62D98F-B439-4237-A865-A146E417B443}" type="pres">
      <dgm:prSet presAssocID="{B10CE092-A2EC-42DA-97B4-8295D78E167F}" presName="dstNode" presStyleLbl="node1" presStyleIdx="0" presStyleCnt="4"/>
      <dgm:spPr/>
    </dgm:pt>
    <dgm:pt modelId="{C8A0EF70-50FD-4FDF-B143-4A61FCB657E6}" type="pres">
      <dgm:prSet presAssocID="{B0C5E107-8C01-4AC0-8707-A07EF86373E8}" presName="text_1" presStyleLbl="node1" presStyleIdx="0" presStyleCnt="4" custScaleY="106946" custLinFactNeighborY="2870">
        <dgm:presLayoutVars>
          <dgm:bulletEnabled val="1"/>
        </dgm:presLayoutVars>
      </dgm:prSet>
      <dgm:spPr/>
    </dgm:pt>
    <dgm:pt modelId="{A68B3350-B2C3-4833-AC2B-A9DFD097549F}" type="pres">
      <dgm:prSet presAssocID="{B0C5E107-8C01-4AC0-8707-A07EF86373E8}" presName="accent_1" presStyleCnt="0"/>
      <dgm:spPr/>
    </dgm:pt>
    <dgm:pt modelId="{94BAD3D0-4EEA-421B-9AB0-2E8382E8E07C}" type="pres">
      <dgm:prSet presAssocID="{B0C5E107-8C01-4AC0-8707-A07EF86373E8}" presName="accentRepeatNode" presStyleLbl="solidFgAcc1" presStyleIdx="0" presStyleCnt="4" custLinFactNeighborY="2984"/>
      <dgm:spPr>
        <a:xfrm>
          <a:off x="556284" y="2757505"/>
          <a:ext cx="1021219" cy="1021219"/>
        </a:xfrm>
        <a:prstGeom prst="ellipse">
          <a:avLst/>
        </a:prstGeom>
        <a:solidFill>
          <a:schemeClr val="accent5">
            <a:lumMod val="60000"/>
            <a:lumOff val="40000"/>
          </a:schemeClr>
        </a:solidFill>
        <a:ln w="12700" cap="flat" cmpd="sng" algn="ctr">
          <a:solidFill>
            <a:schemeClr val="accent1"/>
          </a:solidFill>
          <a:prstDash val="solid"/>
          <a:miter lim="800000"/>
        </a:ln>
        <a:effectLst>
          <a:outerShdw blurRad="50800" dist="38100" algn="l" rotWithShape="0">
            <a:prstClr val="black">
              <a:alpha val="40000"/>
            </a:prstClr>
          </a:outerShdw>
        </a:effectLst>
      </dgm:spPr>
    </dgm:pt>
    <dgm:pt modelId="{57F9FDDB-78C6-4B4B-ADA2-0F45B9BB5C83}" type="pres">
      <dgm:prSet presAssocID="{8C7B89A8-2806-4338-8511-9414C07922B1}" presName="text_2" presStyleLbl="node1" presStyleIdx="1" presStyleCnt="4">
        <dgm:presLayoutVars>
          <dgm:bulletEnabled val="1"/>
        </dgm:presLayoutVars>
      </dgm:prSet>
      <dgm:spPr/>
    </dgm:pt>
    <dgm:pt modelId="{917AEE3E-4E1C-4C09-9DF2-C214A07411D1}" type="pres">
      <dgm:prSet presAssocID="{8C7B89A8-2806-4338-8511-9414C07922B1}" presName="accent_2" presStyleCnt="0"/>
      <dgm:spPr/>
    </dgm:pt>
    <dgm:pt modelId="{8D71EEE1-BDA0-46AB-AF67-246B61690C19}" type="pres">
      <dgm:prSet presAssocID="{8C7B89A8-2806-4338-8511-9414C07922B1}" presName="accentRepeatNode" presStyleLbl="solidFgAcc1" presStyleIdx="1" presStyleCnt="4"/>
      <dgm:spPr>
        <a:xfrm>
          <a:off x="556284" y="1531829"/>
          <a:ext cx="1021219" cy="1021219"/>
        </a:xfrm>
        <a:prstGeom prst="ellipse">
          <a:avLst/>
        </a:prstGeom>
        <a:solidFill>
          <a:schemeClr val="accent5">
            <a:lumMod val="60000"/>
            <a:lumOff val="40000"/>
          </a:schemeClr>
        </a:solidFill>
        <a:ln w="12700" cap="flat" cmpd="sng" algn="ctr">
          <a:solidFill>
            <a:schemeClr val="accent1"/>
          </a:solidFill>
          <a:prstDash val="solid"/>
          <a:miter lim="800000"/>
        </a:ln>
        <a:effectLst>
          <a:outerShdw blurRad="50800" dist="38100" algn="l" rotWithShape="0">
            <a:prstClr val="black">
              <a:alpha val="40000"/>
            </a:prstClr>
          </a:outerShdw>
        </a:effectLst>
      </dgm:spPr>
    </dgm:pt>
    <dgm:pt modelId="{261A8F98-3C2F-434C-A0D2-AFADD49F2A05}" type="pres">
      <dgm:prSet presAssocID="{BC751A18-6937-423C-AB4A-B9FCA4354A68}" presName="text_3" presStyleLbl="node1" presStyleIdx="2" presStyleCnt="4">
        <dgm:presLayoutVars>
          <dgm:bulletEnabled val="1"/>
        </dgm:presLayoutVars>
      </dgm:prSet>
      <dgm:spPr/>
    </dgm:pt>
    <dgm:pt modelId="{FD224C4B-B139-4976-B064-CBEB848D8689}" type="pres">
      <dgm:prSet presAssocID="{BC751A18-6937-423C-AB4A-B9FCA4354A68}" presName="accent_3" presStyleCnt="0"/>
      <dgm:spPr/>
    </dgm:pt>
    <dgm:pt modelId="{9F77338F-13B8-445F-A24E-743447EDB03A}" type="pres">
      <dgm:prSet presAssocID="{BC751A18-6937-423C-AB4A-B9FCA4354A68}" presName="accentRepeatNode" presStyleLbl="solidFgAcc1" presStyleIdx="2" presStyleCnt="4"/>
      <dgm:spPr>
        <a:xfrm>
          <a:off x="556284" y="2757505"/>
          <a:ext cx="1021219" cy="1021219"/>
        </a:xfrm>
        <a:prstGeom prst="ellipse">
          <a:avLst/>
        </a:prstGeom>
        <a:solidFill>
          <a:schemeClr val="accent5">
            <a:lumMod val="60000"/>
            <a:lumOff val="40000"/>
          </a:schemeClr>
        </a:solidFill>
        <a:ln w="12700" cap="flat" cmpd="sng" algn="ctr">
          <a:solidFill>
            <a:schemeClr val="accent1"/>
          </a:solidFill>
          <a:prstDash val="solid"/>
          <a:miter lim="800000"/>
        </a:ln>
        <a:effectLst>
          <a:outerShdw blurRad="50800" dist="38100" algn="l" rotWithShape="0">
            <a:prstClr val="black">
              <a:alpha val="40000"/>
            </a:prstClr>
          </a:outerShdw>
        </a:effectLst>
      </dgm:spPr>
    </dgm:pt>
    <dgm:pt modelId="{215F79AE-18C1-4065-BE40-824148BB99FF}" type="pres">
      <dgm:prSet presAssocID="{6D01B55E-C695-4F74-863B-7FDF46EE0669}" presName="text_4" presStyleLbl="node1" presStyleIdx="3" presStyleCnt="4">
        <dgm:presLayoutVars>
          <dgm:bulletEnabled val="1"/>
        </dgm:presLayoutVars>
      </dgm:prSet>
      <dgm:spPr/>
    </dgm:pt>
    <dgm:pt modelId="{CD28B1E1-A835-4841-B8A6-9219D448E629}" type="pres">
      <dgm:prSet presAssocID="{6D01B55E-C695-4F74-863B-7FDF46EE0669}" presName="accent_4" presStyleCnt="0"/>
      <dgm:spPr/>
    </dgm:pt>
    <dgm:pt modelId="{4E2D6949-3475-41AD-9A7F-4CD910188240}" type="pres">
      <dgm:prSet presAssocID="{6D01B55E-C695-4F74-863B-7FDF46EE0669}" presName="accentRepeatNode" presStyleLbl="solidFgAcc1" presStyleIdx="3" presStyleCnt="4"/>
      <dgm:spPr>
        <a:xfrm>
          <a:off x="87893" y="3983181"/>
          <a:ext cx="1021219" cy="1021219"/>
        </a:xfrm>
        <a:prstGeom prst="ellipse">
          <a:avLst/>
        </a:prstGeom>
        <a:solidFill>
          <a:schemeClr val="accent5">
            <a:lumMod val="60000"/>
            <a:lumOff val="40000"/>
          </a:schemeClr>
        </a:solidFill>
        <a:ln w="12700" cap="flat" cmpd="sng" algn="ctr">
          <a:solidFill>
            <a:schemeClr val="accent1"/>
          </a:solidFill>
          <a:prstDash val="solid"/>
          <a:miter lim="800000"/>
        </a:ln>
        <a:effectLst>
          <a:outerShdw blurRad="50800" dist="38100" algn="l" rotWithShape="0">
            <a:prstClr val="black">
              <a:alpha val="40000"/>
            </a:prstClr>
          </a:outerShdw>
        </a:effectLst>
      </dgm:spPr>
    </dgm:pt>
  </dgm:ptLst>
  <dgm:cxnLst>
    <dgm:cxn modelId="{EF78EB0C-4542-481F-934C-29FA7D3497BC}" type="presOf" srcId="{B10CE092-A2EC-42DA-97B4-8295D78E167F}" destId="{8EDD6877-FD9E-4673-A2A0-1C4446C8C227}" srcOrd="0" destOrd="0" presId="urn:microsoft.com/office/officeart/2008/layout/VerticalCurvedList#1"/>
    <dgm:cxn modelId="{E32A473C-9336-4628-88B5-D735C2949A8B}" type="presOf" srcId="{2445CF4B-2470-4AC3-9166-99AAE8ECB761}" destId="{02F30E9B-A75E-4A74-B184-1C956E0B41D1}" srcOrd="0" destOrd="0" presId="urn:microsoft.com/office/officeart/2008/layout/VerticalCurvedList#1"/>
    <dgm:cxn modelId="{DA250047-5503-4EBF-A11D-C72CE492028C}" type="presOf" srcId="{6D01B55E-C695-4F74-863B-7FDF46EE0669}" destId="{215F79AE-18C1-4065-BE40-824148BB99FF}" srcOrd="0" destOrd="0" presId="urn:microsoft.com/office/officeart/2008/layout/VerticalCurvedList#1"/>
    <dgm:cxn modelId="{02A67A67-BC90-449E-802E-1AB258B0FCF4}" srcId="{B10CE092-A2EC-42DA-97B4-8295D78E167F}" destId="{6D01B55E-C695-4F74-863B-7FDF46EE0669}" srcOrd="3" destOrd="0" parTransId="{4550CF6B-8C8B-440E-8B04-8A9EB77A2533}" sibTransId="{92B84EF1-E299-4F7F-A9E7-0BA588277CF5}"/>
    <dgm:cxn modelId="{8CB47976-9168-49B0-8E56-71E617FC73CB}" srcId="{B10CE092-A2EC-42DA-97B4-8295D78E167F}" destId="{BC751A18-6937-423C-AB4A-B9FCA4354A68}" srcOrd="2" destOrd="0" parTransId="{2BFD2AD9-0389-4B91-BC11-95779AA93DEB}" sibTransId="{00476144-310F-49A6-87C8-96F6B5FE8A3E}"/>
    <dgm:cxn modelId="{9A833283-C60B-438A-AEA1-D1DCCA0F7471}" type="presOf" srcId="{B0C5E107-8C01-4AC0-8707-A07EF86373E8}" destId="{C8A0EF70-50FD-4FDF-B143-4A61FCB657E6}" srcOrd="0" destOrd="0" presId="urn:microsoft.com/office/officeart/2008/layout/VerticalCurvedList#1"/>
    <dgm:cxn modelId="{BE89238D-8E54-4636-8E22-EC662BBF8246}" type="presOf" srcId="{8C7B89A8-2806-4338-8511-9414C07922B1}" destId="{57F9FDDB-78C6-4B4B-ADA2-0F45B9BB5C83}" srcOrd="0" destOrd="0" presId="urn:microsoft.com/office/officeart/2008/layout/VerticalCurvedList#1"/>
    <dgm:cxn modelId="{03F220B5-43B8-44BE-8DA9-C5AD77D17F71}" srcId="{B10CE092-A2EC-42DA-97B4-8295D78E167F}" destId="{B0C5E107-8C01-4AC0-8707-A07EF86373E8}" srcOrd="0" destOrd="0" parTransId="{13A67AB7-D56A-4454-8852-2B8009BD25E9}" sibTransId="{2445CF4B-2470-4AC3-9166-99AAE8ECB761}"/>
    <dgm:cxn modelId="{C3ACADC7-09BF-4239-8B26-35ED4B3B043B}" type="presOf" srcId="{BC751A18-6937-423C-AB4A-B9FCA4354A68}" destId="{261A8F98-3C2F-434C-A0D2-AFADD49F2A05}" srcOrd="0" destOrd="0" presId="urn:microsoft.com/office/officeart/2008/layout/VerticalCurvedList#1"/>
    <dgm:cxn modelId="{987A59F4-E20A-4977-BADB-A2C17545142A}" srcId="{B10CE092-A2EC-42DA-97B4-8295D78E167F}" destId="{8C7B89A8-2806-4338-8511-9414C07922B1}" srcOrd="1" destOrd="0" parTransId="{5B50D4E4-6234-4768-9B54-FCCC37FC7530}" sibTransId="{18C1B433-127D-432E-944F-CA89548458FA}"/>
    <dgm:cxn modelId="{20356344-B114-46F8-A117-787107CE4B7F}" type="presParOf" srcId="{8EDD6877-FD9E-4673-A2A0-1C4446C8C227}" destId="{41B7C58D-591F-4558-A2FD-5C8BE6C7A7A8}" srcOrd="0" destOrd="0" presId="urn:microsoft.com/office/officeart/2008/layout/VerticalCurvedList#1"/>
    <dgm:cxn modelId="{CDBAA419-B807-4729-BA75-2C901446A125}" type="presParOf" srcId="{41B7C58D-591F-4558-A2FD-5C8BE6C7A7A8}" destId="{2A88B821-BF59-4FBF-95CE-6EEDBC62A2B2}" srcOrd="0" destOrd="0" presId="urn:microsoft.com/office/officeart/2008/layout/VerticalCurvedList#1"/>
    <dgm:cxn modelId="{FCD44429-081E-441A-BBFD-0F4FB32DF22A}" type="presParOf" srcId="{2A88B821-BF59-4FBF-95CE-6EEDBC62A2B2}" destId="{7BDE4111-434F-4373-B8E7-3757EE343B0E}" srcOrd="0" destOrd="0" presId="urn:microsoft.com/office/officeart/2008/layout/VerticalCurvedList#1"/>
    <dgm:cxn modelId="{EEABD312-AAE7-43C7-BA39-566FC1C90361}" type="presParOf" srcId="{2A88B821-BF59-4FBF-95CE-6EEDBC62A2B2}" destId="{02F30E9B-A75E-4A74-B184-1C956E0B41D1}" srcOrd="1" destOrd="0" presId="urn:microsoft.com/office/officeart/2008/layout/VerticalCurvedList#1"/>
    <dgm:cxn modelId="{D2D647BC-228E-4459-80AA-D18BE8251119}" type="presParOf" srcId="{2A88B821-BF59-4FBF-95CE-6EEDBC62A2B2}" destId="{67345659-6E0C-44AB-A7C5-059CDC76B3AE}" srcOrd="2" destOrd="0" presId="urn:microsoft.com/office/officeart/2008/layout/VerticalCurvedList#1"/>
    <dgm:cxn modelId="{A06841A5-15CA-4893-BDCE-6383586C0880}" type="presParOf" srcId="{2A88B821-BF59-4FBF-95CE-6EEDBC62A2B2}" destId="{AD62D98F-B439-4237-A865-A146E417B443}" srcOrd="3" destOrd="0" presId="urn:microsoft.com/office/officeart/2008/layout/VerticalCurvedList#1"/>
    <dgm:cxn modelId="{0C7F4C30-A1F8-4ABB-BC60-42FBDBFB10BB}" type="presParOf" srcId="{41B7C58D-591F-4558-A2FD-5C8BE6C7A7A8}" destId="{C8A0EF70-50FD-4FDF-B143-4A61FCB657E6}" srcOrd="1" destOrd="0" presId="urn:microsoft.com/office/officeart/2008/layout/VerticalCurvedList#1"/>
    <dgm:cxn modelId="{EFAAA3F3-28E0-4F2D-B7C5-7025AB91ABC9}" type="presParOf" srcId="{41B7C58D-591F-4558-A2FD-5C8BE6C7A7A8}" destId="{A68B3350-B2C3-4833-AC2B-A9DFD097549F}" srcOrd="2" destOrd="0" presId="urn:microsoft.com/office/officeart/2008/layout/VerticalCurvedList#1"/>
    <dgm:cxn modelId="{64D0FE5A-57EC-47C5-A02E-0048C9073534}" type="presParOf" srcId="{A68B3350-B2C3-4833-AC2B-A9DFD097549F}" destId="{94BAD3D0-4EEA-421B-9AB0-2E8382E8E07C}" srcOrd="0" destOrd="0" presId="urn:microsoft.com/office/officeart/2008/layout/VerticalCurvedList#1"/>
    <dgm:cxn modelId="{860F3989-127C-4E77-9D70-17EB62DB3781}" type="presParOf" srcId="{41B7C58D-591F-4558-A2FD-5C8BE6C7A7A8}" destId="{57F9FDDB-78C6-4B4B-ADA2-0F45B9BB5C83}" srcOrd="3" destOrd="0" presId="urn:microsoft.com/office/officeart/2008/layout/VerticalCurvedList#1"/>
    <dgm:cxn modelId="{C458B2B2-0DE6-4919-82B0-4F8259C9845F}" type="presParOf" srcId="{41B7C58D-591F-4558-A2FD-5C8BE6C7A7A8}" destId="{917AEE3E-4E1C-4C09-9DF2-C214A07411D1}" srcOrd="4" destOrd="0" presId="urn:microsoft.com/office/officeart/2008/layout/VerticalCurvedList#1"/>
    <dgm:cxn modelId="{D15C197C-FBF8-4DF8-90D8-D430D8AD4CC9}" type="presParOf" srcId="{917AEE3E-4E1C-4C09-9DF2-C214A07411D1}" destId="{8D71EEE1-BDA0-46AB-AF67-246B61690C19}" srcOrd="0" destOrd="0" presId="urn:microsoft.com/office/officeart/2008/layout/VerticalCurvedList#1"/>
    <dgm:cxn modelId="{05FACC3D-2E36-47DE-8861-866CA7B9C903}" type="presParOf" srcId="{41B7C58D-591F-4558-A2FD-5C8BE6C7A7A8}" destId="{261A8F98-3C2F-434C-A0D2-AFADD49F2A05}" srcOrd="5" destOrd="0" presId="urn:microsoft.com/office/officeart/2008/layout/VerticalCurvedList#1"/>
    <dgm:cxn modelId="{3055B788-4BDD-427C-B616-228357A7C20F}" type="presParOf" srcId="{41B7C58D-591F-4558-A2FD-5C8BE6C7A7A8}" destId="{FD224C4B-B139-4976-B064-CBEB848D8689}" srcOrd="6" destOrd="0" presId="urn:microsoft.com/office/officeart/2008/layout/VerticalCurvedList#1"/>
    <dgm:cxn modelId="{C746D232-0E95-4431-ACE8-6A6F185B870E}" type="presParOf" srcId="{FD224C4B-B139-4976-B064-CBEB848D8689}" destId="{9F77338F-13B8-445F-A24E-743447EDB03A}" srcOrd="0" destOrd="0" presId="urn:microsoft.com/office/officeart/2008/layout/VerticalCurvedList#1"/>
    <dgm:cxn modelId="{E2BAD29F-1CF0-4ED8-BFBF-E431EC9B0840}" type="presParOf" srcId="{41B7C58D-591F-4558-A2FD-5C8BE6C7A7A8}" destId="{215F79AE-18C1-4065-BE40-824148BB99FF}" srcOrd="7" destOrd="0" presId="urn:microsoft.com/office/officeart/2008/layout/VerticalCurvedList#1"/>
    <dgm:cxn modelId="{4C5AC906-486C-4A24-AFCC-B5CA00842D68}" type="presParOf" srcId="{41B7C58D-591F-4558-A2FD-5C8BE6C7A7A8}" destId="{CD28B1E1-A835-4841-B8A6-9219D448E629}" srcOrd="8" destOrd="0" presId="urn:microsoft.com/office/officeart/2008/layout/VerticalCurvedList#1"/>
    <dgm:cxn modelId="{C7EF1062-7787-49E8-B7F6-A3A514D048B3}" type="presParOf" srcId="{CD28B1E1-A835-4841-B8A6-9219D448E629}" destId="{4E2D6949-3475-41AD-9A7F-4CD910188240}" srcOrd="0" destOrd="0" presId="urn:microsoft.com/office/officeart/2008/layout/VerticalCurved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F30E9B-A75E-4A74-B184-1C956E0B41D1}">
      <dsp:nvSpPr>
        <dsp:cNvPr id="0" name=""/>
        <dsp:cNvSpPr/>
      </dsp:nvSpPr>
      <dsp:spPr>
        <a:xfrm>
          <a:off x="-6004664" y="-918815"/>
          <a:ext cx="7148184" cy="7148184"/>
        </a:xfrm>
        <a:prstGeom prst="blockArc">
          <a:avLst>
            <a:gd name="adj1" fmla="val 18900000"/>
            <a:gd name="adj2" fmla="val 2700000"/>
            <a:gd name="adj3" fmla="val 302"/>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A0EF70-50FD-4FDF-B143-4A61FCB657E6}">
      <dsp:nvSpPr>
        <dsp:cNvPr id="0" name=""/>
        <dsp:cNvSpPr/>
      </dsp:nvSpPr>
      <dsp:spPr>
        <a:xfrm>
          <a:off x="598503" y="403349"/>
          <a:ext cx="7454621" cy="873722"/>
        </a:xfrm>
        <a:prstGeom prst="rect">
          <a:avLst/>
        </a:prstGeom>
        <a:solidFill>
          <a:schemeClr val="accent5">
            <a:lumMod val="60000"/>
            <a:lumOff val="40000"/>
          </a:schemeClr>
        </a:solidFill>
        <a:ln w="12700" cap="flat" cmpd="sng" algn="ctr">
          <a:solidFill>
            <a:prstClr val="white">
              <a:hueOff val="0"/>
              <a:satOff val="0"/>
              <a:lumOff val="0"/>
              <a:alphaOff val="0"/>
            </a:prst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8474" tIns="81280" rIns="81280" bIns="81280" numCol="1" spcCol="1270" anchor="ctr" anchorCtr="0">
          <a:noAutofit/>
        </a:bodyPr>
        <a:lstStyle/>
        <a:p>
          <a:pPr marL="0" lvl="0" indent="0" algn="l" defTabSz="1422400">
            <a:lnSpc>
              <a:spcPct val="100000"/>
            </a:lnSpc>
            <a:spcBef>
              <a:spcPct val="0"/>
            </a:spcBef>
            <a:spcAft>
              <a:spcPts val="0"/>
            </a:spcAft>
            <a:buNone/>
          </a:pPr>
          <a:r>
            <a:rPr lang="en-US" altLang="zh-TW" sz="20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THỐNG KÊ KẾT QUẢ ĐÁNH GIÁ</a:t>
          </a:r>
        </a:p>
        <a:p>
          <a:pPr marL="0" lvl="0" indent="0" algn="l" defTabSz="1422400">
            <a:lnSpc>
              <a:spcPct val="100000"/>
            </a:lnSpc>
            <a:spcBef>
              <a:spcPct val="0"/>
            </a:spcBef>
            <a:spcAft>
              <a:spcPts val="0"/>
            </a:spcAft>
            <a:buNone/>
          </a:pPr>
          <a:r>
            <a:rPr lang="zh-TW" altLang="en-US" sz="2000" b="1"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稽核發現事項統計</a:t>
          </a:r>
          <a:endParaRPr lang="zh-TW" altLang="en-US" sz="2000" b="1" kern="1200" dirty="0">
            <a:solidFill>
              <a:srgbClr val="0000FF"/>
            </a:solidFill>
            <a:latin typeface="Microsoft JhengHei" panose="020B0604030504040204" pitchFamily="34" charset="-120"/>
            <a:ea typeface="Microsoft JhengHei" panose="020B0604030504040204" pitchFamily="34" charset="-120"/>
            <a:cs typeface="+mn-cs"/>
          </a:endParaRPr>
        </a:p>
      </dsp:txBody>
      <dsp:txXfrm>
        <a:off x="598503" y="403349"/>
        <a:ext cx="7454621" cy="873722"/>
      </dsp:txXfrm>
    </dsp:sp>
    <dsp:sp modelId="{94BAD3D0-4EEA-421B-9AB0-2E8382E8E07C}">
      <dsp:nvSpPr>
        <dsp:cNvPr id="0" name=""/>
        <dsp:cNvSpPr/>
      </dsp:nvSpPr>
      <dsp:spPr>
        <a:xfrm>
          <a:off x="87893" y="336626"/>
          <a:ext cx="1021219" cy="1021219"/>
        </a:xfrm>
        <a:prstGeom prst="ellipse">
          <a:avLst/>
        </a:prstGeom>
        <a:solidFill>
          <a:schemeClr val="accent5">
            <a:lumMod val="60000"/>
            <a:lumOff val="40000"/>
          </a:schemeClr>
        </a:solidFill>
        <a:ln w="12700" cap="flat" cmpd="sng" algn="ctr">
          <a:solidFill>
            <a:schemeClr val="accent1"/>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dsp:style>
    </dsp:sp>
    <dsp:sp modelId="{57F9FDDB-78C6-4B4B-ADA2-0F45B9BB5C83}">
      <dsp:nvSpPr>
        <dsp:cNvPr id="0" name=""/>
        <dsp:cNvSpPr/>
      </dsp:nvSpPr>
      <dsp:spPr>
        <a:xfrm>
          <a:off x="1066894" y="1633951"/>
          <a:ext cx="6986230" cy="816975"/>
        </a:xfrm>
        <a:prstGeom prst="rect">
          <a:avLst/>
        </a:prstGeom>
        <a:solidFill>
          <a:schemeClr val="accent5">
            <a:lumMod val="60000"/>
            <a:lumOff val="40000"/>
          </a:schemeClr>
        </a:solidFill>
        <a:ln w="12700" cap="flat" cmpd="sng" algn="ctr">
          <a:solidFill>
            <a:prstClr val="white">
              <a:hueOff val="0"/>
              <a:satOff val="0"/>
              <a:lumOff val="0"/>
              <a:alphaOff val="0"/>
            </a:prst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8474" tIns="81280" rIns="81280" bIns="81280" numCol="1" spcCol="1270" anchor="ctr" anchorCtr="0">
          <a:noAutofit/>
        </a:bodyPr>
        <a:lstStyle/>
        <a:p>
          <a:pPr marL="0" lvl="0" indent="0" algn="l" defTabSz="1422400">
            <a:lnSpc>
              <a:spcPct val="90000"/>
            </a:lnSpc>
            <a:spcBef>
              <a:spcPct val="0"/>
            </a:spcBef>
            <a:spcAft>
              <a:spcPts val="0"/>
            </a:spcAft>
            <a:buNone/>
          </a:pPr>
          <a:r>
            <a:rPr lang="en-US" altLang="zh-TW" sz="20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HẠNG MỤC KHÔNG PHÙ HỢP NHỎ</a:t>
          </a:r>
        </a:p>
        <a:p>
          <a:pPr marL="0" lvl="0" indent="0" algn="l" defTabSz="1422400">
            <a:lnSpc>
              <a:spcPct val="90000"/>
            </a:lnSpc>
            <a:spcBef>
              <a:spcPct val="0"/>
            </a:spcBef>
            <a:spcAft>
              <a:spcPts val="0"/>
            </a:spcAft>
            <a:buNone/>
          </a:pPr>
          <a:r>
            <a:rPr lang="zh-TW" altLang="en-US" sz="2000" b="1"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次要不符合事項</a:t>
          </a:r>
        </a:p>
      </dsp:txBody>
      <dsp:txXfrm>
        <a:off x="1066894" y="1633951"/>
        <a:ext cx="6986230" cy="816975"/>
      </dsp:txXfrm>
    </dsp:sp>
    <dsp:sp modelId="{8D71EEE1-BDA0-46AB-AF67-246B61690C19}">
      <dsp:nvSpPr>
        <dsp:cNvPr id="0" name=""/>
        <dsp:cNvSpPr/>
      </dsp:nvSpPr>
      <dsp:spPr>
        <a:xfrm>
          <a:off x="556284" y="1531829"/>
          <a:ext cx="1021219" cy="1021219"/>
        </a:xfrm>
        <a:prstGeom prst="ellipse">
          <a:avLst/>
        </a:prstGeom>
        <a:solidFill>
          <a:schemeClr val="accent5">
            <a:lumMod val="60000"/>
            <a:lumOff val="40000"/>
          </a:schemeClr>
        </a:solidFill>
        <a:ln w="12700" cap="flat" cmpd="sng" algn="ctr">
          <a:solidFill>
            <a:schemeClr val="accent1"/>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dsp:style>
    </dsp:sp>
    <dsp:sp modelId="{261A8F98-3C2F-434C-A0D2-AFADD49F2A05}">
      <dsp:nvSpPr>
        <dsp:cNvPr id="0" name=""/>
        <dsp:cNvSpPr/>
      </dsp:nvSpPr>
      <dsp:spPr>
        <a:xfrm>
          <a:off x="1066894" y="2859627"/>
          <a:ext cx="6986230" cy="816975"/>
        </a:xfrm>
        <a:prstGeom prst="rect">
          <a:avLst/>
        </a:prstGeom>
        <a:solidFill>
          <a:schemeClr val="accent5">
            <a:lumMod val="60000"/>
            <a:lumOff val="40000"/>
          </a:schemeClr>
        </a:solidFill>
        <a:ln w="12700" cap="flat" cmpd="sng" algn="ctr">
          <a:solidFill>
            <a:prstClr val="white">
              <a:hueOff val="0"/>
              <a:satOff val="0"/>
              <a:lumOff val="0"/>
              <a:alphaOff val="0"/>
            </a:prst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8474" tIns="81280" rIns="81280" bIns="81280" numCol="1" spcCol="1270" anchor="ctr" anchorCtr="0">
          <a:noAutofit/>
        </a:bodyPr>
        <a:lstStyle/>
        <a:p>
          <a:pPr marL="0" lvl="0" indent="0" algn="l" defTabSz="1422400">
            <a:lnSpc>
              <a:spcPct val="100000"/>
            </a:lnSpc>
            <a:spcBef>
              <a:spcPct val="0"/>
            </a:spcBef>
            <a:spcAft>
              <a:spcPts val="0"/>
            </a:spcAft>
            <a:buNone/>
          </a:pPr>
          <a:r>
            <a:rPr lang="en-US" altLang="zh-TW" sz="20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HẠNG MỤC QUAN SÁT</a:t>
          </a:r>
        </a:p>
        <a:p>
          <a:pPr marL="0" lvl="0" indent="0" algn="l" defTabSz="1422400">
            <a:lnSpc>
              <a:spcPct val="100000"/>
            </a:lnSpc>
            <a:spcBef>
              <a:spcPct val="0"/>
            </a:spcBef>
            <a:spcAft>
              <a:spcPts val="0"/>
            </a:spcAft>
            <a:buNone/>
          </a:pPr>
          <a:r>
            <a:rPr lang="zh-TW" altLang="en-US" sz="2000" b="1"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觀察事項</a:t>
          </a:r>
        </a:p>
      </dsp:txBody>
      <dsp:txXfrm>
        <a:off x="1066894" y="2859627"/>
        <a:ext cx="6986230" cy="816975"/>
      </dsp:txXfrm>
    </dsp:sp>
    <dsp:sp modelId="{9F77338F-13B8-445F-A24E-743447EDB03A}">
      <dsp:nvSpPr>
        <dsp:cNvPr id="0" name=""/>
        <dsp:cNvSpPr/>
      </dsp:nvSpPr>
      <dsp:spPr>
        <a:xfrm>
          <a:off x="556284" y="2757505"/>
          <a:ext cx="1021219" cy="1021219"/>
        </a:xfrm>
        <a:prstGeom prst="ellipse">
          <a:avLst/>
        </a:prstGeom>
        <a:solidFill>
          <a:schemeClr val="accent5">
            <a:lumMod val="60000"/>
            <a:lumOff val="40000"/>
          </a:schemeClr>
        </a:solidFill>
        <a:ln w="12700" cap="flat" cmpd="sng" algn="ctr">
          <a:solidFill>
            <a:schemeClr val="accent1"/>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dsp:style>
    </dsp:sp>
    <dsp:sp modelId="{215F79AE-18C1-4065-BE40-824148BB99FF}">
      <dsp:nvSpPr>
        <dsp:cNvPr id="0" name=""/>
        <dsp:cNvSpPr/>
      </dsp:nvSpPr>
      <dsp:spPr>
        <a:xfrm>
          <a:off x="598503" y="4085302"/>
          <a:ext cx="7454621" cy="816975"/>
        </a:xfrm>
        <a:prstGeom prst="rect">
          <a:avLst/>
        </a:prstGeom>
        <a:solidFill>
          <a:schemeClr val="accent5">
            <a:lumMod val="60000"/>
            <a:lumOff val="40000"/>
          </a:schemeClr>
        </a:solidFill>
        <a:ln w="12700" cap="flat" cmpd="sng" algn="ctr">
          <a:solidFill>
            <a:prstClr val="white">
              <a:hueOff val="0"/>
              <a:satOff val="0"/>
              <a:lumOff val="0"/>
              <a:alphaOff val="0"/>
            </a:prst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648474" tIns="81280" rIns="81280" bIns="81280" numCol="1" spcCol="1270" anchor="ctr" anchorCtr="0">
          <a:noAutofit/>
        </a:bodyPr>
        <a:lstStyle/>
        <a:p>
          <a:pPr marL="0" lvl="0" indent="0" algn="l" defTabSz="1422400">
            <a:lnSpc>
              <a:spcPct val="100000"/>
            </a:lnSpc>
            <a:spcBef>
              <a:spcPct val="0"/>
            </a:spcBef>
            <a:spcAft>
              <a:spcPct val="35000"/>
            </a:spcAft>
            <a:buNone/>
          </a:pPr>
          <a:r>
            <a:rPr lang="en-US" altLang="zh-TW" sz="24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Q&amp;A</a:t>
          </a:r>
          <a:endParaRPr lang="zh-TW" altLang="en-US" sz="2400" b="1" kern="1200" dirty="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endParaRPr>
        </a:p>
      </dsp:txBody>
      <dsp:txXfrm>
        <a:off x="598503" y="4085302"/>
        <a:ext cx="7454621" cy="816975"/>
      </dsp:txXfrm>
    </dsp:sp>
    <dsp:sp modelId="{4E2D6949-3475-41AD-9A7F-4CD910188240}">
      <dsp:nvSpPr>
        <dsp:cNvPr id="0" name=""/>
        <dsp:cNvSpPr/>
      </dsp:nvSpPr>
      <dsp:spPr>
        <a:xfrm>
          <a:off x="87893" y="3983181"/>
          <a:ext cx="1021219" cy="1021219"/>
        </a:xfrm>
        <a:prstGeom prst="ellipse">
          <a:avLst/>
        </a:prstGeom>
        <a:solidFill>
          <a:schemeClr val="accent5">
            <a:lumMod val="60000"/>
            <a:lumOff val="40000"/>
          </a:schemeClr>
        </a:solidFill>
        <a:ln w="12700" cap="flat" cmpd="sng" algn="ctr">
          <a:solidFill>
            <a:schemeClr val="accent1"/>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1">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6EB806-87BB-4417-B049-4C6A05A56ED9}" type="datetimeFigureOut">
              <a:rPr lang="zh-TW" altLang="en-US" smtClean="0"/>
              <a:t>2026/1/30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DCC1CF-91F9-4118-98B4-CDF532E876B6}"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3DCC1CF-91F9-4118-98B4-CDF532E876B6}" type="slidenum">
              <a:rPr lang="zh-TW" altLang="en-US" smtClean="0"/>
              <a:t>2</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DCC1CF-91F9-4118-98B4-CDF532E876B6}" type="slidenum">
              <a:rPr lang="zh-TW" altLang="en-US" smtClean="0"/>
              <a:t>4</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DCC1CF-91F9-4118-98B4-CDF532E876B6}" type="slidenum">
              <a:rPr lang="zh-TW" altLang="en-US" smtClean="0"/>
              <a:t>5</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DCC1CF-91F9-4118-98B4-CDF532E876B6}" type="slidenum">
              <a:rPr lang="zh-TW" altLang="en-US" smtClean="0"/>
              <a:t>6</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DCC1CF-91F9-4118-98B4-CDF532E876B6}" type="slidenum">
              <a:rPr lang="zh-TW" altLang="en-US" smtClean="0"/>
              <a:t>7</a:t>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DCC1CF-91F9-4118-98B4-CDF532E876B6}" type="slidenum">
              <a:rPr lang="zh-TW" altLang="en-US" smtClean="0"/>
              <a:t>8</a:t>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DCC1CF-91F9-4118-98B4-CDF532E876B6}" type="slidenum">
              <a:rPr lang="zh-TW" altLang="en-US" smtClean="0"/>
              <a:t>9</a:t>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DCC1CF-91F9-4118-98B4-CDF532E876B6}" type="slidenum">
              <a:rPr lang="zh-TW" altLang="en-US" smtClean="0"/>
              <a:t>10</a:t>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DCC1CF-91F9-4118-98B4-CDF532E876B6}" type="slidenum">
              <a:rPr lang="zh-TW" altLang="en-US" smtClean="0"/>
              <a:t>11</a:t>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DCC1CF-91F9-4118-98B4-CDF532E876B6}" type="slidenum">
              <a:rPr lang="zh-TW" altLang="en-US" smtClean="0"/>
              <a:t>12</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923A64B-0A1F-4A6D-8FC3-A6750A8341FD}" type="datetimeFigureOut">
              <a:rPr lang="zh-TW" altLang="en-US" smtClean="0"/>
              <a:t>2026/1/30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9375E8D-F02B-4665-B1D2-91D8BA32ADA4}"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23A64B-0A1F-4A6D-8FC3-A6750A8341FD}" type="datetimeFigureOut">
              <a:rPr lang="zh-TW" altLang="en-US" smtClean="0"/>
              <a:t>2026/1/30</a:t>
            </a:fld>
            <a:endParaRPr lang="zh-TW" altLang="en-US" dirty="0"/>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375E8D-F02B-4665-B1D2-91D8BA32ADA4}" type="slidenum">
              <a:rPr lang="zh-TW" altLang="en-US" smtClean="0"/>
              <a:t>‹#›</a:t>
            </a:fld>
            <a:endParaRPr lang="zh-TW" altLang="en-US"/>
          </a:p>
        </p:txBody>
      </p:sp>
      <p:sp>
        <p:nvSpPr>
          <p:cNvPr id="7" name="Rectangle 34"/>
          <p:cNvSpPr>
            <a:spLocks noChangeArrowheads="1"/>
          </p:cNvSpPr>
          <p:nvPr userDrawn="1"/>
        </p:nvSpPr>
        <p:spPr bwMode="auto">
          <a:xfrm>
            <a:off x="1769615" y="68501"/>
            <a:ext cx="81385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TW" altLang="en-US" sz="1600" b="1" dirty="0">
                <a:solidFill>
                  <a:srgbClr val="333399"/>
                </a:solidFill>
                <a:latin typeface="+mj-lt"/>
                <a:ea typeface="Microsoft JhengHei" panose="020B0604030504040204" pitchFamily="34" charset="-120"/>
                <a:cs typeface="Times New Roman" panose="02020603050405020304" pitchFamily="18" charset="0"/>
              </a:rPr>
              <a:t> </a:t>
            </a:r>
            <a:r>
              <a:rPr lang="zh-TW" altLang="en-US" sz="1600" b="1" dirty="0">
                <a:latin typeface="Microsoft JhengHei" panose="020B0604030504040204" pitchFamily="34" charset="-120"/>
                <a:ea typeface="Microsoft JhengHei" panose="020B0604030504040204" pitchFamily="34" charset="-120"/>
                <a:cs typeface="Times New Roman" panose="02020603050405020304" pitchFamily="18" charset="0"/>
              </a:rPr>
              <a:t>越   南   第   一   精   密   工   業   有   限   公  司</a:t>
            </a:r>
            <a:endParaRPr lang="en-US" altLang="zh-TW" sz="1600" b="1" dirty="0">
              <a:latin typeface="Microsoft JhengHei" panose="020B0604030504040204" pitchFamily="34" charset="-120"/>
              <a:ea typeface="Microsoft JhengHei" panose="020B0604030504040204" pitchFamily="34" charset="-120"/>
              <a:cs typeface="Times New Roman" panose="02020603050405020304" pitchFamily="18" charset="0"/>
            </a:endParaRPr>
          </a:p>
          <a:p>
            <a:pPr algn="ctr"/>
            <a:r>
              <a:rPr lang="en-US" altLang="zh-TW" sz="1600" b="1" dirty="0">
                <a:latin typeface="Times New Roman" panose="02020603050405020304" pitchFamily="18" charset="0"/>
                <a:cs typeface="Times New Roman" panose="02020603050405020304" pitchFamily="18" charset="0"/>
              </a:rPr>
              <a:t>VIETNAM PRECISION INDUSTRIAL  No.1 CO., LTD.</a:t>
            </a:r>
          </a:p>
        </p:txBody>
      </p:sp>
      <p:pic>
        <p:nvPicPr>
          <p:cNvPr id="8" name="圖片 13"/>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9753600" y="109615"/>
            <a:ext cx="2269069" cy="488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線接點 20"/>
          <p:cNvCxnSpPr/>
          <p:nvPr userDrawn="1"/>
        </p:nvCxnSpPr>
        <p:spPr>
          <a:xfrm>
            <a:off x="0" y="708102"/>
            <a:ext cx="1219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10" name="Picture 2" descr="Vector Logo] VPIC1 - Công Ty Cổ Phần Công Nghiệp Chính Xác Việt Nam Số 1 -  Download Định Dạng EPS, SVG Cho AI, Corel » Hải Triều"/>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03032" y="101886"/>
            <a:ext cx="1218082" cy="488248"/>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380211" y="4398519"/>
            <a:ext cx="1699847" cy="509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i="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IS, Jan 2026</a:t>
            </a:r>
          </a:p>
        </p:txBody>
      </p:sp>
      <p:pic>
        <p:nvPicPr>
          <p:cNvPr id="6" name="Picture 5"/>
          <p:cNvPicPr>
            <a:picLocks noChangeAspect="1"/>
          </p:cNvPicPr>
          <p:nvPr/>
        </p:nvPicPr>
        <p:blipFill>
          <a:blip r:embed="rId2"/>
          <a:stretch>
            <a:fillRect/>
          </a:stretch>
        </p:blipFill>
        <p:spPr>
          <a:xfrm>
            <a:off x="10229898" y="972543"/>
            <a:ext cx="1907560" cy="17102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6" name="文字方塊 15"/>
          <p:cNvSpPr txBox="1"/>
          <p:nvPr/>
        </p:nvSpPr>
        <p:spPr>
          <a:xfrm>
            <a:off x="1424353" y="2459527"/>
            <a:ext cx="9343294" cy="1938992"/>
          </a:xfrm>
          <a:prstGeom prst="rect">
            <a:avLst/>
          </a:prstGeom>
          <a:noFill/>
        </p:spPr>
        <p:txBody>
          <a:bodyPr wrap="square" rtlCol="0">
            <a:spAutoFit/>
          </a:bodyPr>
          <a:lstStyle/>
          <a:p>
            <a:pPr algn="ctr"/>
            <a:r>
              <a:rPr lang="en-US" altLang="zh-TW" sz="4000"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HỌP BẾ MẠC ĐÁNH GIÁ NỘI BỘ</a:t>
            </a:r>
          </a:p>
          <a:p>
            <a:pPr algn="ctr"/>
            <a:r>
              <a:rPr lang="en-US" altLang="zh-TW" sz="4000"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ISO/IEC 27001:2022</a:t>
            </a:r>
          </a:p>
          <a:p>
            <a:pPr algn="ctr"/>
            <a:r>
              <a:rPr lang="en-US" altLang="zh-TW" sz="40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ISO/IEC 27001:2022 </a:t>
            </a:r>
            <a:r>
              <a:rPr lang="zh-CN" altLang="en-US" sz="40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內部稽核結束</a:t>
            </a:r>
            <a:endParaRPr lang="en-US" altLang="zh-TW" sz="40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圖片 29"/>
          <p:cNvPicPr>
            <a:picLocks noChangeAspect="1"/>
          </p:cNvPicPr>
          <p:nvPr/>
        </p:nvPicPr>
        <p:blipFill>
          <a:blip r:embed="rId3">
            <a:extLst>
              <a:ext uri="{28A0092B-C50C-407E-A947-70E740481C1C}">
                <a14:useLocalDpi xmlns:a14="http://schemas.microsoft.com/office/drawing/2010/main" val="0"/>
              </a:ext>
            </a:extLst>
          </a:blip>
          <a:srcRect l="11772" r="29824"/>
          <a:stretch>
            <a:fillRect/>
          </a:stretch>
        </p:blipFill>
        <p:spPr>
          <a:xfrm>
            <a:off x="0" y="1659988"/>
            <a:ext cx="4628272" cy="5250199"/>
          </a:xfrm>
          <a:custGeom>
            <a:avLst/>
            <a:gdLst>
              <a:gd name="connsiteX0" fmla="*/ 0 w 4628272"/>
              <a:gd name="connsiteY0" fmla="*/ 0 h 5250199"/>
              <a:gd name="connsiteX1" fmla="*/ 3573703 w 4628272"/>
              <a:gd name="connsiteY1" fmla="*/ 0 h 5250199"/>
              <a:gd name="connsiteX2" fmla="*/ 3757280 w 4628272"/>
              <a:gd name="connsiteY2" fmla="*/ 186667 h 5250199"/>
              <a:gd name="connsiteX3" fmla="*/ 4628272 w 4628272"/>
              <a:gd name="connsiteY3" fmla="*/ 2539217 h 5250199"/>
              <a:gd name="connsiteX4" fmla="*/ 3546102 w 4628272"/>
              <a:gd name="connsiteY4" fmla="*/ 5106499 h 5250199"/>
              <a:gd name="connsiteX5" fmla="*/ 3374338 w 4628272"/>
              <a:gd name="connsiteY5" fmla="*/ 5250199 h 5250199"/>
              <a:gd name="connsiteX6" fmla="*/ 0 w 4628272"/>
              <a:gd name="connsiteY6" fmla="*/ 5250199 h 52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8272" h="5250199">
                <a:moveTo>
                  <a:pt x="0" y="0"/>
                </a:moveTo>
                <a:lnTo>
                  <a:pt x="3573703" y="0"/>
                </a:lnTo>
                <a:lnTo>
                  <a:pt x="3757280" y="186667"/>
                </a:lnTo>
                <a:cubicBezTo>
                  <a:pt x="4295423" y="788737"/>
                  <a:pt x="4628272" y="1620489"/>
                  <a:pt x="4628272" y="2539217"/>
                </a:cubicBezTo>
                <a:cubicBezTo>
                  <a:pt x="4628272" y="3572786"/>
                  <a:pt x="4207011" y="4496276"/>
                  <a:pt x="3546102" y="5106499"/>
                </a:cubicBezTo>
                <a:lnTo>
                  <a:pt x="3374338" y="5250199"/>
                </a:lnTo>
                <a:lnTo>
                  <a:pt x="0" y="5250199"/>
                </a:lnTo>
                <a:close/>
              </a:path>
            </a:pathLst>
          </a:custGeom>
        </p:spPr>
      </p:pic>
      <p:sp>
        <p:nvSpPr>
          <p:cNvPr id="38" name="手繪多邊形: 圖案 37"/>
          <p:cNvSpPr/>
          <p:nvPr/>
        </p:nvSpPr>
        <p:spPr>
          <a:xfrm>
            <a:off x="14067" y="1668043"/>
            <a:ext cx="4628272" cy="5250199"/>
          </a:xfrm>
          <a:custGeom>
            <a:avLst/>
            <a:gdLst>
              <a:gd name="connsiteX0" fmla="*/ 0 w 4628272"/>
              <a:gd name="connsiteY0" fmla="*/ 0 h 5250199"/>
              <a:gd name="connsiteX1" fmla="*/ 3573703 w 4628272"/>
              <a:gd name="connsiteY1" fmla="*/ 0 h 5250199"/>
              <a:gd name="connsiteX2" fmla="*/ 3757280 w 4628272"/>
              <a:gd name="connsiteY2" fmla="*/ 186667 h 5250199"/>
              <a:gd name="connsiteX3" fmla="*/ 4628272 w 4628272"/>
              <a:gd name="connsiteY3" fmla="*/ 2539217 h 5250199"/>
              <a:gd name="connsiteX4" fmla="*/ 3546102 w 4628272"/>
              <a:gd name="connsiteY4" fmla="*/ 5106499 h 5250199"/>
              <a:gd name="connsiteX5" fmla="*/ 3374338 w 4628272"/>
              <a:gd name="connsiteY5" fmla="*/ 5250199 h 5250199"/>
              <a:gd name="connsiteX6" fmla="*/ 0 w 4628272"/>
              <a:gd name="connsiteY6" fmla="*/ 5250199 h 52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8272" h="5250199">
                <a:moveTo>
                  <a:pt x="0" y="0"/>
                </a:moveTo>
                <a:lnTo>
                  <a:pt x="3573703" y="0"/>
                </a:lnTo>
                <a:lnTo>
                  <a:pt x="3757280" y="186667"/>
                </a:lnTo>
                <a:cubicBezTo>
                  <a:pt x="4295423" y="788737"/>
                  <a:pt x="4628272" y="1620489"/>
                  <a:pt x="4628272" y="2539217"/>
                </a:cubicBezTo>
                <a:cubicBezTo>
                  <a:pt x="4628272" y="3572786"/>
                  <a:pt x="4207011" y="4496276"/>
                  <a:pt x="3546102" y="5106499"/>
                </a:cubicBezTo>
                <a:lnTo>
                  <a:pt x="3374338" y="5250199"/>
                </a:lnTo>
                <a:lnTo>
                  <a:pt x="0" y="5250199"/>
                </a:lnTo>
                <a:close/>
              </a:path>
            </a:pathLst>
          </a:cu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latin typeface="Times New Roman" panose="02020603050405020304" pitchFamily="18" charset="0"/>
              <a:ea typeface="Microsoft JhengHei" panose="020B0604030504040204" pitchFamily="34" charset="-120"/>
              <a:cs typeface="Times New Roman" panose="02020603050405020304" pitchFamily="18" charset="0"/>
            </a:endParaRPr>
          </a:p>
        </p:txBody>
      </p:sp>
      <p:graphicFrame>
        <p:nvGraphicFramePr>
          <p:cNvPr id="7" name="資料庫圖表 6"/>
          <p:cNvGraphicFramePr/>
          <p:nvPr/>
        </p:nvGraphicFramePr>
        <p:xfrm>
          <a:off x="3509108" y="1547446"/>
          <a:ext cx="8128000" cy="531055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矩形 5"/>
          <p:cNvSpPr/>
          <p:nvPr/>
        </p:nvSpPr>
        <p:spPr>
          <a:xfrm>
            <a:off x="0" y="850520"/>
            <a:ext cx="3742006" cy="809468"/>
          </a:xfrm>
          <a:prstGeom prst="rect">
            <a:avLst/>
          </a:prstGeom>
          <a:solidFill>
            <a:srgbClr val="0100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b="1" dirty="0">
                <a:latin typeface="Times New Roman" panose="02020603050405020304" pitchFamily="18" charset="0"/>
                <a:ea typeface="Microsoft JhengHei" panose="020B0604030504040204" pitchFamily="34" charset="-120"/>
                <a:cs typeface="Times New Roman" panose="02020603050405020304" pitchFamily="18" charset="0"/>
              </a:rPr>
              <a:t>NỘI DUNG</a:t>
            </a:r>
          </a:p>
          <a:p>
            <a:pPr algn="ctr"/>
            <a:r>
              <a:rPr lang="zh-CN" altLang="en-US" sz="2000" b="1" dirty="0">
                <a:latin typeface="Times New Roman" panose="02020603050405020304" pitchFamily="18" charset="0"/>
                <a:ea typeface="Microsoft JhengHei" panose="020B0604030504040204" pitchFamily="34" charset="-120"/>
                <a:cs typeface="Times New Roman" panose="02020603050405020304" pitchFamily="18" charset="0"/>
              </a:rPr>
              <a:t>內容</a:t>
            </a:r>
            <a:endParaRPr lang="en-US" altLang="zh-TW" sz="2000" b="1"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31" name="文字方塊 30"/>
          <p:cNvSpPr txBox="1"/>
          <p:nvPr/>
        </p:nvSpPr>
        <p:spPr>
          <a:xfrm>
            <a:off x="3946672" y="2050008"/>
            <a:ext cx="698695" cy="646331"/>
          </a:xfrm>
          <a:prstGeom prst="rect">
            <a:avLst/>
          </a:prstGeom>
          <a:noFill/>
          <a:effectLst>
            <a:outerShdw blurRad="50800" dist="38100" dir="18900000" algn="bl" rotWithShape="0">
              <a:prstClr val="black">
                <a:alpha val="40000"/>
              </a:prstClr>
            </a:outerShdw>
          </a:effectLst>
        </p:spPr>
        <p:txBody>
          <a:bodyPr wrap="square" rtlCol="0">
            <a:spAutoFit/>
          </a:bodyPr>
          <a:lstStyle/>
          <a:p>
            <a:r>
              <a:rPr lang="en-US" altLang="zh-TW" sz="3600" b="1" dirty="0">
                <a:latin typeface="Times New Roman" panose="02020603050405020304" pitchFamily="18" charset="0"/>
                <a:ea typeface="Microsoft JhengHei" panose="020B0604030504040204" pitchFamily="34" charset="-120"/>
                <a:cs typeface="Times New Roman" panose="02020603050405020304" pitchFamily="18" charset="0"/>
              </a:rPr>
              <a:t>1</a:t>
            </a:r>
          </a:p>
        </p:txBody>
      </p:sp>
      <p:sp>
        <p:nvSpPr>
          <p:cNvPr id="32" name="文字方塊 31"/>
          <p:cNvSpPr txBox="1"/>
          <p:nvPr/>
        </p:nvSpPr>
        <p:spPr>
          <a:xfrm>
            <a:off x="4380426" y="3274974"/>
            <a:ext cx="698695" cy="646331"/>
          </a:xfrm>
          <a:prstGeom prst="rect">
            <a:avLst/>
          </a:prstGeom>
          <a:noFill/>
          <a:ln w="12700" cap="flat" cmpd="sng" algn="ctr">
            <a:noFill/>
            <a:prstDash val="solid"/>
            <a:miter lim="800000"/>
          </a:ln>
          <a:effectLst>
            <a:outerShdw blurRad="50800" dist="38100" dir="18900000" algn="bl" rotWithShape="0">
              <a:prstClr val="black">
                <a:alpha val="40000"/>
              </a:prstClr>
            </a:outerShdw>
          </a:effectLst>
        </p:spPr>
        <p:txBody>
          <a:bodyPr wrap="square" rtlCol="0">
            <a:spAutoFit/>
          </a:bodyPr>
          <a:lstStyle/>
          <a:p>
            <a:r>
              <a:rPr lang="en-US" altLang="zh-TW" sz="3600" b="1" dirty="0">
                <a:latin typeface="Times New Roman" panose="02020603050405020304" pitchFamily="18" charset="0"/>
                <a:ea typeface="Microsoft JhengHei" panose="020B0604030504040204" pitchFamily="34" charset="-120"/>
                <a:cs typeface="Times New Roman" panose="02020603050405020304" pitchFamily="18" charset="0"/>
              </a:rPr>
              <a:t>2</a:t>
            </a:r>
          </a:p>
        </p:txBody>
      </p:sp>
      <p:sp>
        <p:nvSpPr>
          <p:cNvPr id="33" name="文字方塊 32"/>
          <p:cNvSpPr txBox="1"/>
          <p:nvPr/>
        </p:nvSpPr>
        <p:spPr>
          <a:xfrm>
            <a:off x="4371049" y="4494747"/>
            <a:ext cx="698695" cy="646331"/>
          </a:xfrm>
          <a:prstGeom prst="rect">
            <a:avLst/>
          </a:prstGeom>
          <a:noFill/>
          <a:ln w="12700" cap="flat" cmpd="sng" algn="ctr">
            <a:noFill/>
            <a:prstDash val="solid"/>
            <a:miter lim="800000"/>
          </a:ln>
          <a:effectLst>
            <a:outerShdw blurRad="50800" dist="38100" dir="18900000" algn="bl" rotWithShape="0">
              <a:prstClr val="black">
                <a:alpha val="40000"/>
              </a:prstClr>
            </a:outerShdw>
          </a:effectLst>
        </p:spPr>
        <p:txBody>
          <a:bodyPr wrap="square" rtlCol="0">
            <a:spAutoFit/>
          </a:bodyPr>
          <a:lstStyle/>
          <a:p>
            <a:r>
              <a:rPr lang="en-US" altLang="zh-TW" sz="3600" b="1" dirty="0">
                <a:latin typeface="Times New Roman" panose="02020603050405020304" pitchFamily="18" charset="0"/>
                <a:ea typeface="Microsoft JhengHei" panose="020B0604030504040204" pitchFamily="34" charset="-120"/>
                <a:cs typeface="Times New Roman" panose="02020603050405020304" pitchFamily="18" charset="0"/>
              </a:rPr>
              <a:t>3</a:t>
            </a:r>
          </a:p>
        </p:txBody>
      </p:sp>
      <p:sp>
        <p:nvSpPr>
          <p:cNvPr id="34" name="文字方塊 33"/>
          <p:cNvSpPr txBox="1"/>
          <p:nvPr/>
        </p:nvSpPr>
        <p:spPr>
          <a:xfrm>
            <a:off x="3890916" y="5749108"/>
            <a:ext cx="698695" cy="646331"/>
          </a:xfrm>
          <a:prstGeom prst="rect">
            <a:avLst/>
          </a:prstGeom>
          <a:noFill/>
          <a:effectLst>
            <a:outerShdw blurRad="50800" dist="38100" dir="18900000" algn="bl" rotWithShape="0">
              <a:prstClr val="black">
                <a:alpha val="40000"/>
              </a:prstClr>
            </a:outerShdw>
          </a:effectLst>
        </p:spPr>
        <p:txBody>
          <a:bodyPr wrap="square" rtlCol="0">
            <a:spAutoFit/>
          </a:bodyPr>
          <a:lstStyle/>
          <a:p>
            <a:r>
              <a:rPr lang="en-US" altLang="zh-TW" sz="3600" b="1" dirty="0">
                <a:latin typeface="Times New Roman" panose="02020603050405020304" pitchFamily="18" charset="0"/>
                <a:ea typeface="Microsoft JhengHei" panose="020B0604030504040204" pitchFamily="34" charset="-120"/>
                <a:cs typeface="Times New Roman" panose="02020603050405020304" pitchFamily="18" charset="0"/>
              </a:rPr>
              <a:t>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17227" y="677033"/>
            <a:ext cx="10011510" cy="6228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000" b="1" kern="1200"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1. THỐNG KÊ KẾT QUẢ ĐÁNH GIÁ </a:t>
            </a:r>
            <a:r>
              <a:rPr lang="zh-TW" altLang="en-US" sz="20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稽核發現事項統計</a:t>
            </a:r>
          </a:p>
        </p:txBody>
      </p:sp>
      <p:sp>
        <p:nvSpPr>
          <p:cNvPr id="6" name="內容版面配置區 8"/>
          <p:cNvSpPr>
            <a:spLocks noGrp="1"/>
          </p:cNvSpPr>
          <p:nvPr>
            <p:ph idx="1"/>
          </p:nvPr>
        </p:nvSpPr>
        <p:spPr>
          <a:xfrm>
            <a:off x="414211" y="1138932"/>
            <a:ext cx="11537744" cy="1298012"/>
          </a:xfrm>
        </p:spPr>
        <p:txBody>
          <a:bodyPr vert="horz" lIns="91440" tIns="45720" rIns="91440" bIns="45720" rtlCol="0">
            <a:noAutofit/>
          </a:bodyPr>
          <a:lstStyle/>
          <a:p>
            <a:pPr marL="0" indent="0">
              <a:lnSpc>
                <a:spcPct val="120000"/>
              </a:lnSpc>
              <a:buNone/>
            </a:pP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Kế</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hoạch</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đánh</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giá</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nội</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bộ</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ISO/IEC 27001:2022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năm</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2026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được</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thực</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hiện</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trong</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2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ngày</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từ</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28/01/2026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đến</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29/01/2026</a:t>
            </a:r>
          </a:p>
          <a:p>
            <a:pPr marL="0" indent="0">
              <a:lnSpc>
                <a:spcPct val="120000"/>
              </a:lnSpc>
              <a:spcBef>
                <a:spcPts val="0"/>
              </a:spcBef>
              <a:buNone/>
            </a:pP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Bên đánh giá đã phát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hiện</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những điểm không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phù</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hợp như </a:t>
            </a:r>
            <a:r>
              <a:rPr lang="en-US" altLang="zh-TW" sz="1700" dirty="0" err="1">
                <a:latin typeface="Times New Roman" panose="02020603050405020304" pitchFamily="18" charset="0"/>
                <a:ea typeface="Microsoft JhengHei" panose="020B0604030504040204" pitchFamily="34" charset="-120"/>
                <a:cs typeface="Times New Roman" panose="02020603050405020304" pitchFamily="18" charset="0"/>
              </a:rPr>
              <a:t>sau</a:t>
            </a:r>
            <a:r>
              <a:rPr lang="en-US" altLang="zh-TW" sz="1700" dirty="0">
                <a:latin typeface="Times New Roman" panose="02020603050405020304" pitchFamily="18" charset="0"/>
                <a:ea typeface="Microsoft JhengHei" panose="020B0604030504040204" pitchFamily="34" charset="-120"/>
                <a:cs typeface="Times New Roman" panose="02020603050405020304" pitchFamily="18" charset="0"/>
              </a:rPr>
              <a:t>: </a:t>
            </a:r>
          </a:p>
          <a:p>
            <a:pPr marL="0" indent="0">
              <a:lnSpc>
                <a:spcPct val="120000"/>
              </a:lnSpc>
              <a:spcBef>
                <a:spcPts val="0"/>
              </a:spcBef>
              <a:buNone/>
            </a:pPr>
            <a:r>
              <a:rPr lang="en-US" altLang="zh-TW"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ISO/IEC 27001:2022 </a:t>
            </a:r>
            <a:r>
              <a:rPr lang="zh-TW"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內部</a:t>
            </a:r>
            <a:r>
              <a:rPr lang="zh-CN"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稽核</a:t>
            </a:r>
            <a:r>
              <a:rPr lang="zh-TW"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計畫於 </a:t>
            </a:r>
            <a:r>
              <a:rPr lang="en-US" altLang="zh-TW"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2026 </a:t>
            </a:r>
            <a:r>
              <a:rPr lang="zh-TW"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年 </a:t>
            </a:r>
            <a:r>
              <a:rPr lang="en-US" altLang="zh-TW"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1 </a:t>
            </a:r>
            <a:r>
              <a:rPr lang="zh-TW"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月 </a:t>
            </a:r>
            <a:r>
              <a:rPr lang="en-US" altLang="zh-TW"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28 </a:t>
            </a:r>
            <a:r>
              <a:rPr lang="zh-TW"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日至 </a:t>
            </a:r>
            <a:r>
              <a:rPr lang="en-US" altLang="zh-TW"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2026 </a:t>
            </a:r>
            <a:r>
              <a:rPr lang="zh-TW"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年 </a:t>
            </a:r>
            <a:r>
              <a:rPr lang="en-US" altLang="zh-TW"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1 </a:t>
            </a:r>
            <a:r>
              <a:rPr lang="zh-TW"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月 </a:t>
            </a:r>
            <a:r>
              <a:rPr lang="en-US" altLang="zh-TW"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29 </a:t>
            </a:r>
            <a:r>
              <a:rPr lang="zh-TW"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日，為兩天執行。</a:t>
            </a:r>
            <a:r>
              <a:rPr lang="zh-CN"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稽核</a:t>
            </a:r>
            <a:r>
              <a:rPr lang="zh-TW" altLang="en-US"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單位發現以下不符合事項：</a:t>
            </a:r>
            <a:endParaRPr lang="en-US" altLang="zh-TW" sz="17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aphicFrame>
        <p:nvGraphicFramePr>
          <p:cNvPr id="3" name="Table 2"/>
          <p:cNvGraphicFramePr>
            <a:graphicFrameLocks noGrp="1"/>
          </p:cNvGraphicFramePr>
          <p:nvPr/>
        </p:nvGraphicFramePr>
        <p:xfrm>
          <a:off x="508001" y="2168272"/>
          <a:ext cx="11400412" cy="4534597"/>
        </p:xfrm>
        <a:graphic>
          <a:graphicData uri="http://schemas.openxmlformats.org/drawingml/2006/table">
            <a:tbl>
              <a:tblPr firstRow="1" bandRow="1">
                <a:tableStyleId>{5C22544A-7EE6-4342-B048-85BDC9FD1C3A}</a:tableStyleId>
              </a:tblPr>
              <a:tblGrid>
                <a:gridCol w="3800137">
                  <a:extLst>
                    <a:ext uri="{9D8B030D-6E8A-4147-A177-3AD203B41FA5}">
                      <a16:colId xmlns:a16="http://schemas.microsoft.com/office/drawing/2014/main" val="20000"/>
                    </a:ext>
                  </a:extLst>
                </a:gridCol>
                <a:gridCol w="4130161">
                  <a:extLst>
                    <a:ext uri="{9D8B030D-6E8A-4147-A177-3AD203B41FA5}">
                      <a16:colId xmlns:a16="http://schemas.microsoft.com/office/drawing/2014/main" val="20001"/>
                    </a:ext>
                  </a:extLst>
                </a:gridCol>
                <a:gridCol w="3470114">
                  <a:extLst>
                    <a:ext uri="{9D8B030D-6E8A-4147-A177-3AD203B41FA5}">
                      <a16:colId xmlns:a16="http://schemas.microsoft.com/office/drawing/2014/main" val="20002"/>
                    </a:ext>
                  </a:extLst>
                </a:gridCol>
              </a:tblGrid>
              <a:tr h="358837">
                <a:tc>
                  <a:txBody>
                    <a:bodyPr/>
                    <a:lstStyle/>
                    <a:p>
                      <a:pPr algn="ct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đ</a:t>
                      </a:r>
                      <a:r>
                        <a:rPr lang="vi-VN" sz="1500" dirty="0">
                          <a:latin typeface="Times New Roman" panose="02020603050405020304" pitchFamily="18" charset="0"/>
                          <a:ea typeface="Microsoft JhengHei" panose="020B0604030504040204" pitchFamily="34" charset="-120"/>
                          <a:cs typeface="Times New Roman" panose="02020603050405020304" pitchFamily="18" charset="0"/>
                        </a:rPr>
                        <a:t>ư</a:t>
                      </a: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ợc</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đánh giá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受稽核部門</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nchor="ctr">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Số</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điểm không </a:t>
                      </a: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phù</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hợp nhỏ </a:t>
                      </a:r>
                      <a:r>
                        <a:rPr lang="zh-TW" altLang="en-US" sz="1600" b="1"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次要不符合事項</a:t>
                      </a:r>
                    </a:p>
                  </a:txBody>
                  <a:tcPr anchor="ctr">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Số</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điểm </a:t>
                      </a: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quan</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sát </a:t>
                      </a:r>
                      <a:r>
                        <a:rPr lang="zh-TW" altLang="en-US" sz="1600" b="1"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觀察事項</a:t>
                      </a:r>
                    </a:p>
                  </a:txBody>
                  <a:tcPr anchor="ctr">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10000"/>
                  </a:ext>
                </a:extLst>
              </a:tr>
              <a:tr h="296095">
                <a:tc>
                  <a:txBody>
                    <a:bodyPr/>
                    <a:lstStyle/>
                    <a:p>
                      <a:pPr algn="l"/>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IT</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1</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2</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01"/>
                  </a:ext>
                </a:extLst>
              </a:tr>
              <a:tr h="296095">
                <a:tc>
                  <a:txBody>
                    <a:bodyPr/>
                    <a:lstStyle/>
                    <a:p>
                      <a:pPr algn="l"/>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Kinh</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doanh</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業務</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1</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2</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02"/>
                  </a:ext>
                </a:extLst>
              </a:tr>
              <a:tr h="296095">
                <a:tc>
                  <a:txBody>
                    <a:bodyPr/>
                    <a:lstStyle/>
                    <a:p>
                      <a:pPr algn="l"/>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Thu mua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採購</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endParaRPr lang="en-US" sz="1500" b="1"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2</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03"/>
                  </a:ext>
                </a:extLst>
              </a:tr>
              <a:tr h="296095">
                <a:tc>
                  <a:txBody>
                    <a:bodyPr/>
                    <a:lstStyle/>
                    <a:p>
                      <a:pPr algn="l"/>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Nhân </a:t>
                      </a: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sự</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人事</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endParaRPr lang="en-US" sz="1500" b="1"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2</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04"/>
                  </a:ext>
                </a:extLst>
              </a:tr>
              <a:tr h="296095">
                <a:tc>
                  <a:txBody>
                    <a:bodyPr/>
                    <a:lstStyle/>
                    <a:p>
                      <a:pPr algn="l"/>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Hàn</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3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三廠焊接</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1</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endParaRPr lang="en-US" sz="1500" b="1"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05"/>
                  </a:ext>
                </a:extLst>
              </a:tr>
              <a:tr h="296095">
                <a:tc>
                  <a:txBody>
                    <a:bodyPr/>
                    <a:lstStyle/>
                    <a:p>
                      <a:pPr algn="l"/>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Xi </a:t>
                      </a:r>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mạ</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電鍍</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1</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1</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06"/>
                  </a:ext>
                </a:extLst>
              </a:tr>
              <a:tr h="296095">
                <a:tc>
                  <a:txBody>
                    <a:bodyPr/>
                    <a:lstStyle/>
                    <a:p>
                      <a:pPr algn="l"/>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Dập</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6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六廠沖壓</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endParaRPr lang="en-US" sz="1500" b="1"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1</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07"/>
                  </a:ext>
                </a:extLst>
              </a:tr>
              <a:tr h="296095">
                <a:tc>
                  <a:txBody>
                    <a:bodyPr/>
                    <a:lstStyle/>
                    <a:p>
                      <a:pPr algn="l"/>
                      <a:r>
                        <a:rPr lang="en-US" sz="1500" dirty="0" err="1">
                          <a:latin typeface="Times New Roman" panose="02020603050405020304" pitchFamily="18" charset="0"/>
                          <a:ea typeface="Microsoft JhengHei" panose="020B0604030504040204" pitchFamily="34" charset="-120"/>
                          <a:cs typeface="Times New Roman" panose="02020603050405020304" pitchFamily="18" charset="0"/>
                        </a:rPr>
                        <a:t>Kaifa</a:t>
                      </a:r>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開發</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1</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3</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08"/>
                  </a:ext>
                </a:extLst>
              </a:tr>
              <a:tr h="296095">
                <a:tc>
                  <a:txBody>
                    <a:bodyPr/>
                    <a:lstStyle/>
                    <a:p>
                      <a:pPr algn="l"/>
                      <a:r>
                        <a:rPr lang="vi-VN" sz="1500" dirty="0">
                          <a:solidFill>
                            <a:srgbClr val="000000"/>
                          </a:solidFill>
                          <a:latin typeface="Times New Roman" panose="02020603050405020304" pitchFamily="18" charset="0"/>
                          <a:ea typeface="Microsoft JhengHei" panose="020B0604030504040204" pitchFamily="34" charset="-120"/>
                          <a:cs typeface="Times New Roman" panose="02020603050405020304" pitchFamily="18" charset="0"/>
                        </a:rPr>
                        <a:t>Khuôn mẫu</a:t>
                      </a:r>
                      <a:r>
                        <a:rPr lang="en-US" sz="1500" dirty="0">
                          <a:solidFill>
                            <a:srgbClr val="000000"/>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模具</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endParaRPr lang="en-US" sz="1500" b="1"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vi-VN" sz="1500" b="1" dirty="0">
                          <a:latin typeface="Times New Roman" panose="02020603050405020304" pitchFamily="18" charset="0"/>
                          <a:ea typeface="Microsoft JhengHei" panose="020B0604030504040204" pitchFamily="34" charset="-120"/>
                          <a:cs typeface="Times New Roman" panose="02020603050405020304" pitchFamily="18" charset="0"/>
                        </a:rPr>
                        <a:t>1</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09"/>
                  </a:ext>
                </a:extLst>
              </a:tr>
              <a:tr h="296095">
                <a:tc>
                  <a:txBody>
                    <a:bodyPr/>
                    <a:lstStyle/>
                    <a:p>
                      <a:pPr algn="l"/>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QC</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endParaRPr lang="en-US" sz="1500" b="1"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2</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10"/>
                  </a:ext>
                </a:extLst>
              </a:tr>
              <a:tr h="296095">
                <a:tc>
                  <a:txBody>
                    <a:bodyPr/>
                    <a:lstStyle/>
                    <a:p>
                      <a:pPr algn="l"/>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QLSX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生管</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endParaRPr lang="en-US" sz="1500" b="1"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1</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11"/>
                  </a:ext>
                </a:extLst>
              </a:tr>
              <a:tr h="296095">
                <a:tc>
                  <a:txBody>
                    <a:bodyPr/>
                    <a:lstStyle/>
                    <a:p>
                      <a:pPr algn="l"/>
                      <a:r>
                        <a:rPr lang="en-US" sz="1500" dirty="0">
                          <a:latin typeface="Times New Roman" panose="02020603050405020304" pitchFamily="18" charset="0"/>
                          <a:ea typeface="Microsoft JhengHei" panose="020B0604030504040204" pitchFamily="34" charset="-120"/>
                          <a:cs typeface="Times New Roman" panose="02020603050405020304" pitchFamily="18" charset="0"/>
                        </a:rPr>
                        <a:t>Toàn công ty </a:t>
                      </a:r>
                      <a:r>
                        <a:rPr lang="zh-CN" alt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全公司</a:t>
                      </a:r>
                      <a:endParaRPr lang="en-US" sz="15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2</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ctr"/>
                      <a:r>
                        <a:rPr lang="en-US" sz="1500" b="1" dirty="0">
                          <a:latin typeface="Times New Roman" panose="02020603050405020304" pitchFamily="18" charset="0"/>
                          <a:ea typeface="Microsoft JhengHei" panose="020B0604030504040204" pitchFamily="34" charset="-120"/>
                          <a:cs typeface="Times New Roman" panose="02020603050405020304" pitchFamily="18" charset="0"/>
                        </a:rPr>
                        <a:t>3</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012"/>
                  </a:ext>
                </a:extLst>
              </a:tr>
              <a:tr h="310195">
                <a:tc>
                  <a:txBody>
                    <a:bodyPr/>
                    <a:lstStyle/>
                    <a:p>
                      <a:pPr algn="l"/>
                      <a:r>
                        <a:rPr lang="en-US" sz="1600"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TOTAL</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60000"/>
                        <a:lumOff val="40000"/>
                      </a:schemeClr>
                    </a:solidFill>
                  </a:tcPr>
                </a:tc>
                <a:tc>
                  <a:txBody>
                    <a:bodyPr/>
                    <a:lstStyle/>
                    <a:p>
                      <a:pPr algn="ctr"/>
                      <a:r>
                        <a:rPr lang="en-US" sz="1600"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7</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60000"/>
                        <a:lumOff val="40000"/>
                      </a:schemeClr>
                    </a:solidFill>
                  </a:tcPr>
                </a:tc>
                <a:tc>
                  <a:txBody>
                    <a:bodyPr/>
                    <a:lstStyle/>
                    <a:p>
                      <a:pPr algn="ctr"/>
                      <a:r>
                        <a:rPr lang="vi-VN" sz="1600"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20</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3910" y="1159726"/>
          <a:ext cx="11792243" cy="5473289"/>
        </p:xfrm>
        <a:graphic>
          <a:graphicData uri="http://schemas.openxmlformats.org/drawingml/2006/table">
            <a:tbl>
              <a:tblPr>
                <a:tableStyleId>{5C22544A-7EE6-4342-B048-85BDC9FD1C3A}</a:tableStyleId>
              </a:tblPr>
              <a:tblGrid>
                <a:gridCol w="601280">
                  <a:extLst>
                    <a:ext uri="{9D8B030D-6E8A-4147-A177-3AD203B41FA5}">
                      <a16:colId xmlns:a16="http://schemas.microsoft.com/office/drawing/2014/main" val="20000"/>
                    </a:ext>
                  </a:extLst>
                </a:gridCol>
                <a:gridCol w="1579245">
                  <a:extLst>
                    <a:ext uri="{9D8B030D-6E8A-4147-A177-3AD203B41FA5}">
                      <a16:colId xmlns:a16="http://schemas.microsoft.com/office/drawing/2014/main" val="20001"/>
                    </a:ext>
                  </a:extLst>
                </a:gridCol>
                <a:gridCol w="2101850">
                  <a:extLst>
                    <a:ext uri="{9D8B030D-6E8A-4147-A177-3AD203B41FA5}">
                      <a16:colId xmlns:a16="http://schemas.microsoft.com/office/drawing/2014/main" val="20002"/>
                    </a:ext>
                  </a:extLst>
                </a:gridCol>
                <a:gridCol w="5775139">
                  <a:extLst>
                    <a:ext uri="{9D8B030D-6E8A-4147-A177-3AD203B41FA5}">
                      <a16:colId xmlns:a16="http://schemas.microsoft.com/office/drawing/2014/main" val="20003"/>
                    </a:ext>
                  </a:extLst>
                </a:gridCol>
                <a:gridCol w="1734729">
                  <a:extLst>
                    <a:ext uri="{9D8B030D-6E8A-4147-A177-3AD203B41FA5}">
                      <a16:colId xmlns:a16="http://schemas.microsoft.com/office/drawing/2014/main" val="20004"/>
                    </a:ext>
                  </a:extLst>
                </a:gridCol>
              </a:tblGrid>
              <a:tr h="536743">
                <a:tc>
                  <a:txBody>
                    <a:bodyPr/>
                    <a:lstStyle/>
                    <a:p>
                      <a:pPr marL="0" algn="ctr" defTabSz="914400" rtl="0" eaLnBrk="1" fontAlgn="ctr" latinLnBrk="0" hangingPunct="1"/>
                      <a:r>
                        <a:rPr lang="en-US" altLang="zh-CN"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STT</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khoản</a:t>
                      </a:r>
                      <a:b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Hạng</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mục</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soát</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要求項目</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TW"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發現稽核</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trách</a:t>
                      </a:r>
                      <a:endPar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擔當</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1715804">
                <a:tc>
                  <a:txBody>
                    <a:bodyPr/>
                    <a:lstStyle/>
                    <a:p>
                      <a:pPr marL="0" algn="ctr" defTabSz="914400" rtl="0" eaLnBrk="1" fontAlgn="ctr" latinLnBrk="0" hangingPunct="1">
                        <a:lnSpc>
                          <a:spcPct val="130000"/>
                        </a:lnSpc>
                      </a:pP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1</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A8.8 &amp; A8.9</a:t>
                      </a: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A8.8 &amp; A8.9</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Quản lý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lỗ</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hổng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kỹ</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thuật</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&amp;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quản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lý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cấu</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hình</a:t>
                      </a:r>
                    </a:p>
                    <a:p>
                      <a:pPr marL="0" algn="l" defTabSz="914400" rtl="0" eaLnBrk="1" fontAlgn="ctr" latinLnBrk="0" hangingPunct="1">
                        <a:lnSpc>
                          <a:spcPct val="130000"/>
                        </a:lnSpc>
                      </a:pP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技術漏洞管理與組態管理</a:t>
                      </a:r>
                      <a:endParaRPr lang="vi-VN"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20000"/>
                        </a:lnSpc>
                      </a:pP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Qua kiểm tra ngẫu nhiên, phát hiện một số thiết bị đầu cuối Windows 11 Pro chưa được cập nhật lên phiên bản 24H2, cho thấy việc quản lý lỗ hổng kỹ thuật và quản lý cấu hình chưa được thực hiện hiệu quả, làm gia tăng nguy cơ thiết bị bị ảnh hưởng bởi các lỗ hổng đã được biết đến.</a:t>
                      </a:r>
                      <a:endPar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0" algn="just" defTabSz="914400" rtl="0" eaLnBrk="1" fontAlgn="ctr" latinLnBrk="0" hangingPunct="1">
                        <a:lnSpc>
                          <a:spcPct val="120000"/>
                        </a:lnSpc>
                      </a:pPr>
                      <a:r>
                        <a:rPr lang="zh-TW" altLang="en-US"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經抽查發現部分</a:t>
                      </a:r>
                      <a:r>
                        <a:rPr lang="vi-VN"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Windows 11 Pro </a:t>
                      </a:r>
                      <a:r>
                        <a:rPr lang="zh-TW" altLang="en-US"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終端設備未更新至</a:t>
                      </a:r>
                      <a:r>
                        <a:rPr lang="vi-VN"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24H2</a:t>
                      </a:r>
                      <a:r>
                        <a:rPr lang="zh-TW" altLang="en-US"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。未能有效執行技術脆弱性管理、組態管理，導致設備暴露於已知漏洞之風險中。</a:t>
                      </a:r>
                      <a:endParaRPr lang="zh-CN" altLang="en-US" sz="1400" b="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algn="ctr"/>
                      <a:r>
                        <a:rPr lang="vi-VN" sz="1400" dirty="0">
                          <a:latin typeface="Times New Roman" panose="02020603050405020304" pitchFamily="18" charset="0"/>
                          <a:ea typeface="Microsoft JhengHei" panose="020B0604030504040204" pitchFamily="34" charset="-120"/>
                          <a:cs typeface="Times New Roman" panose="02020603050405020304" pitchFamily="18" charset="0"/>
                        </a:rPr>
                        <a:t>Toàn công ty</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全公司</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br>
                        <a:rPr lang="vi-VN" sz="1400" dirty="0">
                          <a:latin typeface="Times New Roman" panose="02020603050405020304" pitchFamily="18" charset="0"/>
                          <a:ea typeface="Microsoft JhengHei" panose="020B0604030504040204" pitchFamily="34" charset="-120"/>
                          <a:cs typeface="Times New Roman" panose="02020603050405020304" pitchFamily="18" charset="0"/>
                        </a:rPr>
                      </a:b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dirty="0">
                          <a:latin typeface="Times New Roman" panose="02020603050405020304" pitchFamily="18" charset="0"/>
                          <a:ea typeface="Microsoft JhengHei" panose="020B0604030504040204" pitchFamily="34" charset="-120"/>
                          <a:cs typeface="Times New Roman" panose="02020603050405020304" pitchFamily="18" charset="0"/>
                        </a:rPr>
                        <a:t>IT</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hỗ</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trợ</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vi-VN"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IT</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協助</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1053802">
                <a:tc>
                  <a:txBody>
                    <a:bodyPr/>
                    <a:lstStyle/>
                    <a:p>
                      <a:pPr marL="0" algn="ctr" defTabSz="914400" rtl="0" eaLnBrk="1" fontAlgn="ctr" latinLnBrk="0" hangingPunct="1">
                        <a:lnSpc>
                          <a:spcPct val="130000"/>
                        </a:lnSpc>
                      </a:pP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2</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 8.14</a:t>
                      </a:r>
                      <a:endPar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 8.14</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Dự</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phòng</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các</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a:t>
                      </a:r>
                      <a:r>
                        <a:rPr lang="vi-VN"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ơng</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tiện</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xử</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lý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tin</a:t>
                      </a:r>
                    </a:p>
                    <a:p>
                      <a:pPr marL="0" algn="l" defTabSz="914400" rtl="0" eaLnBrk="1" fontAlgn="ctr" latinLnBrk="0" hangingPunct="1">
                        <a:lnSpc>
                          <a:spcPct val="13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資訊處理設施的備</a:t>
                      </a:r>
                      <a:r>
                        <a:rPr lang="zh-CN"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用</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20000"/>
                        </a:lnSpc>
                      </a:pP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Qua kiểm tra, phát hiện các thiết bị tường lửa (Firewall) của hệ thống mạng quan trọng không được trang bị </a:t>
                      </a: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thiết</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bị</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dự phòng, </a:t>
                      </a:r>
                      <a:r>
                        <a:rPr lang="vi-VN" sz="1400" dirty="0">
                          <a:latin typeface="Times New Roman" panose="02020603050405020304" pitchFamily="18" charset="0"/>
                          <a:ea typeface="Microsoft JhengHei" panose="020B0604030504040204" pitchFamily="34" charset="-120"/>
                          <a:cs typeface="Times New Roman" panose="02020603050405020304" pitchFamily="18" charset="0"/>
                        </a:rPr>
                        <a:t>vi phạm nguyên tắc đảm bảo tính sẵn sàng (Availability)</a:t>
                      </a:r>
                      <a:endParaRPr lang="en-US" sz="1400" dirty="0">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2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檢查重要骨幹網路設備防火牆</a:t>
                      </a:r>
                      <a:r>
                        <a:rPr lang="vi-VN"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(Firewall)</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沒有多備，違反可用性原則。</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IT</a:t>
                      </a:r>
                      <a:endParaRPr lang="vi-VN" alt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2166940">
                <a:tc>
                  <a:txBody>
                    <a:bodyPr/>
                    <a:lstStyle/>
                    <a:p>
                      <a:pPr marL="0" marR="0" indent="-46355" algn="ctr" defTabSz="914400" rtl="0" eaLnBrk="1" fontAlgn="ctr" latinLnBrk="0" hangingPunct="1">
                        <a:lnSpc>
                          <a:spcPct val="130000"/>
                        </a:lnSpc>
                        <a:spcBef>
                          <a:spcPts val="0"/>
                        </a:spcBef>
                        <a:spcAft>
                          <a:spcPts val="0"/>
                        </a:spcAft>
                      </a:pP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3</a:t>
                      </a:r>
                    </a:p>
                  </a:txBody>
                  <a:tcPr marL="68580" marR="68580" marT="0"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indent="-46355" algn="l" defTabSz="914400" rtl="0" eaLnBrk="1" fontAlgn="ctr" latinLnBrk="0" hangingPunct="1">
                        <a:lnSpc>
                          <a:spcPct val="130000"/>
                        </a:lnSpc>
                        <a:spcBef>
                          <a:spcPts val="0"/>
                        </a:spcBef>
                        <a:spcAft>
                          <a:spcPts val="0"/>
                        </a:spcAft>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 </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5.10 &amp; A 7.10</a:t>
                      </a:r>
                      <a:endPar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indent="-46355" algn="l" defTabSz="914400" rtl="0" eaLnBrk="1" fontAlgn="ctr" latinLnBrk="0" hangingPunct="1">
                        <a:lnSpc>
                          <a:spcPct val="130000"/>
                        </a:lnSpc>
                        <a:spcBef>
                          <a:spcPts val="0"/>
                        </a:spcBef>
                        <a:spcAft>
                          <a:spcPts val="0"/>
                        </a:spcAft>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vi-VN"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5.10 &amp;  A7.10</a:t>
                      </a:r>
                    </a:p>
                  </a:txBody>
                  <a:tcPr marL="68580" marR="68580" marT="0"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Sử</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dụng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tin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các</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tài</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sản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liên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đ</a:t>
                      </a:r>
                      <a:r>
                        <a:rPr lang="vi-V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ợc</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chấp</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nhận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&amp; Ph</a:t>
                      </a:r>
                      <a:r>
                        <a:rPr lang="vi-V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ơng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tiện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l</a:t>
                      </a:r>
                      <a:r>
                        <a:rPr lang="vi-V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u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trữ</a:t>
                      </a:r>
                      <a:endPar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just" defTabSz="914400" rtl="0" eaLnBrk="1" fontAlgn="ctr" latinLnBrk="0" hangingPunct="1">
                        <a:lnSpc>
                          <a:spcPct val="13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資訊及相關資產的可接受使用與儲存媒體</a:t>
                      </a:r>
                      <a:endParaRPr lang="vi-V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just" defTabSz="914400" rtl="0" eaLnBrk="1" fontAlgn="ctr" latinLnBrk="0" hangingPunct="1">
                        <a:lnSpc>
                          <a:spcPct val="120000"/>
                        </a:lnSpc>
                        <a:spcBef>
                          <a:spcPts val="0"/>
                        </a:spcBef>
                        <a:spcAft>
                          <a:spcPts val="0"/>
                        </a:spcAft>
                        <a:buClrTx/>
                        <a:buSzTx/>
                        <a:buFontTx/>
                        <a:buNone/>
                        <a:defRPr/>
                      </a:pP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Qua rút kiểm máy tính của bộ phận kinh doanh, phát hiện nhân viên (</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VN</a:t>
                      </a: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10839) đã lưu trữ dữ liệu báo giá của công ty trên tài khoản Gmail cá nhân, vi phạm quy định lưu trữ dữ liệu</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của</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công</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ty</a:t>
                      </a: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a:t>
                      </a:r>
                      <a:endPar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just" defTabSz="914400" rtl="0" eaLnBrk="1" fontAlgn="ctr" latinLnBrk="0" hangingPunct="1">
                        <a:lnSpc>
                          <a:spcPct val="120000"/>
                        </a:lnSpc>
                        <a:spcBef>
                          <a:spcPts val="0"/>
                        </a:spcBef>
                        <a:spcAft>
                          <a:spcPts val="0"/>
                        </a:spcAft>
                        <a:buClrTx/>
                        <a:buSzTx/>
                        <a:buFontTx/>
                        <a:buNone/>
                        <a:defRPr/>
                      </a:pP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Yêu</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cầu</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nhân</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viên</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này</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chuyển dữ liệu về NAS hoặc OneDrive do công ty </a:t>
                      </a:r>
                      <a:r>
                        <a:rPr lang="en-US" sz="1400" kern="1200" dirty="0" err="1">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cung</a:t>
                      </a:r>
                      <a:r>
                        <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cấp và đề nghị các bộ phận tuyên truyền, phổ biến quy định này.</a:t>
                      </a:r>
                      <a:endPar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lang="zh-TW" altLang="en-US"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抽查業務部門電腦時，發現員工 </a:t>
                      </a:r>
                      <a:r>
                        <a:rPr lang="en-US" altLang="zh-TW"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VN10839 </a:t>
                      </a:r>
                      <a:r>
                        <a:rPr lang="zh-TW" altLang="en-US"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將公司報價資料儲存於私人 </a:t>
                      </a:r>
                      <a:r>
                        <a:rPr lang="en-US" altLang="zh-TW"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Gmail </a:t>
                      </a:r>
                      <a:r>
                        <a:rPr lang="zh-TW" altLang="en-US"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帳號，屬於違反公司儲存資料規定，請該員工將資料存於公司的</a:t>
                      </a:r>
                      <a:r>
                        <a:rPr lang="en-US" altLang="zh-TW" sz="1400" kern="1200" spc="-30" baseline="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Nas</a:t>
                      </a:r>
                      <a:r>
                        <a:rPr lang="zh-TW" altLang="en-US"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，或是使用公司申請的 </a:t>
                      </a:r>
                      <a:r>
                        <a:rPr lang="en-US" altLang="zh-TW"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Microsoft OneDrive </a:t>
                      </a:r>
                      <a:r>
                        <a:rPr lang="zh-TW" altLang="en-US"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帳號內，也請各部門進行宣導</a:t>
                      </a:r>
                      <a:endParaRPr lang="en-US" sz="1400" kern="1200" spc="-30" baseline="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Kinh</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doanh</a:t>
                      </a:r>
                      <a:endPar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ctr" defTabSz="914400" rtl="0" eaLnBrk="1" fontAlgn="ctr" latinLnBrk="0" hangingPunct="1">
                        <a:lnSpc>
                          <a:spcPct val="13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業務部門</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3" name="Rectangle 2"/>
          <p:cNvSpPr/>
          <p:nvPr/>
        </p:nvSpPr>
        <p:spPr>
          <a:xfrm>
            <a:off x="315124" y="735309"/>
            <a:ext cx="6551858" cy="369332"/>
          </a:xfrm>
          <a:prstGeom prst="rect">
            <a:avLst/>
          </a:prstGeom>
        </p:spPr>
        <p:txBody>
          <a:bodyPr wrap="none">
            <a:spAutoFit/>
          </a:bodyPr>
          <a:lstStyle/>
          <a:p>
            <a:r>
              <a:rPr lang="en-US"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2. </a:t>
            </a:r>
            <a:r>
              <a:rPr lang="vi-VN"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HẠNG MỤC KHÔNG PHÙ HỢP NHỎ</a:t>
            </a:r>
            <a:r>
              <a:rPr lang="en-US"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次要不符合事項 </a:t>
            </a:r>
            <a:r>
              <a:rPr lang="en-US" altLang="zh-TW"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(NC)</a:t>
            </a:r>
            <a:endParaRPr lang="en-US"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17996300"/>
              </p:ext>
            </p:extLst>
          </p:nvPr>
        </p:nvGraphicFramePr>
        <p:xfrm>
          <a:off x="199878" y="956563"/>
          <a:ext cx="11792243" cy="5720578"/>
        </p:xfrm>
        <a:graphic>
          <a:graphicData uri="http://schemas.openxmlformats.org/drawingml/2006/table">
            <a:tbl>
              <a:tblPr>
                <a:tableStyleId>{5C22544A-7EE6-4342-B048-85BDC9FD1C3A}</a:tableStyleId>
              </a:tblPr>
              <a:tblGrid>
                <a:gridCol w="601280">
                  <a:extLst>
                    <a:ext uri="{9D8B030D-6E8A-4147-A177-3AD203B41FA5}">
                      <a16:colId xmlns:a16="http://schemas.microsoft.com/office/drawing/2014/main" val="20000"/>
                    </a:ext>
                  </a:extLst>
                </a:gridCol>
                <a:gridCol w="1761893">
                  <a:extLst>
                    <a:ext uri="{9D8B030D-6E8A-4147-A177-3AD203B41FA5}">
                      <a16:colId xmlns:a16="http://schemas.microsoft.com/office/drawing/2014/main" val="20001"/>
                    </a:ext>
                  </a:extLst>
                </a:gridCol>
                <a:gridCol w="2085278">
                  <a:extLst>
                    <a:ext uri="{9D8B030D-6E8A-4147-A177-3AD203B41FA5}">
                      <a16:colId xmlns:a16="http://schemas.microsoft.com/office/drawing/2014/main" val="20002"/>
                    </a:ext>
                  </a:extLst>
                </a:gridCol>
                <a:gridCol w="5609063">
                  <a:extLst>
                    <a:ext uri="{9D8B030D-6E8A-4147-A177-3AD203B41FA5}">
                      <a16:colId xmlns:a16="http://schemas.microsoft.com/office/drawing/2014/main" val="20003"/>
                    </a:ext>
                  </a:extLst>
                </a:gridCol>
                <a:gridCol w="1734729">
                  <a:extLst>
                    <a:ext uri="{9D8B030D-6E8A-4147-A177-3AD203B41FA5}">
                      <a16:colId xmlns:a16="http://schemas.microsoft.com/office/drawing/2014/main" val="20004"/>
                    </a:ext>
                  </a:extLst>
                </a:gridCol>
              </a:tblGrid>
              <a:tr h="575712">
                <a:tc>
                  <a:txBody>
                    <a:bodyPr/>
                    <a:lstStyle/>
                    <a:p>
                      <a:pPr marL="0" algn="ctr" defTabSz="914400" rtl="0" eaLnBrk="1" fontAlgn="ctr" latinLnBrk="0" hangingPunct="1"/>
                      <a:r>
                        <a:rPr lang="en-US" altLang="zh-CN"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STT</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khoản</a:t>
                      </a:r>
                      <a:b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Hạng</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mục</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soát</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要求項目</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TW"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發現稽核</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trách</a:t>
                      </a:r>
                      <a:endPar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擔當</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1840375">
                <a:tc>
                  <a:txBody>
                    <a:bodyPr/>
                    <a:lstStyle/>
                    <a:p>
                      <a:pPr marL="0" algn="ctr" defTabSz="914400" rtl="0" eaLnBrk="1" fontAlgn="ctr" latinLnBrk="0" hangingPunct="1">
                        <a:lnSpc>
                          <a:spcPct val="130000"/>
                        </a:lnSpc>
                      </a:pP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4</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A5.9</a:t>
                      </a: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5.9</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kê</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tin và các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tài</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sản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liên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khác</a:t>
                      </a:r>
                      <a:endParaRPr lang="vi-V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資訊及其他相關資產的盤點</a:t>
                      </a:r>
                      <a:endParaRPr lang="vi-V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just" defTabSz="914400" rtl="0" eaLnBrk="1" fontAlgn="ctr" latinLnBrk="0" hangingPunct="1">
                        <a:lnSpc>
                          <a:spcPct val="120000"/>
                        </a:lnSpc>
                        <a:spcBef>
                          <a:spcPts val="0"/>
                        </a:spcBef>
                        <a:spcAft>
                          <a:spcPts val="0"/>
                        </a:spcAft>
                        <a:buClrTx/>
                        <a:buSzTx/>
                        <a:buFontTx/>
                        <a:buNone/>
                        <a:defRPr/>
                      </a:pP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Qua kiểm tra ngẫu nhiên máy tính HAN3-CNC tại HAN3 và đối chiếu với danh sách tài sản IT, phát hiện thông tin không chính xác. Máy tính này có chức năng truy cập Internet nhưng chưa được đưa vào domain để quản lý, kiểm soát.</a:t>
                      </a:r>
                      <a:endPar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just" defTabSz="914400" rtl="0" eaLnBrk="1" fontAlgn="ctr" latinLnBrk="0" hangingPunct="1">
                        <a:lnSpc>
                          <a:spcPct val="120000"/>
                        </a:lnSpc>
                        <a:spcBef>
                          <a:spcPts val="0"/>
                        </a:spcBef>
                        <a:spcAft>
                          <a:spcPts val="0"/>
                        </a:spcAft>
                        <a:buClrTx/>
                        <a:buSzTx/>
                        <a:buFontTx/>
                        <a:buNone/>
                        <a:defRPr/>
                      </a:pP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抽查</a:t>
                      </a:r>
                      <a:r>
                        <a:rPr 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HAN3</a:t>
                      </a: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電腦</a:t>
                      </a:r>
                      <a:r>
                        <a:rPr 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HAN3-CNC</a:t>
                      </a: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並比對電腦資產清冊，發現資訊不正確，該電腦具有上網功能，並且未加入網域進行管控</a:t>
                      </a:r>
                      <a:endParaRPr lang="zh-CN"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indent="-457200" algn="ctr" defTabSz="914400" rtl="0" eaLnBrk="1" fontAlgn="ctr" latinLnBrk="0" hangingPunct="1">
                        <a:lnSpc>
                          <a:spcPct val="130000"/>
                        </a:lnSpc>
                        <a:spcBef>
                          <a:spcPts val="0"/>
                        </a:spcBef>
                        <a:spcAft>
                          <a:spcPts val="0"/>
                        </a:spcAft>
                      </a:pPr>
                      <a:r>
                        <a:rPr lang="en-US" altLang="zh-TW"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Hàn</a:t>
                      </a:r>
                      <a:r>
                        <a:rPr lang="en-US" altLang="zh-TW"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3</a:t>
                      </a:r>
                    </a:p>
                    <a:p>
                      <a:pPr marL="0" marR="0" indent="-401955" algn="ctr" defTabSz="914400" rtl="0" eaLnBrk="1" fontAlgn="ctr" latinLnBrk="0" hangingPunct="1">
                        <a:lnSpc>
                          <a:spcPct val="130000"/>
                        </a:lnSpc>
                        <a:spcBef>
                          <a:spcPts val="0"/>
                        </a:spcBef>
                        <a:spcAft>
                          <a:spcPts val="0"/>
                        </a:spcAft>
                      </a:pPr>
                      <a:r>
                        <a:rPr lang="zh-TW"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銲接</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3</a:t>
                      </a:r>
                      <a:r>
                        <a:rPr lang="zh-TW"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廠</a:t>
                      </a:r>
                      <a:endPar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68580" marR="68580" marT="0"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3304491">
                <a:tc>
                  <a:txBody>
                    <a:bodyPr/>
                    <a:lstStyle/>
                    <a:p>
                      <a:pPr marL="0" algn="ctr" defTabSz="914400" rtl="0" eaLnBrk="1" fontAlgn="ctr" latinLnBrk="0" hangingPunct="1">
                        <a:lnSpc>
                          <a:spcPct val="130000"/>
                        </a:lnSpc>
                      </a:pP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5</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 8.1 &amp; A 8.20</a:t>
                      </a:r>
                      <a:endPar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8.1 &amp; A 8.20</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Quản lý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thiết</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bị đầu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cuối</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&amp; An toàn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mạng</a:t>
                      </a:r>
                      <a:endParaRPr lang="vi-VN"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端點設備管理與網路安全</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just" defTabSz="914400" rtl="0" eaLnBrk="1" fontAlgn="ctr" latinLnBrk="0" hangingPunct="1">
                        <a:lnSpc>
                          <a:spcPct val="120000"/>
                        </a:lnSpc>
                        <a:spcBef>
                          <a:spcPts val="0"/>
                        </a:spcBef>
                        <a:spcAft>
                          <a:spcPts val="0"/>
                        </a:spcAft>
                        <a:buClrTx/>
                        <a:buSzTx/>
                        <a:buFontTx/>
                        <a:buNone/>
                        <a:defRPr/>
                      </a:pP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Qua rút kiểm phát hiện máy tính XIMA06 được trang bị chức năng mạng không dây và không bị hạn chế; đồng thời vào ngày 08/03/2025 đã cài đặt ứng dụng ZALO, chưa được đưa vào domain của công ty để quản lý, phần mềm diệt virus chưa được kích hoạt.</a:t>
                      </a:r>
                      <a:endPar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just" defTabSz="914400" rtl="0" eaLnBrk="1" fontAlgn="ctr" latinLnBrk="0" hangingPunct="1">
                        <a:lnSpc>
                          <a:spcPct val="120000"/>
                        </a:lnSpc>
                        <a:spcBef>
                          <a:spcPts val="0"/>
                        </a:spcBef>
                        <a:spcAft>
                          <a:spcPts val="0"/>
                        </a:spcAft>
                        <a:buClrTx/>
                        <a:buSzTx/>
                        <a:buFontTx/>
                        <a:buNone/>
                        <a:defRPr/>
                      </a:pPr>
                      <a:r>
                        <a:rPr lang="vi-VN"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rPr>
                        <a:t>Nhân viên có thể kết nối Internet thông qua điểm phát sóng (hotspot) từ điện thoại cá nhân, hành vi này đã vượt qua cơ chế kiểm soát an ninh của tường lửa công ty. Đề nghị các bộ phận tiến hành tuyên truyền, nhắc nhở không sử dụng hotspot từ điện thoại cá nhân để kết nối Internet.</a:t>
                      </a:r>
                      <a:endParaRPr lang="en-US" sz="1400" kern="1200" dirty="0">
                        <a:solidFill>
                          <a:schemeClr val="dk1"/>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just" defTabSz="914400" rtl="0" eaLnBrk="1" fontAlgn="ctr" latinLnBrk="0" hangingPunct="1">
                        <a:lnSpc>
                          <a:spcPct val="120000"/>
                        </a:lnSpc>
                        <a:spcBef>
                          <a:spcPts val="0"/>
                        </a:spcBef>
                        <a:spcAft>
                          <a:spcPts val="0"/>
                        </a:spcAft>
                        <a:buClrTx/>
                        <a:buSzTx/>
                        <a:buFontTx/>
                        <a:buNone/>
                        <a:defRPr/>
                      </a:pP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經抽查發現電腦名稱 </a:t>
                      </a:r>
                      <a:r>
                        <a:rPr 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XIMA06 </a:t>
                      </a: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具備無線網路功能，且未受限制、並於</a:t>
                      </a:r>
                      <a:r>
                        <a:rPr 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2025</a:t>
                      </a: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年</a:t>
                      </a:r>
                      <a:r>
                        <a:rPr 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3</a:t>
                      </a: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月</a:t>
                      </a:r>
                      <a:r>
                        <a:rPr 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8</a:t>
                      </a: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日安裝 </a:t>
                      </a:r>
                      <a:r>
                        <a:rPr lang="en-US" sz="1400" kern="1200" dirty="0" err="1">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Zalo</a:t>
                      </a:r>
                      <a:r>
                        <a:rPr 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程式、並且未加入公司網域進行管控、防毒軟體未啟動。員工可透過個人手機熱點連網，此舉繞過公司防火牆安全控管機制。也請各部門進行宣導，請勿使用個人手機熱點進行連網。</a:t>
                      </a:r>
                      <a:endParaRPr lang="en-US" sz="1400" kern="12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Xi </a:t>
                      </a: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mạ</a:t>
                      </a:r>
                      <a:endPar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電鍍廠</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99878" y="980154"/>
          <a:ext cx="11792243" cy="4897691"/>
        </p:xfrm>
        <a:graphic>
          <a:graphicData uri="http://schemas.openxmlformats.org/drawingml/2006/table">
            <a:tbl>
              <a:tblPr>
                <a:tableStyleId>{5C22544A-7EE6-4342-B048-85BDC9FD1C3A}</a:tableStyleId>
              </a:tblPr>
              <a:tblGrid>
                <a:gridCol w="601280">
                  <a:extLst>
                    <a:ext uri="{9D8B030D-6E8A-4147-A177-3AD203B41FA5}">
                      <a16:colId xmlns:a16="http://schemas.microsoft.com/office/drawing/2014/main" val="20000"/>
                    </a:ext>
                  </a:extLst>
                </a:gridCol>
                <a:gridCol w="1761893">
                  <a:extLst>
                    <a:ext uri="{9D8B030D-6E8A-4147-A177-3AD203B41FA5}">
                      <a16:colId xmlns:a16="http://schemas.microsoft.com/office/drawing/2014/main" val="20001"/>
                    </a:ext>
                  </a:extLst>
                </a:gridCol>
                <a:gridCol w="2085278">
                  <a:extLst>
                    <a:ext uri="{9D8B030D-6E8A-4147-A177-3AD203B41FA5}">
                      <a16:colId xmlns:a16="http://schemas.microsoft.com/office/drawing/2014/main" val="20002"/>
                    </a:ext>
                  </a:extLst>
                </a:gridCol>
                <a:gridCol w="5609063">
                  <a:extLst>
                    <a:ext uri="{9D8B030D-6E8A-4147-A177-3AD203B41FA5}">
                      <a16:colId xmlns:a16="http://schemas.microsoft.com/office/drawing/2014/main" val="20003"/>
                    </a:ext>
                  </a:extLst>
                </a:gridCol>
                <a:gridCol w="1734729">
                  <a:extLst>
                    <a:ext uri="{9D8B030D-6E8A-4147-A177-3AD203B41FA5}">
                      <a16:colId xmlns:a16="http://schemas.microsoft.com/office/drawing/2014/main" val="20004"/>
                    </a:ext>
                  </a:extLst>
                </a:gridCol>
              </a:tblGrid>
              <a:tr h="568714">
                <a:tc>
                  <a:txBody>
                    <a:bodyPr/>
                    <a:lstStyle/>
                    <a:p>
                      <a:pPr marL="0" algn="ctr" defTabSz="914400" rtl="0" eaLnBrk="1" fontAlgn="ctr" latinLnBrk="0" hangingPunct="1"/>
                      <a:r>
                        <a:rPr lang="en-US" altLang="zh-CN"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STT</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khoản</a:t>
                      </a:r>
                      <a:b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Hạng</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mục</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soát</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要求項目</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TW"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發現稽核</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trách</a:t>
                      </a:r>
                      <a:endPar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擔當</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2359879">
                <a:tc>
                  <a:txBody>
                    <a:bodyPr/>
                    <a:lstStyle/>
                    <a:p>
                      <a:pPr marL="0" algn="ctr" defTabSz="914400" rtl="0" eaLnBrk="1" fontAlgn="ctr" latinLnBrk="0" hangingPunct="1">
                        <a:lnSpc>
                          <a:spcPct val="130000"/>
                        </a:lnSpc>
                      </a:pP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6</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hụ lục</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A5.32 &amp; A 8.19</a:t>
                      </a: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A5.32 &amp; A 8.19</a:t>
                      </a:r>
                      <a:endParaRPr lang="zh-CN"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kern="1200" dirty="0" err="1">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Quyền</a:t>
                      </a:r>
                      <a:r>
                        <a:rPr lang="en-US" sz="1400" kern="1200" dirty="0">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sở</a:t>
                      </a:r>
                      <a:r>
                        <a:rPr lang="en-US" sz="1400" kern="1200" dirty="0">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hữu</a:t>
                      </a:r>
                      <a:r>
                        <a:rPr lang="en-US" sz="1400" kern="1200" dirty="0">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trí</a:t>
                      </a:r>
                      <a:r>
                        <a:rPr lang="en-US" sz="1400" kern="1200" dirty="0">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tuệ</a:t>
                      </a:r>
                      <a:r>
                        <a:rPr lang="en-US" sz="1400" kern="1200" dirty="0">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p>
                    <a:p>
                      <a:pPr marL="0" marR="0" lvl="0" indent="0" algn="l" defTabSz="914400" rtl="0" eaLnBrk="1" fontAlgn="ctr" latinLnBrk="0" hangingPunct="1">
                        <a:lnSpc>
                          <a:spcPct val="130000"/>
                        </a:lnSpc>
                        <a:spcBef>
                          <a:spcPts val="0"/>
                        </a:spcBef>
                        <a:spcAft>
                          <a:spcPts val="0"/>
                        </a:spcAft>
                        <a:buClrTx/>
                        <a:buSzTx/>
                        <a:buFontTx/>
                        <a:buNone/>
                        <a:defRPr/>
                      </a:pP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Cài</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đặt</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phần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mềm</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trên hệ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hành</a:t>
                      </a:r>
                      <a:endParaRPr lang="vi-VN"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智慧財產權</a:t>
                      </a:r>
                    </a:p>
                    <a:p>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作業系統上的軟體安裝</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algn="just">
                        <a:lnSpc>
                          <a:spcPct val="150000"/>
                        </a:lnSpc>
                      </a:pP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máy tính của bộ phận </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aifa, phát hiện một số máy tính có cài đặt phần mềm </a:t>
                      </a:r>
                      <a:r>
                        <a:rPr lang="vi-VN" sz="1400" b="1"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Broadgun pdfMachine</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Đây là phần mềm thương mại có bản quyền trả phí; trong trường hợp chưa mua bản quyền, cần tiến hành gỡ bỏ để tránh vi phạm bản quyền.</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just">
                        <a:lnSpc>
                          <a:spcPct val="15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經查開發部門電腦時，有部分電腦有安裝 </a:t>
                      </a:r>
                      <a:r>
                        <a:rPr lang="en-US" sz="1400"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broadgun</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pdfmachine</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軟體，此軟體是屬於商業付費軟體，若無購買版權需進行移除，以免侵權。</a:t>
                      </a:r>
                      <a:endParaRPr lang="en-US" sz="1400" kern="1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68580" marR="68580" marT="0" marB="0">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algn="ct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aifa</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zh-CN"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開發</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68580" marR="68580" marT="0"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1969098">
                <a:tc>
                  <a:txBody>
                    <a:bodyPr/>
                    <a:lstStyle/>
                    <a:p>
                      <a:pPr marL="0" algn="ctr" defTabSz="914400" rtl="0" eaLnBrk="1" fontAlgn="ctr" latinLnBrk="0" hangingPunct="1">
                        <a:lnSpc>
                          <a:spcPct val="130000"/>
                        </a:lnSpc>
                      </a:pP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7</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hụ lục</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A.8.8 </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&amp;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 8.19</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vi-VN"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 8.19</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Quản lý các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lỗ</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hổng</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kỹ</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thuật</a:t>
                      </a:r>
                      <a:endPar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ctr" latinLnBrk="0" hangingPunct="1">
                        <a:lnSpc>
                          <a:spcPct val="130000"/>
                        </a:lnSpc>
                        <a:spcBef>
                          <a:spcPts val="0"/>
                        </a:spcBef>
                        <a:spcAft>
                          <a:spcPts val="0"/>
                        </a:spcAft>
                        <a:buClrTx/>
                        <a:buSzTx/>
                        <a:buFontTx/>
                        <a:buNone/>
                        <a:defRPr/>
                      </a:pP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Cài</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đặt</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phần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mềm</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trên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hệ</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hành</a:t>
                      </a:r>
                      <a:endPar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技術漏洞管理</a:t>
                      </a:r>
                    </a:p>
                    <a:p>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作業系統上的軟體安裝</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latinLnBrk="0" hangingPunct="1">
                        <a:lnSpc>
                          <a:spcPct val="150000"/>
                        </a:lnSpc>
                      </a:pP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máy tính của </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aifa, phát hiện một số máy tính có cài đặt Adobe Reader XI, phiên bản này đã chính thức chấm dứt hỗ trợ từ ngày 15/10/2017. Khuyến nghị tiến hành gỡ bỏ phần mềm này.</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just" defTabSz="914400" rtl="0" eaLnBrk="1" latinLnBrk="0" hangingPunct="1">
                        <a:lnSpc>
                          <a:spcPct val="15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經查開發部門電腦時，有部分電腦有安裝</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Adobe Reader XI </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已於</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2017</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年</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10</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月</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15</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日正式終止支援，建議將之移除。 </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algn="ct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oàn công ty</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全公司</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IT hỗ trợ</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IT</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協助</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3910" y="1166232"/>
          <a:ext cx="11792243" cy="5520316"/>
        </p:xfrm>
        <a:graphic>
          <a:graphicData uri="http://schemas.openxmlformats.org/drawingml/2006/table">
            <a:tbl>
              <a:tblPr>
                <a:tableStyleId>{5C22544A-7EE6-4342-B048-85BDC9FD1C3A}</a:tableStyleId>
              </a:tblPr>
              <a:tblGrid>
                <a:gridCol w="512070">
                  <a:extLst>
                    <a:ext uri="{9D8B030D-6E8A-4147-A177-3AD203B41FA5}">
                      <a16:colId xmlns:a16="http://schemas.microsoft.com/office/drawing/2014/main" val="20000"/>
                    </a:ext>
                  </a:extLst>
                </a:gridCol>
                <a:gridCol w="12071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6648450">
                  <a:extLst>
                    <a:ext uri="{9D8B030D-6E8A-4147-A177-3AD203B41FA5}">
                      <a16:colId xmlns:a16="http://schemas.microsoft.com/office/drawing/2014/main" val="20003"/>
                    </a:ext>
                  </a:extLst>
                </a:gridCol>
                <a:gridCol w="1595803">
                  <a:extLst>
                    <a:ext uri="{9D8B030D-6E8A-4147-A177-3AD203B41FA5}">
                      <a16:colId xmlns:a16="http://schemas.microsoft.com/office/drawing/2014/main" val="20004"/>
                    </a:ext>
                  </a:extLst>
                </a:gridCol>
              </a:tblGrid>
              <a:tr h="747860">
                <a:tc>
                  <a:txBody>
                    <a:bodyPr/>
                    <a:lstStyle/>
                    <a:p>
                      <a:pPr marL="0" algn="ctr" defTabSz="914400" rtl="0" eaLnBrk="1" fontAlgn="ctr" latinLnBrk="0" hangingPunct="1"/>
                      <a:r>
                        <a:rPr lang="en-US" altLang="zh-CN" sz="1600" b="1"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STT</a:t>
                      </a: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序號</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khoản</a:t>
                      </a:r>
                      <a:b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Hạng</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mục</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soát</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要求項目</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TW"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發現稽核</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BP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trách</a:t>
                      </a:r>
                      <a:endPar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擔當</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1410182">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 7.3</a:t>
                      </a:r>
                      <a:b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7.3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Bảo</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vệ</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văn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phòng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phòng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cơ</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sở</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vật</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chất</a:t>
                      </a:r>
                      <a:endPar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保全辦公室、房間及設施</a:t>
                      </a:r>
                      <a:endParaRPr lang="vi-V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khu vực lưu trữ hồ sơ nhân sự ngày 28/01/2026, ghi nhận tủ hồ sơ cá nhân chưa được khóa, trong khi khu vực này có nhiều người ra vào, tiềm ẩn rủi ro mất an toàn thông tin.</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just" defTabSz="914400" rtl="0" eaLnBrk="1" fontAlgn="ctr" latinLnBrk="0" hangingPunct="1">
                        <a:lnSpc>
                          <a:spcPct val="13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經於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2026.01.28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檢查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HR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檔案存放區域，發現個人檔案櫃未上鎖，且該區域人員進出頻繁，存在資訊安全風險。</a:t>
                      </a:r>
                      <a:endParaRPr lang="zh-CN"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HR</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849518">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2</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 7.7</a:t>
                      </a:r>
                      <a:b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7.7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hình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endPar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桌面淨空及螢幕淨空</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Ghi nhận hồ sơ xin việc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vẫn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để</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tại</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vị</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trí</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không có người làm việc, chưa được quản lý phù hợp, tiềm ẩn rủi ro mất an toàn dữ liệu cá nhân.</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CN"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簡歷</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仍放置於無人辦公的位置，尚未妥善管理，存在個人資料安全風險</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HR</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849518">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3</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A5.13</a:t>
                      </a:r>
                    </a:p>
                    <a:p>
                      <a:pPr marL="0" marR="0" lvl="0" indent="0" algn="l" defTabSz="914400" rtl="0" eaLnBrk="1" fontAlgn="ctr" latinLnBrk="0" hangingPunct="1">
                        <a:lnSpc>
                          <a:spcPct val="130000"/>
                        </a:lnSpc>
                        <a:spcBef>
                          <a:spcPts val="0"/>
                        </a:spcBef>
                        <a:spcAft>
                          <a:spcPts val="0"/>
                        </a:spcAft>
                        <a:buClrTx/>
                        <a:buSzTx/>
                        <a:buFontTx/>
                        <a:buNone/>
                        <a:defRPr/>
                      </a:pP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A5.13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Ghi</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nhãn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tin</a:t>
                      </a:r>
                      <a:endParaRPr lang="vi-V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just" defTabSz="914400" rtl="0" eaLnBrk="1" fontAlgn="ctr" latinLnBrk="0" hangingPunct="1">
                        <a:lnSpc>
                          <a:spcPct val="130000"/>
                        </a:lnSpc>
                      </a:pP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標籤</a:t>
                      </a:r>
                      <a:endParaRPr lang="vi-V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thu</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mua</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trên</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máy</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tính</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TM25,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có</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tài</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liệu</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vẫn</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ch</a:t>
                      </a:r>
                      <a:r>
                        <a:rPr lang="vi-VN"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a đ</a:t>
                      </a:r>
                      <a:r>
                        <a:rPr lang="vi-VN"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ợc</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phân</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loại và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ghi</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nhãn</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tài</a:t>
                      </a:r>
                      <a:r>
                        <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liệu</a:t>
                      </a:r>
                      <a:endParaRPr lang="en-US" sz="1400" b="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auto" latinLnBrk="0" hangingPunct="1">
                        <a:lnSpc>
                          <a:spcPct val="130000"/>
                        </a:lnSpc>
                        <a:spcBef>
                          <a:spcPts val="0"/>
                        </a:spcBef>
                        <a:spcAft>
                          <a:spcPts val="0"/>
                        </a:spcAft>
                        <a:buClrTx/>
                        <a:buSzTx/>
                        <a:buFontTx/>
                        <a:buNone/>
                        <a:defRPr/>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a:t>
                      </a:r>
                      <a:r>
                        <a:rPr lang="zh-CN"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稽核</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採購時，發現在電腦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TM25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上仍有文件尚未進行分類與文件標示</a:t>
                      </a:r>
                      <a:endParaRPr lang="en-US" sz="1400" b="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Thu mua</a:t>
                      </a:r>
                    </a:p>
                    <a:p>
                      <a:pPr marL="0" marR="0" lvl="0" indent="0" algn="ctr" defTabSz="914400" rtl="0" eaLnBrk="1" fontAlgn="ctr" latinLnBrk="0" hangingPunct="1">
                        <a:lnSpc>
                          <a:spcPct val="130000"/>
                        </a:lnSpc>
                        <a:spcBef>
                          <a:spcPts val="0"/>
                        </a:spcBef>
                        <a:spcAft>
                          <a:spcPts val="0"/>
                        </a:spcAft>
                        <a:buClrTx/>
                        <a:buSzTx/>
                        <a:buFontTx/>
                        <a:buNone/>
                        <a:defRPr/>
                      </a:pP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採購</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1663238">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4</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 7.7</a:t>
                      </a:r>
                      <a:b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7.7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hình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endPar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桌面淨空及螢幕淨空</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a:lnSpc>
                          <a:spcPct val="130000"/>
                        </a:lnSpc>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máy in thu mua, phát hiện có tài liệu đã in ra nhưng chưa được lấy đi. Đề nghị các bộ phận tiến hành tuyên truyền, nhắc nhở để tránh tình trạng tương tự</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檢查屬於採購部門的印表機時，發現有列印後未取走的文件，也請各部門進行宣導</a:t>
                      </a:r>
                      <a:endParaRPr lang="en-US" altLang="zh-TW"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auto" latinLnBrk="0" hangingPunct="1">
                        <a:lnSpc>
                          <a:spcPct val="130000"/>
                        </a:lnSpc>
                        <a:spcBef>
                          <a:spcPts val="0"/>
                        </a:spcBef>
                        <a:spcAft>
                          <a:spcPts val="0"/>
                        </a:spcAft>
                        <a:buClrTx/>
                        <a:buSzTx/>
                        <a:buFontTx/>
                        <a:buNone/>
                        <a:defRPr/>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Phát hiện hóa đơn và báo giá được để trên bàn làm việc tại vị trí không có người sử dụng, chưa được thu gom và lưu trữ đúng quy định</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auto" latinLnBrk="0" hangingPunct="1">
                        <a:lnSpc>
                          <a:spcPct val="130000"/>
                        </a:lnSpc>
                        <a:spcBef>
                          <a:spcPts val="0"/>
                        </a:spcBef>
                        <a:spcAft>
                          <a:spcPts val="0"/>
                        </a:spcAft>
                        <a:buClrTx/>
                        <a:buSzTx/>
                        <a:buFontTx/>
                        <a:buNone/>
                        <a:defRPr/>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發現發票及報價單被放置於無人使用之辦公桌上，尚未依規定進行收集與妥善存放</a:t>
                      </a:r>
                      <a:endParaRPr lang="zh-CN"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Thu mua</a:t>
                      </a:r>
                    </a:p>
                    <a:p>
                      <a:pPr marL="0" marR="0" lvl="0" indent="0" algn="ctr" defTabSz="914400" rtl="0" eaLnBrk="1" fontAlgn="ctr" latinLnBrk="0" hangingPunct="1">
                        <a:lnSpc>
                          <a:spcPct val="130000"/>
                        </a:lnSpc>
                        <a:spcBef>
                          <a:spcPts val="0"/>
                        </a:spcBef>
                        <a:spcAft>
                          <a:spcPts val="0"/>
                        </a:spcAft>
                        <a:buClrTx/>
                        <a:buSzTx/>
                        <a:buFontTx/>
                        <a:buNone/>
                        <a:defRPr/>
                      </a:pP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採購</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3" name="Rectangle 2"/>
          <p:cNvSpPr/>
          <p:nvPr/>
        </p:nvSpPr>
        <p:spPr>
          <a:xfrm>
            <a:off x="315124" y="735309"/>
            <a:ext cx="4611199" cy="369332"/>
          </a:xfrm>
          <a:prstGeom prst="rect">
            <a:avLst/>
          </a:prstGeom>
        </p:spPr>
        <p:txBody>
          <a:bodyPr wrap="none">
            <a:spAutoFit/>
          </a:bodyPr>
          <a:lstStyle/>
          <a:p>
            <a:r>
              <a:rPr lang="en-US" altLang="zh-TW"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3. HẠNG MỤC QUAN SÁT </a:t>
            </a:r>
            <a:r>
              <a:rPr lang="zh-TW" altLang="en-US"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觀察事項 </a:t>
            </a:r>
            <a:r>
              <a:rPr lang="en-US" altLang="zh-TW" b="1"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(OBS)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07805490"/>
              </p:ext>
            </p:extLst>
          </p:nvPr>
        </p:nvGraphicFramePr>
        <p:xfrm>
          <a:off x="199878" y="985142"/>
          <a:ext cx="11792243" cy="5502677"/>
        </p:xfrm>
        <a:graphic>
          <a:graphicData uri="http://schemas.openxmlformats.org/drawingml/2006/table">
            <a:tbl>
              <a:tblPr>
                <a:tableStyleId>{5C22544A-7EE6-4342-B048-85BDC9FD1C3A}</a:tableStyleId>
              </a:tblPr>
              <a:tblGrid>
                <a:gridCol w="512070">
                  <a:extLst>
                    <a:ext uri="{9D8B030D-6E8A-4147-A177-3AD203B41FA5}">
                      <a16:colId xmlns:a16="http://schemas.microsoft.com/office/drawing/2014/main" val="20000"/>
                    </a:ext>
                  </a:extLst>
                </a:gridCol>
                <a:gridCol w="1694986">
                  <a:extLst>
                    <a:ext uri="{9D8B030D-6E8A-4147-A177-3AD203B41FA5}">
                      <a16:colId xmlns:a16="http://schemas.microsoft.com/office/drawing/2014/main" val="20001"/>
                    </a:ext>
                  </a:extLst>
                </a:gridCol>
                <a:gridCol w="2397512">
                  <a:extLst>
                    <a:ext uri="{9D8B030D-6E8A-4147-A177-3AD203B41FA5}">
                      <a16:colId xmlns:a16="http://schemas.microsoft.com/office/drawing/2014/main" val="20002"/>
                    </a:ext>
                  </a:extLst>
                </a:gridCol>
                <a:gridCol w="5274527">
                  <a:extLst>
                    <a:ext uri="{9D8B030D-6E8A-4147-A177-3AD203B41FA5}">
                      <a16:colId xmlns:a16="http://schemas.microsoft.com/office/drawing/2014/main" val="20003"/>
                    </a:ext>
                  </a:extLst>
                </a:gridCol>
                <a:gridCol w="1913148">
                  <a:extLst>
                    <a:ext uri="{9D8B030D-6E8A-4147-A177-3AD203B41FA5}">
                      <a16:colId xmlns:a16="http://schemas.microsoft.com/office/drawing/2014/main" val="20004"/>
                    </a:ext>
                  </a:extLst>
                </a:gridCol>
              </a:tblGrid>
              <a:tr h="576537">
                <a:tc>
                  <a:txBody>
                    <a:bodyPr/>
                    <a:lstStyle/>
                    <a:p>
                      <a:pPr marL="0" algn="ctr" defTabSz="914400" rtl="0" eaLnBrk="1" fontAlgn="ctr" latinLnBrk="0" hangingPunct="1"/>
                      <a:r>
                        <a:rPr lang="en-US" altLang="zh-CN"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STT</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khoản</a:t>
                      </a:r>
                      <a:b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Hạng</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mục</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soát</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要求項目</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TW"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發現稽核</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trách</a:t>
                      </a:r>
                      <a:endPar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擔當</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1048351">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5</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 7.7</a:t>
                      </a:r>
                      <a:b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7.7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hình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endPar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桌面淨空及螢幕淨空</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20000"/>
                        </a:lnSpc>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Tại bộ phận Kinh doanh,</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hóa đơn và báo giá để trên bàn làm việc tại vị trí không có người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chưa được</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cất</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giữ</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phù hợp</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just" defTabSz="914400" rtl="0" eaLnBrk="1" fontAlgn="ctr" latinLnBrk="0" hangingPunct="1">
                        <a:lnSpc>
                          <a:spcPct val="12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於業務部門，發現發票及報價單放置於無人辦公之工作桌上，尚未妥善保存</a:t>
                      </a:r>
                      <a:endParaRPr lang="zh-CN"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Kinh</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doanh</a:t>
                      </a:r>
                      <a:endPar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lnSpc>
                          <a:spcPct val="130000"/>
                        </a:lnSpc>
                      </a:pPr>
                      <a:r>
                        <a:rPr lang="zh-CN" altLang="en-US" sz="1400" b="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業務</a:t>
                      </a:r>
                      <a:endParaRPr lang="en-US" sz="1400" b="0" u="none" strike="noStrike" kern="1200" dirty="0">
                        <a:solidFill>
                          <a:srgbClr val="FF0000"/>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1060443">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6</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 7.7</a:t>
                      </a:r>
                      <a:b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7.7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hình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endPar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桌面淨空及螢幕淨空</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20000"/>
                        </a:lnSpc>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Ghi nhận máy tính KD-16363 đang hiển thị nhiều tài liệu chưa được phân loại, đồng thời lưu shortcut truy cập file server trên màn hình desktop</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just" defTabSz="914400" rtl="0" eaLnBrk="1" fontAlgn="ctr" latinLnBrk="0" hangingPunct="1">
                        <a:lnSpc>
                          <a:spcPct val="120000"/>
                        </a:lnSpc>
                      </a:pP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KD-16363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電腦正顯示多份尚未分類的文件，且於桌面上儲存了可存取檔案伺服器的捷徑</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Kinh</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doanh</a:t>
                      </a:r>
                      <a:endPar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lnSpc>
                          <a:spcPct val="130000"/>
                        </a:lnSpc>
                      </a:pPr>
                      <a:r>
                        <a:rPr lang="zh-CN" altLang="en-US" sz="1400" b="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業務</a:t>
                      </a:r>
                      <a:endParaRPr lang="en-US" sz="1400" b="0" u="none" strike="noStrike" kern="1200" dirty="0">
                        <a:solidFill>
                          <a:srgbClr val="FF0000"/>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2589196">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7</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hụ lục</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 8.19</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vi-VN"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 8.19</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Cài</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đặt</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phần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mềm</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trên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hệ</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hành</a:t>
                      </a:r>
                      <a:endPar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ctr" latinLnBrk="0" hangingPunct="1">
                        <a:lnSpc>
                          <a:spcPct val="13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運作中系統之軟體安裝</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20000"/>
                        </a:lnSpc>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phát hiện tại các bộ phận Mua hàng, Kinh doanh và </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aifa đều có nhân viên sử dụng phần mềm OBS Studio. Phần mềm này từng bị tin tặc lợi dụng vào năm 2021 để thực hiện tấn công “watering hole”, dẫn đến rò rỉ dữ liệu doanh nghiệp. Khuyến nghị các bộ phận không tiếp tục sử dụng phần mềm này để ghi màn hình.</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nSpc>
                          <a:spcPct val="12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經查採購部門、業務部門、開發部門皆有發現同仁使用</a:t>
                      </a:r>
                      <a:r>
                        <a:rPr lang="en-US" sz="1400"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Obs</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studio</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軟體，此軟體曾於</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2021</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年時，被駭客利用此軟體進行水坑攻擊</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(Watering hole)</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，導致企業資料外洩，建議各部門不在使用此軟體進行螢幕錄製</a:t>
                      </a:r>
                      <a:endParaRPr lang="zh-CN"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algn="ct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oàn công ty</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全公司</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en-US"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IT hỗ trợ</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IT</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協助</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64503792"/>
              </p:ext>
            </p:extLst>
          </p:nvPr>
        </p:nvGraphicFramePr>
        <p:xfrm>
          <a:off x="199878" y="1132779"/>
          <a:ext cx="11792243" cy="5080203"/>
        </p:xfrm>
        <a:graphic>
          <a:graphicData uri="http://schemas.openxmlformats.org/drawingml/2006/table">
            <a:tbl>
              <a:tblPr>
                <a:tableStyleId>{5C22544A-7EE6-4342-B048-85BDC9FD1C3A}</a:tableStyleId>
              </a:tblPr>
              <a:tblGrid>
                <a:gridCol w="512070">
                  <a:extLst>
                    <a:ext uri="{9D8B030D-6E8A-4147-A177-3AD203B41FA5}">
                      <a16:colId xmlns:a16="http://schemas.microsoft.com/office/drawing/2014/main" val="20000"/>
                    </a:ext>
                  </a:extLst>
                </a:gridCol>
                <a:gridCol w="1694986">
                  <a:extLst>
                    <a:ext uri="{9D8B030D-6E8A-4147-A177-3AD203B41FA5}">
                      <a16:colId xmlns:a16="http://schemas.microsoft.com/office/drawing/2014/main" val="20001"/>
                    </a:ext>
                  </a:extLst>
                </a:gridCol>
                <a:gridCol w="2397512">
                  <a:extLst>
                    <a:ext uri="{9D8B030D-6E8A-4147-A177-3AD203B41FA5}">
                      <a16:colId xmlns:a16="http://schemas.microsoft.com/office/drawing/2014/main" val="20002"/>
                    </a:ext>
                  </a:extLst>
                </a:gridCol>
                <a:gridCol w="5274527">
                  <a:extLst>
                    <a:ext uri="{9D8B030D-6E8A-4147-A177-3AD203B41FA5}">
                      <a16:colId xmlns:a16="http://schemas.microsoft.com/office/drawing/2014/main" val="20003"/>
                    </a:ext>
                  </a:extLst>
                </a:gridCol>
                <a:gridCol w="1913148">
                  <a:extLst>
                    <a:ext uri="{9D8B030D-6E8A-4147-A177-3AD203B41FA5}">
                      <a16:colId xmlns:a16="http://schemas.microsoft.com/office/drawing/2014/main" val="20004"/>
                    </a:ext>
                  </a:extLst>
                </a:gridCol>
              </a:tblGrid>
              <a:tr h="524106">
                <a:tc>
                  <a:txBody>
                    <a:bodyPr/>
                    <a:lstStyle/>
                    <a:p>
                      <a:pPr marL="0" algn="ctr" defTabSz="914400" rtl="0" eaLnBrk="1" fontAlgn="ctr" latinLnBrk="0" hangingPunct="1"/>
                      <a:r>
                        <a:rPr lang="en-US" altLang="zh-CN"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STT</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khoản</a:t>
                      </a:r>
                      <a:b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Hạng</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mục</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soát</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要求項目</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TW"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發現稽核</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trách</a:t>
                      </a:r>
                      <a:endPar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擔當</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1191056">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8</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 7.7</a:t>
                      </a:r>
                      <a:b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7.7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hình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endPar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桌面淨空及螢幕淨空</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phát hiện máy tính </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Dap601</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hiển thị trên màn hình nhiều tài liệu chưa được phân loại</a:t>
                      </a:r>
                      <a:r>
                        <a:rPr lang="vi-V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lưu shortcut truy cập file server trên màn hình desktop</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a:t>
                      </a:r>
                    </a:p>
                    <a:p>
                      <a:pPr marL="0" algn="just" defTabSz="914400" rtl="0" eaLnBrk="1" fontAlgn="ctr" latinLnBrk="0" hangingPunct="1">
                        <a:lnSpc>
                          <a:spcPct val="13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經檢查發現，電腦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Dap601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的螢幕上顯示多份尚未分類的文件，並於桌面上儲存了可存取檔案伺服器的捷徑</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sz="1400" b="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Dập</a:t>
                      </a:r>
                      <a:r>
                        <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x</a:t>
                      </a:r>
                      <a:r>
                        <a:rPr lang="vi-VN"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sz="1400" b="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ởng</a:t>
                      </a:r>
                      <a:r>
                        <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6</a:t>
                      </a:r>
                    </a:p>
                    <a:p>
                      <a:pPr marL="0" algn="ctr" defTabSz="914400" rtl="0" eaLnBrk="1" fontAlgn="ctr" latinLnBrk="0" hangingPunct="1">
                        <a:lnSpc>
                          <a:spcPct val="130000"/>
                        </a:lnSpc>
                      </a:pPr>
                      <a:r>
                        <a:rPr lang="zh-CN" alt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六廠沖壓</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3160824">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9</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hụ lục</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 6.7 &amp; A.8.19 </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ctr" latinLnBrk="0" hangingPunct="1">
                        <a:lnSpc>
                          <a:spcPct val="13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vi-VN"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 6.7 &amp; A.8.19 </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từ</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xa</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p>
                    <a:p>
                      <a:pPr marL="0" algn="just"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Cài</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đặt</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phần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mềm</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trên hệ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hành</a:t>
                      </a:r>
                      <a:endPar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遠端工作</a:t>
                      </a:r>
                    </a:p>
                    <a:p>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作業系統上的軟體安裝</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phát hiện máy tính tại xưởng 6 CAT-LASER-PC được cài đặt các phần mềm điều khiển từ xa TeamViewer và AnyDesk. Trong trường hợp không có nhu cầu sử dụng, bắt buộc phải gỡ bỏ để tránh nguy cơ tin tặc lợi dụng lỗ hổng phần mềm gây tổn hại đến tài sản thông tin của công ty. Đồng thời đề nghị các đơn vị tiến hành tuyên truyền và gỡ bỏ; khi có nhu cầu sử dụng thì thực hiện đăng ký xin cài đặt lại.</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just" defTabSz="914400" rtl="0" eaLnBrk="1" fontAlgn="ctr" latinLnBrk="0" hangingPunct="1">
                        <a:lnSpc>
                          <a:spcPct val="130000"/>
                        </a:lnSpc>
                      </a:pP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經查六廠電腦名稱</a:t>
                      </a:r>
                      <a:r>
                        <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CAT-LASER-PC</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有安裝</a:t>
                      </a:r>
                      <a:r>
                        <a:rPr lang="en-US" sz="1400" b="0"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Teamviewer</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t>
                      </a:r>
                      <a:r>
                        <a:rPr lang="en-US" sz="1400" b="0"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anydesk</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遠端桌面程式，若無需使用時，必須解除安裝，以免駭客透過軟體漏洞，導致公司資訊資產損害，也請各單位進行宣導與移除，有需要時再申請安裝使用</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vi-VN"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Đơn vị sản xuất</a:t>
                      </a:r>
                      <a:endPar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ctr" defTabSz="914400" rtl="0" eaLnBrk="1" fontAlgn="ctr" latinLnBrk="0" hangingPunct="1">
                        <a:lnSpc>
                          <a:spcPct val="130000"/>
                        </a:lnSpc>
                        <a:spcBef>
                          <a:spcPts val="0"/>
                        </a:spcBef>
                        <a:spcAft>
                          <a:spcPts val="0"/>
                        </a:spcAft>
                        <a:buClrTx/>
                        <a:buSzTx/>
                        <a:buFontTx/>
                        <a:buNone/>
                        <a:defRPr/>
                      </a:pPr>
                      <a:r>
                        <a:rPr lang="zh-TW" alt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生產單位</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lnSpc>
                          <a:spcPct val="130000"/>
                        </a:lnSpc>
                      </a:pPr>
                      <a:endPar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lnSpc>
                          <a:spcPct val="130000"/>
                        </a:lnSpc>
                      </a:pPr>
                      <a:r>
                        <a:rPr lang="vi-VN"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IT hỗ trợ</a:t>
                      </a:r>
                      <a:endPar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lnSpc>
                          <a:spcPct val="130000"/>
                        </a:lnSpc>
                      </a:pPr>
                      <a:r>
                        <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IT</a:t>
                      </a:r>
                      <a:r>
                        <a:rPr lang="zh-TW" alt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協助</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99878" y="834567"/>
          <a:ext cx="11792243" cy="5832933"/>
        </p:xfrm>
        <a:graphic>
          <a:graphicData uri="http://schemas.openxmlformats.org/drawingml/2006/table">
            <a:tbl>
              <a:tblPr>
                <a:tableStyleId>{5C22544A-7EE6-4342-B048-85BDC9FD1C3A}</a:tableStyleId>
              </a:tblPr>
              <a:tblGrid>
                <a:gridCol w="512070">
                  <a:extLst>
                    <a:ext uri="{9D8B030D-6E8A-4147-A177-3AD203B41FA5}">
                      <a16:colId xmlns:a16="http://schemas.microsoft.com/office/drawing/2014/main" val="20000"/>
                    </a:ext>
                  </a:extLst>
                </a:gridCol>
                <a:gridCol w="1694986">
                  <a:extLst>
                    <a:ext uri="{9D8B030D-6E8A-4147-A177-3AD203B41FA5}">
                      <a16:colId xmlns:a16="http://schemas.microsoft.com/office/drawing/2014/main" val="20001"/>
                    </a:ext>
                  </a:extLst>
                </a:gridCol>
                <a:gridCol w="2165066">
                  <a:extLst>
                    <a:ext uri="{9D8B030D-6E8A-4147-A177-3AD203B41FA5}">
                      <a16:colId xmlns:a16="http://schemas.microsoft.com/office/drawing/2014/main" val="20002"/>
                    </a:ext>
                  </a:extLst>
                </a:gridCol>
                <a:gridCol w="5506973">
                  <a:extLst>
                    <a:ext uri="{9D8B030D-6E8A-4147-A177-3AD203B41FA5}">
                      <a16:colId xmlns:a16="http://schemas.microsoft.com/office/drawing/2014/main" val="20003"/>
                    </a:ext>
                  </a:extLst>
                </a:gridCol>
                <a:gridCol w="1913148">
                  <a:extLst>
                    <a:ext uri="{9D8B030D-6E8A-4147-A177-3AD203B41FA5}">
                      <a16:colId xmlns:a16="http://schemas.microsoft.com/office/drawing/2014/main" val="20004"/>
                    </a:ext>
                  </a:extLst>
                </a:gridCol>
              </a:tblGrid>
              <a:tr h="462594">
                <a:tc>
                  <a:txBody>
                    <a:bodyPr/>
                    <a:lstStyle/>
                    <a:p>
                      <a:pPr marL="0" algn="ctr" defTabSz="914400" rtl="0" eaLnBrk="1" fontAlgn="ctr" latinLnBrk="0" hangingPunct="1"/>
                      <a:r>
                        <a:rPr lang="en-US" altLang="zh-CN" sz="1600" b="1"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STT</a:t>
                      </a: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序號</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khoản</a:t>
                      </a:r>
                      <a:b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Hạng</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mục</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soát</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要求項目</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TW"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發現稽核</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trách</a:t>
                      </a:r>
                      <a:endPar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擔當</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3329176">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10</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altLang="zh-CN" sz="1400" u="none" strike="noStrike"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A.8.1</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4</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&amp; A.8.1</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9</a:t>
                      </a:r>
                      <a:endPar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ctr" latinLnBrk="0" hangingPunct="1">
                        <a:lnSpc>
                          <a:spcPct val="130000"/>
                        </a:lnSpc>
                        <a:spcBef>
                          <a:spcPts val="0"/>
                        </a:spcBef>
                        <a:spcAft>
                          <a:spcPts val="0"/>
                        </a:spcAft>
                        <a:buClrTx/>
                        <a:buSzTx/>
                        <a:buFontTx/>
                        <a:buNone/>
                        <a:defRPr/>
                      </a:pPr>
                      <a:r>
                        <a:rPr lang="zh-TW" alt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A.8.1</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4</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&amp; A.8.1</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9</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 typeface="Segoe UI Symbol" panose="020B0502040204020203" pitchFamily="34" charset="0"/>
                        <a:buNone/>
                        <a:defRPr/>
                      </a:pP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Dự</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phòng</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các</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a:t>
                      </a:r>
                      <a:r>
                        <a:rPr lang="vi-VN"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ơng</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tiện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xử</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lý</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tin </a:t>
                      </a:r>
                    </a:p>
                    <a:p>
                      <a:pPr marL="0" marR="0" lvl="0" indent="0" algn="l" defTabSz="914400" rtl="0" eaLnBrk="1" fontAlgn="ctr" latinLnBrk="0" hangingPunct="1">
                        <a:lnSpc>
                          <a:spcPct val="130000"/>
                        </a:lnSpc>
                        <a:spcBef>
                          <a:spcPts val="0"/>
                        </a:spcBef>
                        <a:spcAft>
                          <a:spcPts val="0"/>
                        </a:spcAft>
                        <a:buClrTx/>
                        <a:buSzTx/>
                        <a:buFont typeface="Segoe UI Symbol" panose="020B0502040204020203" pitchFamily="34" charset="0"/>
                        <a:buNone/>
                        <a:defRPr/>
                      </a:pP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Cài</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đặt</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phần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mềm</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trên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hệ</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hành</a:t>
                      </a:r>
                      <a:endPar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資訊處理設施的備援</a:t>
                      </a:r>
                    </a:p>
                    <a:p>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作業系統上的軟體安裝</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20000"/>
                        </a:lnSpc>
                        <a:spcBef>
                          <a:spcPts val="0"/>
                        </a:spcBef>
                        <a:spcAft>
                          <a:spcPts val="0"/>
                        </a:spcAft>
                        <a:buClrTx/>
                        <a:buSzTx/>
                        <a:buFontTx/>
                        <a:buNone/>
                        <a:defRPr/>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các hệ thống ERP AP, ERP DB và phần mềm diệt virus Kaspersky, phát hiện tất cả đều đang sử dụng Windows Server 2012 (Microsoft đã chính thức chấm dứt hỗ trợ vào ngày 10/10/2023), đồng thời phần cứng là thiết bị được sản xuất từ khoảng 18 năm trước. Việc này cho thấy chưa thực hiện hiệu quả công tác quản lý lỗ hổng kỹ thuật đối với phần cứng đã hết vòng đời (End-of-Life), dẫn đến hệ thống bị phơi nhiễm trước các lỗ hổng phần cứng đã được biết đến nhưng không thể vá. Khuyến nghị tiến hành thay thế, mua sắm máy chủ mới và các giấy phép bản quyền liên quan.</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經查</a:t>
                      </a:r>
                      <a:r>
                        <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ERP AP</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t>
                      </a:r>
                      <a:r>
                        <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ERP DB</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、卡巴斯基防毒軟體，皆是使用</a:t>
                      </a:r>
                      <a:r>
                        <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Windows server 2012(</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微軟已於</a:t>
                      </a:r>
                      <a:r>
                        <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2023 </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年</a:t>
                      </a:r>
                      <a:r>
                        <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10 </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月</a:t>
                      </a:r>
                      <a:r>
                        <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10 </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日終止支援</a:t>
                      </a:r>
                      <a:r>
                        <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，且硬體設備是</a:t>
                      </a:r>
                      <a:r>
                        <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18</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年前產物，未能有效管理過時（</a:t>
                      </a:r>
                      <a:r>
                        <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End-of-Life</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）硬體之技術脆弱性，導致系統暴露於已知且無法修補之硬體漏洞風險中。建議汰換，並請購新伺服器及授權</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sz="1400" b="0" u="none" strike="noStrike" kern="1200" dirty="0">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IT</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405753">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11</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A5.13</a:t>
                      </a:r>
                      <a:endParaRPr lang="zh-CN" alt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Ghi</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nhãn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tin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標籤</a:t>
                      </a:r>
                      <a:endParaRPr lang="vi-V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Trên máy tính MIS14,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nhiều</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tài liệu chưa được thực hiện phân loại và ghi nhãn theo quy định.</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MIS14</a:t>
                      </a:r>
                      <a:r>
                        <a:rPr lang="vi-VN"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電腦上，發現多份文件尚未依規定進行分類與標示</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sz="1400" b="0" u="none" strike="noStrike" kern="1200" dirty="0">
                          <a:solidFill>
                            <a:srgbClr val="000000"/>
                          </a:solidFill>
                          <a:effectLst/>
                          <a:latin typeface="Times New Roman" panose="02020603050405020304" pitchFamily="18" charset="0"/>
                          <a:ea typeface="Microsoft JhengHei" panose="020B0604030504040204" pitchFamily="34" charset="-120"/>
                          <a:cs typeface="Times New Roman" panose="02020603050405020304" pitchFamily="18" charset="0"/>
                        </a:rPr>
                        <a:t>IT</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630951">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12</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A5.13</a:t>
                      </a:r>
                      <a:endParaRPr lang="zh-CN" alt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just" defTabSz="914400" rtl="0" eaLnBrk="1" fontAlgn="ctr" latinLnBrk="0" hangingPunct="1">
                        <a:lnSpc>
                          <a:spcPct val="130000"/>
                        </a:lnSpc>
                        <a:spcBef>
                          <a:spcPts val="0"/>
                        </a:spcBef>
                        <a:spcAft>
                          <a:spcPts val="0"/>
                        </a:spcAft>
                        <a:buClrTx/>
                        <a:buSzTx/>
                        <a:buFontTx/>
                        <a:buNone/>
                        <a:defRPr/>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Ghi</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nhãn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tin</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標籤</a:t>
                      </a:r>
                      <a:endParaRPr lang="vi-V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Trên máy tính VPX124</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QLSX602</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của bộ phận QLSX, ghi nhận tài liệu chưa được thực hiện phân loại và ghi nhãn theo quy định.</a:t>
                      </a:r>
                    </a:p>
                    <a:p>
                      <a:pPr marL="0" marR="0" lvl="0" indent="0" algn="l" defTabSz="914400" rtl="0" eaLnBrk="1" fontAlgn="ctr" latinLnBrk="0" hangingPunct="1">
                        <a:lnSpc>
                          <a:spcPct val="130000"/>
                        </a:lnSpc>
                        <a:spcBef>
                          <a:spcPts val="0"/>
                        </a:spcBef>
                        <a:spcAft>
                          <a:spcPts val="0"/>
                        </a:spcAft>
                        <a:buClrTx/>
                        <a:buSzTx/>
                        <a:buFontTx/>
                        <a:buNone/>
                        <a:defRPr/>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a:t>
                      </a:r>
                      <a:r>
                        <a:rPr lang="zh-CN"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生管部</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的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VPX124</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QLSX602</a:t>
                      </a:r>
                      <a:r>
                        <a:rPr lang="vi-VN"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電腦上，記錄顯示文件尚未依規定進行分類與標示</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QLSX </a:t>
                      </a:r>
                      <a:r>
                        <a:rPr lang="zh-CN" alt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生管</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99878" y="829796"/>
          <a:ext cx="11792243" cy="5910154"/>
        </p:xfrm>
        <a:graphic>
          <a:graphicData uri="http://schemas.openxmlformats.org/drawingml/2006/table">
            <a:tbl>
              <a:tblPr>
                <a:tableStyleId>{5C22544A-7EE6-4342-B048-85BDC9FD1C3A}</a:tableStyleId>
              </a:tblPr>
              <a:tblGrid>
                <a:gridCol w="512070">
                  <a:extLst>
                    <a:ext uri="{9D8B030D-6E8A-4147-A177-3AD203B41FA5}">
                      <a16:colId xmlns:a16="http://schemas.microsoft.com/office/drawing/2014/main" val="20000"/>
                    </a:ext>
                  </a:extLst>
                </a:gridCol>
                <a:gridCol w="1694986">
                  <a:extLst>
                    <a:ext uri="{9D8B030D-6E8A-4147-A177-3AD203B41FA5}">
                      <a16:colId xmlns:a16="http://schemas.microsoft.com/office/drawing/2014/main" val="20001"/>
                    </a:ext>
                  </a:extLst>
                </a:gridCol>
                <a:gridCol w="2397512">
                  <a:extLst>
                    <a:ext uri="{9D8B030D-6E8A-4147-A177-3AD203B41FA5}">
                      <a16:colId xmlns:a16="http://schemas.microsoft.com/office/drawing/2014/main" val="20002"/>
                    </a:ext>
                  </a:extLst>
                </a:gridCol>
                <a:gridCol w="5274527">
                  <a:extLst>
                    <a:ext uri="{9D8B030D-6E8A-4147-A177-3AD203B41FA5}">
                      <a16:colId xmlns:a16="http://schemas.microsoft.com/office/drawing/2014/main" val="20003"/>
                    </a:ext>
                  </a:extLst>
                </a:gridCol>
                <a:gridCol w="1913148">
                  <a:extLst>
                    <a:ext uri="{9D8B030D-6E8A-4147-A177-3AD203B41FA5}">
                      <a16:colId xmlns:a16="http://schemas.microsoft.com/office/drawing/2014/main" val="20004"/>
                    </a:ext>
                  </a:extLst>
                </a:gridCol>
              </a:tblGrid>
              <a:tr h="436163">
                <a:tc>
                  <a:txBody>
                    <a:bodyPr/>
                    <a:lstStyle/>
                    <a:p>
                      <a:pPr marL="0" algn="ctr" defTabSz="914400" rtl="0" eaLnBrk="1" fontAlgn="ctr" latinLnBrk="0" hangingPunct="1"/>
                      <a:r>
                        <a:rPr lang="en-US" altLang="zh-CN" sz="1600" b="1"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STT</a:t>
                      </a: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序號</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khoản</a:t>
                      </a:r>
                      <a:b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Hạng</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mục</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soát</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要求項目</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endParaRPr lang="en-US" sz="16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TW"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發現稽核</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6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trách</a:t>
                      </a:r>
                      <a:endParaRPr lang="en-US" sz="16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擔當</a:t>
                      </a:r>
                      <a:endParaRPr lang="en-US" sz="16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1803306">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13</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defRPr/>
                      </a:pP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hụ lục</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 8.19</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ctr" latinLnBrk="0" hangingPunct="1">
                        <a:lnSpc>
                          <a:spcPct val="15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vi-VN"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 8.19</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 typeface="Segoe UI Symbol" panose="020B0502040204020203" pitchFamily="34" charset="0"/>
                        <a:buNone/>
                        <a:defRPr/>
                      </a:pP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Cài</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đặt</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phần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mềm</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trên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hệ</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hành</a:t>
                      </a:r>
                      <a:endPar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ctr" latinLnBrk="0" hangingPunct="1">
                        <a:lnSpc>
                          <a:spcPct val="15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運作中系統之軟體安裝</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algn="just">
                        <a:lnSpc>
                          <a:spcPct val="150000"/>
                        </a:lnSpc>
                      </a:pP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phát hiện máy tính của bộ phận QC </a:t>
                      </a:r>
                      <a:r>
                        <a:rPr lang="vi-VN" sz="1400" b="1"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QC-24125</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được cài đặt phần mềm giải mã đa phương tiện </a:t>
                      </a:r>
                      <a:r>
                        <a:rPr lang="vi-VN" sz="1400" b="1"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K-Lite Mega Codec Pack</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Phần mềm này tồn tại lỗ hổng phá hủy bộ nhớ, khuyến nghị tiến hành gỡ bỏ.</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just">
                        <a:lnSpc>
                          <a:spcPct val="15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經查品管部電腦名稱</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QC-24125</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有安裝多媒體邊解碼軟體</a:t>
                      </a: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K-Lite Mega Codec Pack</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，此軟體內存破壞漏洞，建議將之移除。</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50000"/>
                        </a:lnSpc>
                        <a:spcBef>
                          <a:spcPts val="0"/>
                        </a:spcBef>
                        <a:spcAft>
                          <a:spcPts val="0"/>
                        </a:spcAft>
                        <a:buClrTx/>
                        <a:buSzTx/>
                        <a:buFontTx/>
                        <a:buNone/>
                        <a:defRPr/>
                      </a:pPr>
                      <a:r>
                        <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QC</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1063671">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14</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defRPr/>
                      </a:pPr>
                      <a:r>
                        <a:rPr lang="en-US" altLang="zh-CN" sz="1400" u="none" strike="noStrike"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A5.13</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50000"/>
                        </a:lnSpc>
                      </a:pP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Ghi</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nhãn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tin</a:t>
                      </a:r>
                    </a:p>
                    <a:p>
                      <a:pPr marL="0" algn="just" defTabSz="914400" rtl="0" eaLnBrk="1" fontAlgn="ctr" latinLnBrk="0" hangingPunct="1">
                        <a:lnSpc>
                          <a:spcPct val="150000"/>
                        </a:lnSpc>
                      </a:pPr>
                      <a:r>
                        <a:rPr lang="zh-CN"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標籤</a:t>
                      </a:r>
                      <a:endPar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algn="just">
                        <a:lnSpc>
                          <a:spcPct val="150000"/>
                        </a:lnSpc>
                      </a:pP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hi nhận trên máy tính QC103 tại bộ phận QC vẫn tồn tại tài liệu chưa được phân loại và ghi nhãn theo quy định</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just">
                        <a:lnSpc>
                          <a:spcPct val="15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經檢查，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QC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部門之電腦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QC103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上仍存在尚未依規定進行分類與標示的文件</a:t>
                      </a:r>
                      <a:endPar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50000"/>
                        </a:lnSpc>
                      </a:pPr>
                      <a:r>
                        <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QC</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1186399">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15</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 7.7</a:t>
                      </a:r>
                      <a:b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7.7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hình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endPar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桌面淨空及螢幕淨空</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Tại bộ phận Xi mạ, ghi nhận máy tính Xima04 hiển thị nhiều tài liệu chưa được phân loại, lưu shortcut truy cập file server trên màn hình desktop, tiềm ẩn nguy cơ lộ thông tin.</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just" defTabSz="914400" rtl="0" eaLnBrk="1" fontAlgn="ctr" latinLnBrk="0" hangingPunct="1">
                        <a:lnSpc>
                          <a:spcPct val="13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於電鍍部門，</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Xima04</a:t>
                      </a:r>
                      <a:r>
                        <a:rPr lang="zh-CN"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電腦</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的螢幕上顯示多份尚未分類的文件，並於桌面上儲存可存取檔案伺服器的捷徑，存在資訊外洩風險</a:t>
                      </a:r>
                      <a:endParaRPr lang="zh-CN"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Xi </a:t>
                      </a:r>
                      <a:r>
                        <a:rPr lang="en-US" sz="1400" b="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mạ</a:t>
                      </a:r>
                      <a:endPar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lnSpc>
                          <a:spcPct val="130000"/>
                        </a:lnSpc>
                      </a:pPr>
                      <a:r>
                        <a:rPr lang="zh-CN" alt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電鍍</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965350">
                <a:tc>
                  <a:txBody>
                    <a:bodyPr/>
                    <a:lstStyle/>
                    <a:p>
                      <a:pPr marL="0" algn="ctr" defTabSz="914400" rtl="0" eaLnBrk="1" fontAlgn="ctr" latinLnBrk="0" hangingPunct="1">
                        <a:lnSpc>
                          <a:spcPct val="130000"/>
                        </a:lnSpc>
                      </a:pPr>
                      <a:r>
                        <a:rPr lang="vi-VN"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16</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A5.13</a:t>
                      </a:r>
                    </a:p>
                    <a:p>
                      <a:pPr marL="0" marR="0" lvl="0" indent="0" algn="l" defTabSz="914400" rtl="0" eaLnBrk="1" fontAlgn="ctr" latinLnBrk="0" hangingPunct="1">
                        <a:lnSpc>
                          <a:spcPct val="130000"/>
                        </a:lnSpc>
                        <a:spcBef>
                          <a:spcPts val="0"/>
                        </a:spcBef>
                        <a:spcAft>
                          <a:spcPts val="0"/>
                        </a:spcAft>
                        <a:buClrTx/>
                        <a:buSzTx/>
                        <a:buFontTx/>
                        <a:buNone/>
                        <a:defRPr/>
                      </a:pP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A5.13</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Ghi</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nhãn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tin</a:t>
                      </a:r>
                      <a:endParaRPr lang="vi-V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just" defTabSz="914400" rtl="0" eaLnBrk="1" fontAlgn="ctr" latinLnBrk="0" hangingPunct="1">
                        <a:lnSpc>
                          <a:spcPct val="130000"/>
                        </a:lnSpc>
                        <a:spcBef>
                          <a:spcPts val="0"/>
                        </a:spcBef>
                        <a:spcAft>
                          <a:spcPts val="0"/>
                        </a:spcAft>
                        <a:buClrTx/>
                        <a:buSzTx/>
                        <a:buFontTx/>
                        <a:buNone/>
                        <a:defRPr/>
                      </a:pPr>
                      <a:r>
                        <a:rPr lang="zh-CN"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標籤</a:t>
                      </a:r>
                      <a:endParaRPr lang="vi-VN"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Trên máy tính KM06, KM07,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nhiều</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tài liệu chưa được thực hiện phân loại và ghi nhãn theo quy định.</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KM06</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KM07</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電腦上，發現多份文件尚未依規定進行分類與標示</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ctr" defTabSz="914400" rtl="0" eaLnBrk="1" fontAlgn="ctr" latinLnBrk="0" hangingPunct="1">
                        <a:lnSpc>
                          <a:spcPct val="130000"/>
                        </a:lnSpc>
                      </a:pPr>
                      <a:r>
                        <a:rPr lang="vi-VN"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Khuôn mẫu</a:t>
                      </a:r>
                      <a:endPar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lnSpc>
                          <a:spcPct val="130000"/>
                        </a:lnSpc>
                      </a:pPr>
                      <a:r>
                        <a:rPr lang="zh-CN" alt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模具</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3017987"/>
              </p:ext>
            </p:extLst>
          </p:nvPr>
        </p:nvGraphicFramePr>
        <p:xfrm>
          <a:off x="185590" y="782238"/>
          <a:ext cx="11792243" cy="5983135"/>
        </p:xfrm>
        <a:graphic>
          <a:graphicData uri="http://schemas.openxmlformats.org/drawingml/2006/table">
            <a:tbl>
              <a:tblPr>
                <a:tableStyleId>{5C22544A-7EE6-4342-B048-85BDC9FD1C3A}</a:tableStyleId>
              </a:tblPr>
              <a:tblGrid>
                <a:gridCol w="512070">
                  <a:extLst>
                    <a:ext uri="{9D8B030D-6E8A-4147-A177-3AD203B41FA5}">
                      <a16:colId xmlns:a16="http://schemas.microsoft.com/office/drawing/2014/main" val="20000"/>
                    </a:ext>
                  </a:extLst>
                </a:gridCol>
                <a:gridCol w="1221408">
                  <a:extLst>
                    <a:ext uri="{9D8B030D-6E8A-4147-A177-3AD203B41FA5}">
                      <a16:colId xmlns:a16="http://schemas.microsoft.com/office/drawing/2014/main" val="20001"/>
                    </a:ext>
                  </a:extLst>
                </a:gridCol>
                <a:gridCol w="1838544">
                  <a:extLst>
                    <a:ext uri="{9D8B030D-6E8A-4147-A177-3AD203B41FA5}">
                      <a16:colId xmlns:a16="http://schemas.microsoft.com/office/drawing/2014/main" val="20002"/>
                    </a:ext>
                  </a:extLst>
                </a:gridCol>
                <a:gridCol w="6905406">
                  <a:extLst>
                    <a:ext uri="{9D8B030D-6E8A-4147-A177-3AD203B41FA5}">
                      <a16:colId xmlns:a16="http://schemas.microsoft.com/office/drawing/2014/main" val="20003"/>
                    </a:ext>
                  </a:extLst>
                </a:gridCol>
                <a:gridCol w="1314815">
                  <a:extLst>
                    <a:ext uri="{9D8B030D-6E8A-4147-A177-3AD203B41FA5}">
                      <a16:colId xmlns:a16="http://schemas.microsoft.com/office/drawing/2014/main" val="20004"/>
                    </a:ext>
                  </a:extLst>
                </a:gridCol>
              </a:tblGrid>
              <a:tr h="430759">
                <a:tc>
                  <a:txBody>
                    <a:bodyPr/>
                    <a:lstStyle/>
                    <a:p>
                      <a:pPr marL="0" algn="ctr" defTabSz="914400" rtl="0" eaLnBrk="1" fontAlgn="ctr" latinLnBrk="0" hangingPunct="1"/>
                      <a:r>
                        <a:rPr lang="en-US" altLang="zh-CN" sz="1400" b="1"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NO</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khoản</a:t>
                      </a:r>
                      <a:br>
                        <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4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Hạng</a:t>
                      </a:r>
                      <a:r>
                        <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mục</a:t>
                      </a:r>
                      <a:r>
                        <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kiểm</a:t>
                      </a:r>
                      <a:r>
                        <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soát</a:t>
                      </a:r>
                      <a:endPar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4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要求項目</a:t>
                      </a:r>
                      <a:endParaRPr lang="en-US" sz="14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1"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endPar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TW" altLang="en-US" sz="14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發現稽核</a:t>
                      </a:r>
                      <a:endParaRPr lang="en-US" sz="14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tc>
                  <a:txBody>
                    <a:bodyPr/>
                    <a:lstStyle/>
                    <a:p>
                      <a:pPr marL="0" algn="ctr" defTabSz="914400" rtl="0" eaLnBrk="1" fontAlgn="ctr" latinLnBrk="0" hangingPunct="1"/>
                      <a:r>
                        <a:rPr lang="en-US" sz="1400" b="1"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BP</a:t>
                      </a:r>
                      <a:r>
                        <a:rPr lang="en-US" sz="14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1"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trách</a:t>
                      </a:r>
                      <a:endParaRPr lang="en-US" sz="1400" b="1"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ctr" defTabSz="914400" rtl="0" eaLnBrk="1" fontAlgn="ctr" latinLnBrk="0" hangingPunct="1"/>
                      <a:r>
                        <a:rPr lang="zh-CN" altLang="en-US" sz="14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擔當</a:t>
                      </a:r>
                      <a:endParaRPr lang="en-US" sz="1400" b="1"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8433"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1351831">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a:t>
                      </a:r>
                      <a:r>
                        <a:rPr lang="vi-VN"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7</a:t>
                      </a:r>
                      <a:endParaRPr lang="zh-CN" alt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Tx/>
                        <a:buNone/>
                        <a:defRPr/>
                      </a:pP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A5.13</a:t>
                      </a:r>
                    </a:p>
                    <a:p>
                      <a:pPr marL="0" marR="0" lvl="0" indent="0" algn="l" defTabSz="914400" rtl="0" eaLnBrk="1" fontAlgn="ctr" latinLnBrk="0" hangingPunct="1">
                        <a:lnSpc>
                          <a:spcPct val="130000"/>
                        </a:lnSpc>
                        <a:spcBef>
                          <a:spcPts val="0"/>
                        </a:spcBef>
                        <a:spcAft>
                          <a:spcPts val="0"/>
                        </a:spcAft>
                        <a:buClrTx/>
                        <a:buSzTx/>
                        <a:buFontTx/>
                        <a:buNone/>
                        <a:defRPr/>
                      </a:pP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A5.13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just" defTabSz="914400" rtl="0" eaLnBrk="1" fontAlgn="ctr" latinLnBrk="0" hangingPunct="1">
                        <a:lnSpc>
                          <a:spcPct val="130000"/>
                        </a:lnSpc>
                      </a:pP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Ghi</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nhãn</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thông</a:t>
                      </a:r>
                      <a:r>
                        <a:rPr 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tin</a:t>
                      </a:r>
                    </a:p>
                    <a:p>
                      <a:pPr marL="0" algn="just" defTabSz="914400" rtl="0" eaLnBrk="1" fontAlgn="ctr" latinLnBrk="0" hangingPunct="1">
                        <a:lnSpc>
                          <a:spcPct val="130000"/>
                        </a:lnSpc>
                      </a:pP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標籤</a:t>
                      </a:r>
                      <a:endParaRPr lang="vi-V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just" defTabSz="914400" rtl="0" eaLnBrk="1" fontAlgn="ctr" latinLnBrk="0" hangingPunct="1">
                        <a:lnSpc>
                          <a:spcPct val="130000"/>
                        </a:lnSpc>
                        <a:spcBef>
                          <a:spcPts val="0"/>
                        </a:spcBef>
                        <a:spcAft>
                          <a:spcPts val="0"/>
                        </a:spcAft>
                        <a:buClrTx/>
                        <a:buSzTx/>
                        <a:buFontTx/>
                        <a:buNone/>
                        <a:defRPr/>
                      </a:pP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Đánh</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giá</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Kaifa</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máy</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tính</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KF01, KF35, KF80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có</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nhiều</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tài liệu chưa được phân loại và ghi nhãn theo quy định</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just" defTabSz="914400" rtl="0" eaLnBrk="1" fontAlgn="ctr" latinLnBrk="0" hangingPunct="1">
                        <a:lnSpc>
                          <a:spcPct val="130000"/>
                        </a:lnSpc>
                        <a:spcBef>
                          <a:spcPts val="0"/>
                        </a:spcBef>
                        <a:spcAft>
                          <a:spcPts val="0"/>
                        </a:spcAft>
                        <a:buClrTx/>
                        <a:buSzTx/>
                        <a:buFontTx/>
                        <a:buNone/>
                        <a:defRPr/>
                      </a:pP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Nhiều</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tài</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liệu</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shortcut truy cập file server</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l</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u</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trên màn hình desktop</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just" defTabSz="914400" rtl="0" eaLnBrk="1" fontAlgn="ctr" latinLnBrk="0" hangingPunct="1">
                        <a:lnSpc>
                          <a:spcPct val="130000"/>
                        </a:lnSpc>
                        <a:spcBef>
                          <a:spcPts val="0"/>
                        </a:spcBef>
                        <a:spcAft>
                          <a:spcPts val="0"/>
                        </a:spcAft>
                        <a:buClrTx/>
                        <a:buSzTx/>
                        <a:buFontTx/>
                        <a:buNone/>
                        <a:defRPr/>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a:t>
                      </a:r>
                      <a:r>
                        <a:rPr lang="zh-CN"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稽核開發</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部門時，發現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KF01</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KF35</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KF80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電腦上有多份文件尚未依規定進行分類與標示，且桌面上存放大量文件及可存取檔案伺服器的捷徑</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en-US" sz="1400" b="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Kaifa</a:t>
                      </a:r>
                      <a:endPar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ctr" defTabSz="914400" rtl="0" eaLnBrk="1" fontAlgn="ctr" latinLnBrk="0" hangingPunct="1">
                        <a:lnSpc>
                          <a:spcPct val="130000"/>
                        </a:lnSpc>
                        <a:spcBef>
                          <a:spcPts val="0"/>
                        </a:spcBef>
                        <a:spcAft>
                          <a:spcPts val="0"/>
                        </a:spcAft>
                        <a:buClrTx/>
                        <a:buSzTx/>
                        <a:buFontTx/>
                        <a:buNone/>
                        <a:defRPr/>
                      </a:pPr>
                      <a:r>
                        <a:rPr lang="zh-CN" alt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開發</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863053">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a:t>
                      </a:r>
                      <a:r>
                        <a:rPr lang="vi-VN"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8</a:t>
                      </a:r>
                      <a:endParaRPr lang="zh-CN" alt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 7.7</a:t>
                      </a:r>
                      <a:b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b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 </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 7.7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màn</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hình</a:t>
                      </a:r>
                      <a:r>
                        <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u="none" strike="noStrike" kern="1200" baseline="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sạch</a:t>
                      </a:r>
                      <a:endParaRPr lang="en-US" sz="1400" u="none" strike="noStrike" kern="1200" baseline="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桌面淨空及螢幕淨空</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ại một số vị trí không có người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làm</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việc</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phát</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hiện</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tồn tại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nhiều</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giấy tờ và bản vẽ để trên bàn làm việc, chưa được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cất</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giữ</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và lưu trữ phù hợp.</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auto" latinLnBrk="0" hangingPunct="1">
                        <a:lnSpc>
                          <a:spcPct val="130000"/>
                        </a:lnSpc>
                        <a:spcBef>
                          <a:spcPts val="0"/>
                        </a:spcBef>
                        <a:spcAft>
                          <a:spcPts val="0"/>
                        </a:spcAft>
                        <a:buClrTx/>
                        <a:buSzTx/>
                        <a:buFontTx/>
                        <a:buNone/>
                        <a:defRPr/>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於部分無人辦公的位置，發現工作桌上仍放置多份文件與圖紙，尚未妥善收納與保存</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en-US" sz="1400" b="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Kaifa</a:t>
                      </a:r>
                      <a:endPar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ctr" defTabSz="914400" rtl="0" eaLnBrk="1" fontAlgn="ctr" latinLnBrk="0" hangingPunct="1">
                        <a:lnSpc>
                          <a:spcPct val="130000"/>
                        </a:lnSpc>
                        <a:spcBef>
                          <a:spcPts val="0"/>
                        </a:spcBef>
                        <a:spcAft>
                          <a:spcPts val="0"/>
                        </a:spcAft>
                        <a:buClrTx/>
                        <a:buSzTx/>
                        <a:buFontTx/>
                        <a:buNone/>
                        <a:defRPr/>
                      </a:pPr>
                      <a:r>
                        <a:rPr lang="zh-CN" alt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開發</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1324884">
                <a:tc>
                  <a:txBody>
                    <a:bodyPr/>
                    <a:lstStyle/>
                    <a:p>
                      <a:pPr marL="0" algn="ctr" defTabSz="914400" rtl="0" eaLnBrk="1" fontAlgn="ctr" latinLnBrk="0" hangingPunct="1">
                        <a:lnSpc>
                          <a:spcPct val="130000"/>
                        </a:lnSpc>
                      </a:pP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1</a:t>
                      </a:r>
                      <a:r>
                        <a:rPr lang="vi-VN"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9</a:t>
                      </a:r>
                      <a:endParaRPr lang="zh-CN" altLang="en-US"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a:t>
                      </a:r>
                      <a:r>
                        <a:rPr lang="vi-VN"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hụ lục</a:t>
                      </a:r>
                      <a:r>
                        <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A 8.19</a:t>
                      </a:r>
                      <a:endParaRPr lang="en-US" sz="1400" u="none" strike="noStrike"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vi-V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 8.19</a:t>
                      </a:r>
                      <a:r>
                        <a:rPr 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30000"/>
                        </a:lnSpc>
                        <a:spcBef>
                          <a:spcPts val="0"/>
                        </a:spcBef>
                        <a:spcAft>
                          <a:spcPts val="0"/>
                        </a:spcAft>
                        <a:buClrTx/>
                        <a:buSzTx/>
                        <a:buFont typeface="Segoe UI Symbol" panose="020B0502040204020203" pitchFamily="34" charset="0"/>
                        <a:buNone/>
                        <a:defRPr/>
                      </a:pP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Cài</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đặt</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phần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mềm</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trên</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hệ</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điều</a:t>
                      </a:r>
                      <a:r>
                        <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hành</a:t>
                      </a:r>
                      <a:endParaRPr lang="en-US" altLang="zh-TW"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ctr" latinLnBrk="0" hangingPunct="1">
                        <a:lnSpc>
                          <a:spcPct val="13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運作中系統之軟體安裝</a:t>
                      </a:r>
                      <a:endPar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máy tính của kaifa, phát hiện phần lớn các máy tính đều có cài đặt phần mềm giải mã đa phương tiện ffdshow. Phần mềm giải mã này dễ gây treo hoặc sập hệ thống, khuyến nghị tiến hành gỡ bỏ.</a:t>
                      </a:r>
                      <a:endPar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l" defTabSz="914400" rtl="0" eaLnBrk="1" fontAlgn="auto" latinLnBrk="0" hangingPunct="1">
                        <a:lnSpc>
                          <a:spcPct val="130000"/>
                        </a:lnSpc>
                        <a:spcBef>
                          <a:spcPts val="0"/>
                        </a:spcBef>
                        <a:spcAft>
                          <a:spcPts val="0"/>
                        </a:spcAft>
                        <a:buClrTx/>
                        <a:buSzTx/>
                        <a:buFontTx/>
                        <a:buNone/>
                        <a:defRPr/>
                      </a:pP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經查開發部電腦，大部分電腦皆有安裝 </a:t>
                      </a:r>
                      <a:r>
                        <a:rPr lang="en-US" sz="1400" b="0" kern="1200" dirty="0" err="1">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ffdshow</a:t>
                      </a:r>
                      <a:r>
                        <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zh-TW" alt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多媒體編解碼軟體，此解碼軟體容易導致系統崩潰，建議將之移除</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en-US" sz="1400" b="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Kaifa</a:t>
                      </a:r>
                      <a:endPar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ctr" defTabSz="914400" rtl="0" eaLnBrk="1" fontAlgn="ctr" latinLnBrk="0" hangingPunct="1">
                        <a:lnSpc>
                          <a:spcPct val="130000"/>
                        </a:lnSpc>
                        <a:spcBef>
                          <a:spcPts val="0"/>
                        </a:spcBef>
                        <a:spcAft>
                          <a:spcPts val="0"/>
                        </a:spcAft>
                        <a:buClrTx/>
                        <a:buSzTx/>
                        <a:buFontTx/>
                        <a:buNone/>
                        <a:defRPr/>
                      </a:pPr>
                      <a:r>
                        <a:rPr lang="zh-CN" alt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開發</a:t>
                      </a:r>
                      <a:endParaRPr lang="en-US" sz="1400" b="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en-US"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IT hỗ trợ</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IT</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協助</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1862348">
                <a:tc>
                  <a:txBody>
                    <a:bodyPr/>
                    <a:lstStyle/>
                    <a:p>
                      <a:pPr marL="0" algn="ctr" defTabSz="914400" rtl="0" eaLnBrk="1" fontAlgn="ctr" latinLnBrk="0" hangingPunct="1">
                        <a:lnSpc>
                          <a:spcPct val="130000"/>
                        </a:lnSpc>
                      </a:pPr>
                      <a:r>
                        <a:rPr lang="vi-VN"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20</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Phụ</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lục</a:t>
                      </a:r>
                      <a:r>
                        <a:rPr lang="en-US" altLang="zh-CN" sz="1400" u="none" strike="noStrike"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A8.8</a:t>
                      </a:r>
                    </a:p>
                    <a:p>
                      <a:pPr marL="0" marR="0" lvl="0" indent="0" algn="l" defTabSz="914400" rtl="0" eaLnBrk="1" fontAlgn="ctr" latinLnBrk="0" hangingPunct="1">
                        <a:lnSpc>
                          <a:spcPct val="130000"/>
                        </a:lnSpc>
                        <a:spcBef>
                          <a:spcPts val="0"/>
                        </a:spcBef>
                        <a:spcAft>
                          <a:spcPts val="0"/>
                        </a:spcAft>
                        <a:buClrTx/>
                        <a:buSzTx/>
                        <a:buFontTx/>
                        <a:buNone/>
                        <a:defRPr/>
                      </a:pPr>
                      <a:r>
                        <a:rPr lang="zh-TW"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附錄</a:t>
                      </a:r>
                      <a:r>
                        <a:rPr lang="vi-V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CN"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A8.8 </a:t>
                      </a:r>
                      <a:r>
                        <a:rPr lang="zh-CN" altLang="en-US" sz="140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條款</a:t>
                      </a: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algn="l" defTabSz="914400" rtl="0" eaLnBrk="1" fontAlgn="ctr" latinLnBrk="0" hangingPunct="1">
                        <a:lnSpc>
                          <a:spcPct val="130000"/>
                        </a:lnSpc>
                      </a:pP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Quản lý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lỗ</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hổng</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kỹ</a:t>
                      </a:r>
                      <a:r>
                        <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thuật</a:t>
                      </a:r>
                      <a:endParaRPr lang="en-US" sz="140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algn="l" defTabSz="914400" rtl="0" eaLnBrk="1" fontAlgn="ctr" latinLnBrk="0" hangingPunct="1">
                        <a:lnSpc>
                          <a:spcPct val="130000"/>
                        </a:lnSpc>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技術漏洞管理</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Qua kiểm tra, phát hiện tại các bộ phận Kinh doanh</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K</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aifa</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QLSX,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Dập</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6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có</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nhiều</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máy</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tính</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bị</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lỗi</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khi</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update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Windown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và</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Microsoft Office</a:t>
                      </a:r>
                    </a:p>
                    <a:p>
                      <a:pPr marL="0" marR="0" lvl="0" indent="0" algn="l" defTabSz="914400" rtl="0" eaLnBrk="1" fontAlgn="auto" latinLnBrk="0" hangingPunct="1">
                        <a:lnSpc>
                          <a:spcPct val="130000"/>
                        </a:lnSpc>
                        <a:spcBef>
                          <a:spcPts val="0"/>
                        </a:spcBef>
                        <a:spcAft>
                          <a:spcPts val="0"/>
                        </a:spcAft>
                        <a:buClrTx/>
                        <a:buSzTx/>
                        <a:buFontTx/>
                        <a:buNone/>
                        <a:defRPr/>
                      </a:pP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Khuyến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nghị</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IT h</a:t>
                      </a:r>
                      <a:r>
                        <a:rPr lang="vi-VN"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ư</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ớng</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dẫn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khi phát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hành</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bản update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lỗ</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hổng</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hệ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thống</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để các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tiến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hành</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hiệu</a:t>
                      </a:r>
                      <a:r>
                        <a:rPr lang="en-US" sz="1400" b="0" kern="1200" dirty="0">
                          <a:solidFill>
                            <a:schemeClr val="tx1"/>
                          </a:solidFill>
                          <a:effectLst/>
                          <a:latin typeface="Times New Roman" panose="02020603050405020304" pitchFamily="18" charset="0"/>
                          <a:ea typeface="Microsoft JhengHei" panose="020B0604030504040204" pitchFamily="34" charset="-120"/>
                          <a:cs typeface="Times New Roman" panose="02020603050405020304" pitchFamily="18" charset="0"/>
                        </a:rPr>
                        <a:t> quả.</a:t>
                      </a:r>
                    </a:p>
                    <a:p>
                      <a:pPr marL="0" marR="0" lvl="0" indent="0" algn="l" defTabSz="914400" rtl="0" eaLnBrk="1" fontAlgn="auto" latinLnBrk="0" hangingPunct="1">
                        <a:lnSpc>
                          <a:spcPct val="130000"/>
                        </a:lnSpc>
                        <a:spcBef>
                          <a:spcPts val="0"/>
                        </a:spcBef>
                        <a:spcAft>
                          <a:spcPts val="0"/>
                        </a:spcAft>
                        <a:buClrTx/>
                        <a:buSzTx/>
                        <a:buFontTx/>
                        <a:buNone/>
                        <a:defRPr/>
                      </a:pP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於業務、</a:t>
                      </a:r>
                      <a:r>
                        <a:rPr lang="zh-CN"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開發</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a:t>
                      </a:r>
                      <a:r>
                        <a:rPr lang="zh-CN"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生管</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、沖壓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6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等部門，有多台電腦在更新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Windows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及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Microsoft Office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時發生錯誤。</a:t>
                      </a:r>
                      <a:b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b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建議 </a:t>
                      </a:r>
                      <a:r>
                        <a:rPr lang="en-US" altLang="zh-TW"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IT </a:t>
                      </a:r>
                      <a:r>
                        <a:rPr lang="zh-TW" altLang="en-US" sz="1400"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rPr>
                        <a:t>於發布系統漏洞更新時提供指引，以協助各部門有效執行更新作業。</a:t>
                      </a:r>
                      <a:endParaRPr lang="en-US" sz="1400" b="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tc>
                  <a:txBody>
                    <a:bodyPr/>
                    <a:lstStyle/>
                    <a:p>
                      <a:pPr algn="ct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T</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oàn công ty</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全公司</a:t>
                      </a:r>
                      <a:endPar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en-US"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Bộ</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kern="1200" dirty="0" err="1">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phận</a:t>
                      </a:r>
                      <a:r>
                        <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 </a:t>
                      </a:r>
                      <a:r>
                        <a:rPr lang="vi-VN"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rPr>
                        <a:t>IT hỗ trợ</a:t>
                      </a:r>
                      <a:endParaRPr lang="en-US" sz="1400" kern="1200" dirty="0">
                        <a:solidFill>
                          <a:schemeClr val="dk1"/>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IT</a:t>
                      </a:r>
                      <a:r>
                        <a:rPr lang="zh-TW" altLang="en-US" sz="1400"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rPr>
                        <a:t>協助</a:t>
                      </a:r>
                      <a:endParaRPr lang="en-US" sz="1400" b="0" u="none" strike="noStrike" kern="1200" dirty="0">
                        <a:solidFill>
                          <a:srgbClr val="0000FF"/>
                        </a:solidFill>
                        <a:effectLst/>
                        <a:latin typeface="Times New Roman" panose="02020603050405020304" pitchFamily="18" charset="0"/>
                        <a:ea typeface="Microsoft JhengHei" panose="020B0604030504040204" pitchFamily="34" charset="-120"/>
                        <a:cs typeface="Times New Roman" panose="02020603050405020304" pitchFamily="18" charset="0"/>
                      </a:endParaRPr>
                    </a:p>
                  </a:txBody>
                  <a:tcPr marL="75895" marR="8433" marT="8433" marB="0" anchor="ctr">
                    <a:lnL w="12700" cap="flat" cmpd="sng" algn="ctr">
                      <a:solidFill>
                        <a:schemeClr val="accent1">
                          <a:lumMod val="50000"/>
                        </a:schemeClr>
                      </a:solidFill>
                      <a:prstDash val="solid"/>
                      <a:round/>
                      <a:headEnd type="none" w="med" len="med"/>
                      <a:tailEnd type="none" w="med" len="med"/>
                    </a:lnL>
                    <a:lnR w="12700" cap="flat" cmpd="sng" algn="ctr">
                      <a:solidFill>
                        <a:schemeClr val="accent1">
                          <a:lumMod val="50000"/>
                        </a:schemeClr>
                      </a:solidFill>
                      <a:prstDash val="solid"/>
                      <a:round/>
                      <a:headEnd type="none" w="med" len="med"/>
                      <a:tailEnd type="none" w="med" len="med"/>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716400"/>
            <a:ext cx="12192001" cy="6141600"/>
          </a:xfrm>
          <a:prstGeom prst="rect">
            <a:avLst/>
          </a:prstGeom>
        </p:spPr>
      </p:pic>
      <p:sp>
        <p:nvSpPr>
          <p:cNvPr id="12" name="矩形 11"/>
          <p:cNvSpPr/>
          <p:nvPr/>
        </p:nvSpPr>
        <p:spPr>
          <a:xfrm>
            <a:off x="-1" y="717452"/>
            <a:ext cx="12192000" cy="6140548"/>
          </a:xfrm>
          <a:prstGeom prst="rect">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手繪多邊形: 圖案 9"/>
          <p:cNvSpPr/>
          <p:nvPr/>
        </p:nvSpPr>
        <p:spPr>
          <a:xfrm rot="5400000" flipV="1">
            <a:off x="8725071" y="3391071"/>
            <a:ext cx="3276600" cy="3657257"/>
          </a:xfrm>
          <a:custGeom>
            <a:avLst/>
            <a:gdLst>
              <a:gd name="connsiteX0" fmla="*/ 4481335 w 4758812"/>
              <a:gd name="connsiteY0" fmla="*/ 0 h 4758812"/>
              <a:gd name="connsiteX1" fmla="*/ 4711944 w 4758812"/>
              <a:gd name="connsiteY1" fmla="*/ 5831 h 4758812"/>
              <a:gd name="connsiteX2" fmla="*/ 4758812 w 4758812"/>
              <a:gd name="connsiteY2" fmla="*/ 9395 h 4758812"/>
              <a:gd name="connsiteX3" fmla="*/ 4758812 w 4758812"/>
              <a:gd name="connsiteY3" fmla="*/ 4758812 h 4758812"/>
              <a:gd name="connsiteX4" fmla="*/ 9395 w 4758812"/>
              <a:gd name="connsiteY4" fmla="*/ 4758812 h 4758812"/>
              <a:gd name="connsiteX5" fmla="*/ 5831 w 4758812"/>
              <a:gd name="connsiteY5" fmla="*/ 4711944 h 4758812"/>
              <a:gd name="connsiteX6" fmla="*/ 0 w 4758812"/>
              <a:gd name="connsiteY6" fmla="*/ 4481335 h 4758812"/>
              <a:gd name="connsiteX7" fmla="*/ 4481335 w 4758812"/>
              <a:gd name="connsiteY7" fmla="*/ 0 h 475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58812" h="4758812">
                <a:moveTo>
                  <a:pt x="4481335" y="0"/>
                </a:moveTo>
                <a:cubicBezTo>
                  <a:pt x="4558678" y="0"/>
                  <a:pt x="4635563" y="1960"/>
                  <a:pt x="4711944" y="5831"/>
                </a:cubicBezTo>
                <a:lnTo>
                  <a:pt x="4758812" y="9395"/>
                </a:lnTo>
                <a:lnTo>
                  <a:pt x="4758812" y="4758812"/>
                </a:lnTo>
                <a:lnTo>
                  <a:pt x="9395" y="4758812"/>
                </a:lnTo>
                <a:lnTo>
                  <a:pt x="5831" y="4711944"/>
                </a:lnTo>
                <a:cubicBezTo>
                  <a:pt x="1960" y="4635563"/>
                  <a:pt x="0" y="4558678"/>
                  <a:pt x="0" y="4481335"/>
                </a:cubicBezTo>
                <a:cubicBezTo>
                  <a:pt x="0" y="2006362"/>
                  <a:pt x="2006362" y="0"/>
                  <a:pt x="4481335" y="0"/>
                </a:cubicBezTo>
                <a:close/>
              </a:path>
            </a:pathLst>
          </a:custGeom>
          <a:solidFill>
            <a:srgbClr val="70AD47">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800" b="1">
              <a:solidFill>
                <a:schemeClr val="tx1"/>
              </a:solidFill>
              <a:latin typeface="Microsoft JhengHei" panose="020B0604030504040204" pitchFamily="34" charset="-120"/>
              <a:ea typeface="Microsoft JhengHei" panose="020B0604030504040204" pitchFamily="34" charset="-120"/>
            </a:endParaRPr>
          </a:p>
        </p:txBody>
      </p:sp>
      <p:sp>
        <p:nvSpPr>
          <p:cNvPr id="7" name="矩形 6"/>
          <p:cNvSpPr/>
          <p:nvPr/>
        </p:nvSpPr>
        <p:spPr>
          <a:xfrm>
            <a:off x="8888144" y="4891246"/>
            <a:ext cx="3742006" cy="12493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60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Q</a:t>
            </a:r>
            <a:r>
              <a:rPr lang="zh-TW" altLang="en-US" sz="60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60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&amp;</a:t>
            </a:r>
            <a:r>
              <a:rPr lang="zh-TW" altLang="en-US" sz="60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60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A</a:t>
            </a:r>
            <a:endParaRPr lang="zh-TW" altLang="en-US" sz="6000" b="1" dirty="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3599</Words>
  <Application>Microsoft Office PowerPoint</Application>
  <PresentationFormat>寬螢幕</PresentationFormat>
  <Paragraphs>396</Paragraphs>
  <Slides>13</Slides>
  <Notes>10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Microsoft JhengHei</vt:lpstr>
      <vt:lpstr>Arial</vt:lpstr>
      <vt:lpstr>Calibri</vt:lpstr>
      <vt:lpstr>Calibri Light</vt:lpstr>
      <vt:lpstr>Segoe UI Symbol</vt:lpstr>
      <vt:lpstr>Times New Roman</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Ming Hsu</cp:lastModifiedBy>
  <cp:revision>330</cp:revision>
  <dcterms:created xsi:type="dcterms:W3CDTF">2024-03-04T01:43:00Z</dcterms:created>
  <dcterms:modified xsi:type="dcterms:W3CDTF">2026-01-30T04:40:09Z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1EDE9FCF12F5442486D31E7DDE862D27_12</vt:lpwstr>
  </property>
  <property fmtid="{D5CDD505-2E9C-101B-9397-08002B2CF9AE}" pid="3" name="KSOProductBuildVer">
    <vt:lpwstr>1033-12.2.0.23155</vt:lpwstr>
  </property>
</Properties>
</file>