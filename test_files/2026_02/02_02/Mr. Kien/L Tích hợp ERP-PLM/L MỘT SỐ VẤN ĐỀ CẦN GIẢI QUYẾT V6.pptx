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1"/>
  </p:notesMasterIdLst>
  <p:handoutMasterIdLst>
    <p:handoutMasterId r:id="rId22"/>
  </p:handoutMasterIdLst>
  <p:sldIdLst>
    <p:sldId id="256" r:id="rId5"/>
    <p:sldId id="325" r:id="rId6"/>
    <p:sldId id="326" r:id="rId7"/>
    <p:sldId id="331" r:id="rId8"/>
    <p:sldId id="275" r:id="rId9"/>
    <p:sldId id="329" r:id="rId10"/>
    <p:sldId id="297" r:id="rId11"/>
    <p:sldId id="322" r:id="rId12"/>
    <p:sldId id="327" r:id="rId13"/>
    <p:sldId id="296" r:id="rId14"/>
    <p:sldId id="330" r:id="rId15"/>
    <p:sldId id="328" r:id="rId16"/>
    <p:sldId id="324" r:id="rId17"/>
    <p:sldId id="263" r:id="rId18"/>
    <p:sldId id="332" r:id="rId19"/>
    <p:sldId id="33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ch Thi Hong Nga" initials="BTHN" lastIdx="1" clrIdx="0">
    <p:extLst>
      <p:ext uri="{19B8F6BF-5375-455C-9EA6-DF929625EA0E}">
        <p15:presenceInfo xmlns:p15="http://schemas.microsoft.com/office/powerpoint/2012/main" userId="Bach Thi Hong Ng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78181"/>
    <a:srgbClr val="B56153"/>
    <a:srgbClr val="0000FF"/>
    <a:srgbClr val="00B050"/>
    <a:srgbClr val="E6E6E6"/>
    <a:srgbClr val="FFFFFF"/>
    <a:srgbClr val="B5B9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30" autoAdjust="0"/>
    <p:restoredTop sz="94660"/>
  </p:normalViewPr>
  <p:slideViewPr>
    <p:cSldViewPr snapToGrid="0">
      <p:cViewPr varScale="1">
        <p:scale>
          <a:sx n="90" d="100"/>
          <a:sy n="90" d="100"/>
        </p:scale>
        <p:origin x="6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t>2/3/2026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8853D7B-0D53-4B3C-8760-2F59B0A8065B}" type="datetimeFigureOut">
              <a:rPr lang="en-US" smtClean="0"/>
              <a:t>2/3/2026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CF66384-6CED-462A-8A87-1896761C518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8" name="Picture 4" descr="VPIC1 tuyển dụng 09/2025 (5 đang tuyển) : lương + reviews"/>
          <p:cNvPicPr>
            <a:picLocks noChangeAspect="1" noChangeArrowheads="1"/>
          </p:cNvPicPr>
          <p:nvPr userDrawn="1"/>
        </p:nvPicPr>
        <p:blipFill rotWithShape="1">
          <a:blip r:embed="rId13" cstate="print">
            <a:extLst>
              <a:ext uri="{28A0092B-C50C-407E-A947-70E740481C1C}">
                <a14:useLocalDpi xmlns:a14="http://schemas.microsoft.com/office/drawing/2010/main" val="0"/>
              </a:ext>
            </a:extLst>
          </a:blip>
          <a:srcRect l="14128" t="13333" r="10959" b="32868"/>
          <a:stretch>
            <a:fillRect/>
          </a:stretch>
        </p:blipFill>
        <p:spPr bwMode="auto">
          <a:xfrm>
            <a:off x="123513" y="85060"/>
            <a:ext cx="1056701" cy="53162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70000"/>
            <a:lum/>
          </a:blip>
          <a:srcRect/>
          <a:tile tx="0" ty="0" sx="81000" sy="86000" flip="x" algn="t"/>
        </a:blipFill>
        <a:effectLst/>
      </p:bgPr>
    </p:bg>
    <p:spTree>
      <p:nvGrpSpPr>
        <p:cNvPr id="1" name=""/>
        <p:cNvGrpSpPr/>
        <p:nvPr/>
      </p:nvGrpSpPr>
      <p:grpSpPr>
        <a:xfrm>
          <a:off x="0" y="0"/>
          <a:ext cx="0" cy="0"/>
          <a:chOff x="0" y="0"/>
          <a:chExt cx="0" cy="0"/>
        </a:xfrm>
      </p:grpSpPr>
      <p:sp>
        <p:nvSpPr>
          <p:cNvPr id="5" name="TextBox 4"/>
          <p:cNvSpPr txBox="1"/>
          <p:nvPr/>
        </p:nvSpPr>
        <p:spPr>
          <a:xfrm>
            <a:off x="1840949" y="344662"/>
            <a:ext cx="8494284" cy="2308324"/>
          </a:xfrm>
          <a:prstGeom prst="rect">
            <a:avLst/>
          </a:prstGeom>
          <a:noFill/>
        </p:spPr>
        <p:txBody>
          <a:bodyPr wrap="square" rtlCol="0">
            <a:spAutoFit/>
          </a:bodyPr>
          <a:lstStyle/>
          <a:p>
            <a:pPr algn="ctr"/>
            <a:r>
              <a:rPr lang="en-US" sz="36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MỘT SỐ VẤN ĐỀ CẦN GIẢI QUYẾT CỦA PHIẾU ECN TRONG SERVICE TÍCH HỢP PLM-ERP.</a:t>
            </a:r>
            <a:endParaRPr lang="en-US" sz="36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a:p>
            <a:pPr algn="ctr"/>
            <a:r>
              <a:rPr lang="en-US" sz="3600" b="1" smtClean="0">
                <a:solidFill>
                  <a:srgbClr val="0000FF"/>
                </a:solidFill>
                <a:latin typeface="Microsoft JhengHei" panose="020B0604030504040204" pitchFamily="34" charset="-120"/>
                <a:ea typeface="Microsoft JhengHei" panose="020B0604030504040204" pitchFamily="34" charset="-120"/>
                <a:cs typeface="Times New Roman" panose="02020603050405020304" pitchFamily="18" charset="0"/>
              </a:rPr>
              <a:t>PLM-ERP</a:t>
            </a:r>
            <a:endParaRPr lang="en-US" sz="3600" b="1" dirty="0">
              <a:solidFill>
                <a:srgbClr val="0000FF"/>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76362" y="131676"/>
            <a:ext cx="10427958" cy="461665"/>
          </a:xfrm>
          <a:prstGeom prst="rect">
            <a:avLst/>
          </a:prstGeom>
          <a:noFill/>
        </p:spPr>
        <p:txBody>
          <a:bodyPr wrap="square" rtlCol="0">
            <a:spAutoFit/>
          </a:bodyPr>
          <a:lstStyle/>
          <a:p>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MỤC ĐÍCH &amp; CÁC VẤN ĐỀ CẦN ĐIỀU CHỈNH</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6" name="TextBox 15"/>
          <p:cNvSpPr txBox="1"/>
          <p:nvPr/>
        </p:nvSpPr>
        <p:spPr>
          <a:xfrm>
            <a:off x="794313" y="2575600"/>
            <a:ext cx="10182575" cy="1569660"/>
          </a:xfrm>
          <a:prstGeom prst="rect">
            <a:avLst/>
          </a:prstGeom>
          <a:solidFill>
            <a:schemeClr val="accent4">
              <a:lumMod val="40000"/>
              <a:lumOff val="60000"/>
            </a:schemeClr>
          </a:solidFill>
        </p:spPr>
        <p:txBody>
          <a:bodyPr wrap="square" rtlCol="0">
            <a:spAutoFit/>
          </a:bodyPr>
          <a:lstStyle/>
          <a:p>
            <a:pPr lvl="1">
              <a:lnSpc>
                <a:spcPct val="150000"/>
              </a:lnSpc>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Một số vấn đề gặp phải:</a:t>
            </a:r>
          </a:p>
          <a:p>
            <a:pPr marL="800100" lvl="1" indent="-342900">
              <a:lnSpc>
                <a:spcPct val="150000"/>
              </a:lnSpc>
              <a:buFont typeface="+mj-lt"/>
              <a:buAutoNum type="arabicPeriod"/>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Đối chiếu dữ liệu NVL trong 1 BOM</a:t>
            </a:r>
          </a:p>
          <a:p>
            <a:pPr marL="800100" lvl="1" indent="-342900">
              <a:lnSpc>
                <a:spcPct val="150000"/>
              </a:lnSpc>
              <a:buFont typeface="+mj-lt"/>
              <a:buAutoNum type="arabicPeriod"/>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Điều chỉnh ô “</a:t>
            </a:r>
            <a:r>
              <a:rPr lang="en-US" sz="1600" b="1" i="1" u="sng" smtClean="0">
                <a:latin typeface="Times New Roman" panose="02020603050405020304" pitchFamily="18" charset="0"/>
                <a:ea typeface="Microsoft JhengHei" panose="020B0604030504040204" pitchFamily="34" charset="-120"/>
                <a:cs typeface="Times New Roman" panose="02020603050405020304" pitchFamily="18" charset="0"/>
              </a:rPr>
              <a:t>Mã công đoạn</a:t>
            </a: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 trên phiếu ECN </a:t>
            </a:r>
          </a:p>
          <a:p>
            <a:pPr marL="800100" lvl="1" indent="-342900">
              <a:lnSpc>
                <a:spcPct val="150000"/>
              </a:lnSpc>
              <a:buFont typeface="+mj-lt"/>
              <a:buAutoNum type="arabicPeriod"/>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Nhờ Kaifa kiểm thử cùng</a:t>
            </a:r>
            <a:r>
              <a:rPr lang="vi-VN" sz="1600" smtClean="0">
                <a:latin typeface="Times New Roman" panose="02020603050405020304" pitchFamily="18" charset="0"/>
                <a:ea typeface="Microsoft JhengHei" panose="020B0604030504040204" pitchFamily="34" charset="-120"/>
                <a:cs typeface="Times New Roman" panose="02020603050405020304" pitchFamily="18" charset="0"/>
              </a:rPr>
              <a:t> MIS</a:t>
            </a: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a:t>
            </a:r>
            <a:endParaRPr lang="vi-VN" sz="16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4" name="TextBox 3"/>
          <p:cNvSpPr txBox="1"/>
          <p:nvPr/>
        </p:nvSpPr>
        <p:spPr>
          <a:xfrm>
            <a:off x="794313" y="1168972"/>
            <a:ext cx="10182575" cy="830997"/>
          </a:xfrm>
          <a:prstGeom prst="rect">
            <a:avLst/>
          </a:prstGeom>
          <a:solidFill>
            <a:schemeClr val="accent6">
              <a:lumMod val="20000"/>
              <a:lumOff val="80000"/>
            </a:schemeClr>
          </a:solidFill>
        </p:spPr>
        <p:txBody>
          <a:bodyPr wrap="square" rtlCol="0">
            <a:spAutoFit/>
          </a:bodyPr>
          <a:lstStyle/>
          <a:p>
            <a:pPr lvl="1">
              <a:lnSpc>
                <a:spcPct val="150000"/>
              </a:lnSpc>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Mục đích của cuộc họp:</a:t>
            </a:r>
          </a:p>
          <a:p>
            <a:pPr marL="1200150" lvl="2" indent="-285750">
              <a:lnSpc>
                <a:spcPct val="150000"/>
              </a:lnSpc>
              <a:buFont typeface="Wingdings" panose="05000000000000000000" pitchFamily="2" charset="2"/>
              <a:buChar char="ü"/>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Giảm thiểu thao tác người dùng </a:t>
            </a:r>
            <a:r>
              <a:rPr lang="vi-VN" sz="1600" smtClean="0">
                <a:latin typeface="Times New Roman" panose="02020603050405020304" pitchFamily="18" charset="0"/>
                <a:ea typeface="Microsoft JhengHei" panose="020B0604030504040204" pitchFamily="34" charset="-120"/>
                <a:cs typeface="Times New Roman" panose="02020603050405020304" pitchFamily="18" charset="0"/>
              </a:rPr>
              <a:t>khi phải cập nhật dữ liệu thay đổi về ERP từ phiếu ECN trên PLM</a:t>
            </a:r>
            <a:endParaRPr lang="vi-VN" sz="16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062769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2352" y="2817003"/>
            <a:ext cx="10427958" cy="461665"/>
          </a:xfrm>
          <a:prstGeom prst="rect">
            <a:avLst/>
          </a:prstGeom>
          <a:noFill/>
        </p:spPr>
        <p:txBody>
          <a:bodyPr wrap="square" rtlCol="0">
            <a:spAutoFit/>
          </a:bodyPr>
          <a:lstStyle/>
          <a:p>
            <a:pPr algn="ct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1.ĐỐI CHIẾU MÃ NVL TRONG BOM</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5938679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6191" y="131676"/>
            <a:ext cx="10647857"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1.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ĐỐI </a:t>
            </a:r>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CHIẾU MÃ NVL TRONG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BOM</a:t>
            </a:r>
            <a:r>
              <a:rPr lang="vi-VN"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-1</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6" name="TextBox 15"/>
          <p:cNvSpPr txBox="1"/>
          <p:nvPr/>
        </p:nvSpPr>
        <p:spPr>
          <a:xfrm>
            <a:off x="353569" y="708958"/>
            <a:ext cx="11838432" cy="1200329"/>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1600" b="1" dirty="0">
                <a:latin typeface="Times New Roman" panose="02020603050405020304" pitchFamily="18" charset="0"/>
                <a:ea typeface="Microsoft JhengHei" panose="020B0604030504040204" pitchFamily="34" charset="-120"/>
                <a:cs typeface="Times New Roman" panose="02020603050405020304" pitchFamily="18" charset="0"/>
              </a:rPr>
              <a:t>Vấn đề:</a:t>
            </a:r>
            <a:r>
              <a:rPr lang="en-US" sz="16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STT NVL trên PLM và ERP không đồng nhất do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một</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mã sản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phẩm</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có thể tồn tại nhiều STT trên PLM</a:t>
            </a:r>
            <a:r>
              <a:rPr lang="vi-VN" sz="1400" dirty="0">
                <a:latin typeface="Times New Roman" panose="02020603050405020304" pitchFamily="18" charset="0"/>
                <a:ea typeface="Microsoft JhengHei" panose="020B0604030504040204" pitchFamily="34" charset="-120"/>
                <a:cs typeface="Times New Roman" panose="02020603050405020304" pitchFamily="18" charset="0"/>
              </a:rPr>
              <a:t> =&gt; </a:t>
            </a:r>
            <a:r>
              <a:rPr lang="vi-VN" sz="1400"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Hiện tại đang dùng Mã NVL </a:t>
            </a:r>
            <a:r>
              <a:rPr lang="vi-VN" sz="140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để </a:t>
            </a:r>
            <a:r>
              <a:rPr lang="vi-VN" sz="1400" smtClean="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làm khóa.</a:t>
            </a:r>
            <a:endParaRPr lang="en-US" sz="1400"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a:p>
            <a:pPr marL="342900" indent="-342900">
              <a:lnSpc>
                <a:spcPct val="150000"/>
              </a:lnSpc>
              <a:buFont typeface="Wingdings" panose="05000000000000000000" pitchFamily="2" charset="2"/>
              <a:buChar char="Ø"/>
            </a:pPr>
            <a:r>
              <a:rPr lang="en-US" sz="1600" b="1" dirty="0">
                <a:latin typeface="Times New Roman" panose="02020603050405020304" pitchFamily="18" charset="0"/>
                <a:ea typeface="Microsoft JhengHei" panose="020B0604030504040204" pitchFamily="34" charset="-120"/>
                <a:cs typeface="Times New Roman" panose="02020603050405020304" pitchFamily="18" charset="0"/>
              </a:rPr>
              <a:t>Nguyên nhân:</a:t>
            </a:r>
            <a:r>
              <a:rPr lang="en-US" sz="16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STT chỉ mang tính thứ tự, không phải khóa chính; sử dụng mã sản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phẩm</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làm khóa phụ dẫn đến nhầm STT.</a:t>
            </a:r>
          </a:p>
          <a:p>
            <a:pPr marL="342900" indent="-342900">
              <a:lnSpc>
                <a:spcPct val="150000"/>
              </a:lnSpc>
              <a:buFont typeface="Wingdings" panose="05000000000000000000" pitchFamily="2" charset="2"/>
              <a:buChar char="Ø"/>
            </a:pPr>
            <a:r>
              <a:rPr lang="vi-VN" sz="1600" b="1" dirty="0">
                <a:latin typeface="Times New Roman" panose="02020603050405020304" pitchFamily="18" charset="0"/>
                <a:ea typeface="Microsoft JhengHei" panose="020B0604030504040204" pitchFamily="34" charset="-120"/>
                <a:cs typeface="Times New Roman" panose="02020603050405020304" pitchFamily="18" charset="0"/>
              </a:rPr>
              <a:t>Ảnh hưởng</a:t>
            </a:r>
            <a:r>
              <a:rPr lang="vi-VN" sz="1400" b="1" dirty="0">
                <a:latin typeface="Times New Roman" panose="02020603050405020304" pitchFamily="18" charset="0"/>
                <a:ea typeface="Microsoft JhengHei" panose="020B0604030504040204" pitchFamily="34" charset="-120"/>
                <a:cs typeface="Times New Roman" panose="02020603050405020304" pitchFamily="18" charset="0"/>
              </a:rPr>
              <a:t>:</a:t>
            </a:r>
            <a:r>
              <a:rPr lang="vi-VN" sz="1400" dirty="0">
                <a:latin typeface="Times New Roman" panose="02020603050405020304" pitchFamily="18" charset="0"/>
                <a:ea typeface="Microsoft JhengHei" panose="020B0604030504040204" pitchFamily="34" charset="-120"/>
                <a:cs typeface="Times New Roman" panose="02020603050405020304" pitchFamily="18" charset="0"/>
              </a:rPr>
              <a:t> STT trên ERP không khớp vị trí thay đổi trên PLM, gây khó đối chiếu BOM (ví dụ: CTCS00000017 lấy STT 0030 thay vì 0080).</a:t>
            </a:r>
          </a:p>
        </p:txBody>
      </p:sp>
      <p:grpSp>
        <p:nvGrpSpPr>
          <p:cNvPr id="30" name="Group 29"/>
          <p:cNvGrpSpPr/>
          <p:nvPr/>
        </p:nvGrpSpPr>
        <p:grpSpPr>
          <a:xfrm>
            <a:off x="76889" y="1822401"/>
            <a:ext cx="11814048" cy="2395108"/>
            <a:chOff x="76889" y="1822401"/>
            <a:chExt cx="11814048" cy="2395108"/>
          </a:xfrm>
        </p:grpSpPr>
        <p:sp>
          <p:nvSpPr>
            <p:cNvPr id="23" name="TextBox 22"/>
            <p:cNvSpPr txBox="1"/>
            <p:nvPr/>
          </p:nvSpPr>
          <p:spPr>
            <a:xfrm>
              <a:off x="76889" y="1822401"/>
              <a:ext cx="11814048" cy="2395108"/>
            </a:xfrm>
            <a:prstGeom prst="rect">
              <a:avLst/>
            </a:prstGeom>
            <a:solidFill>
              <a:schemeClr val="accent4">
                <a:lumMod val="20000"/>
                <a:lumOff val="80000"/>
              </a:schemeClr>
            </a:solidFill>
          </p:spPr>
          <p:txBody>
            <a:bodyPr wrap="square" rtlCol="0">
              <a:spAutoFit/>
            </a:bodyPr>
            <a:lstStyle/>
            <a:p>
              <a:endParaRPr lang="en-US"/>
            </a:p>
          </p:txBody>
        </p:sp>
        <p:pic>
          <p:nvPicPr>
            <p:cNvPr id="24" name="Picture 23"/>
            <p:cNvPicPr>
              <a:picLocks noChangeAspect="1"/>
            </p:cNvPicPr>
            <p:nvPr/>
          </p:nvPicPr>
          <p:blipFill>
            <a:blip r:embed="rId2"/>
            <a:stretch>
              <a:fillRect/>
            </a:stretch>
          </p:blipFill>
          <p:spPr>
            <a:xfrm>
              <a:off x="2384805" y="1891220"/>
              <a:ext cx="9429244" cy="2257740"/>
            </a:xfrm>
            <a:prstGeom prst="rect">
              <a:avLst/>
            </a:prstGeom>
          </p:spPr>
        </p:pic>
        <p:sp>
          <p:nvSpPr>
            <p:cNvPr id="25" name="TextBox 24"/>
            <p:cNvSpPr txBox="1"/>
            <p:nvPr/>
          </p:nvSpPr>
          <p:spPr>
            <a:xfrm>
              <a:off x="392287" y="3222381"/>
              <a:ext cx="1521573" cy="369332"/>
            </a:xfrm>
            <a:prstGeom prst="rect">
              <a:avLst/>
            </a:prstGeom>
            <a:noFill/>
            <a:ln w="28575">
              <a:solidFill>
                <a:srgbClr val="92D050"/>
              </a:solidFill>
            </a:ln>
          </p:spPr>
          <p:txBody>
            <a:bodyPr wrap="square" rtlCol="0">
              <a:spAutoFit/>
            </a:bodyPr>
            <a:lstStyle/>
            <a:p>
              <a:r>
                <a:rPr lang="vi-VN" b="1" smtClean="0">
                  <a:solidFill>
                    <a:srgbClr val="FF0000"/>
                  </a:solidFill>
                  <a:latin typeface="Times New Roman" panose="02020603050405020304" pitchFamily="18" charset="0"/>
                  <a:cs typeface="Times New Roman" panose="02020603050405020304" pitchFamily="18" charset="0"/>
                </a:rPr>
                <a:t>ECN-260012</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98756" y="2563203"/>
              <a:ext cx="1794545" cy="369332"/>
            </a:xfrm>
            <a:prstGeom prst="rect">
              <a:avLst/>
            </a:prstGeom>
            <a:noFill/>
          </p:spPr>
          <p:txBody>
            <a:bodyPr wrap="square" rtlCol="0">
              <a:spAutoFit/>
            </a:bodyPr>
            <a:lstStyle/>
            <a:p>
              <a:pPr algn="ctr"/>
              <a:r>
                <a:rPr lang="en-US" smtClean="0">
                  <a:latin typeface="Times New Roman" panose="02020603050405020304" pitchFamily="18" charset="0"/>
                  <a:cs typeface="Times New Roman" panose="02020603050405020304" pitchFamily="18" charset="0"/>
                </a:rPr>
                <a:t>PLM</a:t>
              </a:r>
              <a:endParaRPr lang="en-US">
                <a:latin typeface="Times New Roman" panose="02020603050405020304" pitchFamily="18" charset="0"/>
                <a:cs typeface="Times New Roman" panose="02020603050405020304" pitchFamily="18" charset="0"/>
              </a:endParaRPr>
            </a:p>
          </p:txBody>
        </p:sp>
      </p:grpSp>
      <p:grpSp>
        <p:nvGrpSpPr>
          <p:cNvPr id="31" name="Group 30"/>
          <p:cNvGrpSpPr/>
          <p:nvPr/>
        </p:nvGrpSpPr>
        <p:grpSpPr>
          <a:xfrm>
            <a:off x="76889" y="4350180"/>
            <a:ext cx="12018656" cy="2395108"/>
            <a:chOff x="76889" y="4350180"/>
            <a:chExt cx="12018656" cy="2395108"/>
          </a:xfrm>
        </p:grpSpPr>
        <p:sp>
          <p:nvSpPr>
            <p:cNvPr id="26" name="TextBox 25"/>
            <p:cNvSpPr txBox="1"/>
            <p:nvPr/>
          </p:nvSpPr>
          <p:spPr>
            <a:xfrm>
              <a:off x="82224" y="4350180"/>
              <a:ext cx="11814048" cy="2395108"/>
            </a:xfrm>
            <a:prstGeom prst="rect">
              <a:avLst/>
            </a:prstGeom>
            <a:solidFill>
              <a:schemeClr val="accent6">
                <a:lumMod val="20000"/>
                <a:lumOff val="80000"/>
              </a:schemeClr>
            </a:solidFill>
          </p:spPr>
          <p:txBody>
            <a:bodyPr wrap="square" rtlCol="0">
              <a:spAutoFit/>
            </a:bodyPr>
            <a:lstStyle/>
            <a:p>
              <a:endParaRPr lang="en-US"/>
            </a:p>
          </p:txBody>
        </p:sp>
        <p:pic>
          <p:nvPicPr>
            <p:cNvPr id="27" name="Picture 26"/>
            <p:cNvPicPr>
              <a:picLocks noChangeAspect="1"/>
            </p:cNvPicPr>
            <p:nvPr/>
          </p:nvPicPr>
          <p:blipFill>
            <a:blip r:embed="rId3"/>
            <a:stretch>
              <a:fillRect/>
            </a:stretch>
          </p:blipFill>
          <p:spPr>
            <a:xfrm>
              <a:off x="2384804" y="4382758"/>
              <a:ext cx="9516803" cy="2362530"/>
            </a:xfrm>
            <a:prstGeom prst="rect">
              <a:avLst/>
            </a:prstGeom>
          </p:spPr>
        </p:pic>
        <p:sp>
          <p:nvSpPr>
            <p:cNvPr id="28" name="TextBox 27"/>
            <p:cNvSpPr txBox="1"/>
            <p:nvPr/>
          </p:nvSpPr>
          <p:spPr>
            <a:xfrm>
              <a:off x="76889" y="5141854"/>
              <a:ext cx="2302580" cy="923330"/>
            </a:xfrm>
            <a:prstGeom prst="rect">
              <a:avLst/>
            </a:prstGeom>
            <a:noFill/>
          </p:spPr>
          <p:txBody>
            <a:bodyPr wrap="square" rtlCol="0">
              <a:spAutoFit/>
            </a:bodyPr>
            <a:lstStyle/>
            <a:p>
              <a:pPr algn="ctr"/>
              <a:r>
                <a:rPr lang="en-US" smtClean="0">
                  <a:latin typeface="Times New Roman" panose="02020603050405020304" pitchFamily="18" charset="0"/>
                  <a:cs typeface="Times New Roman" panose="02020603050405020304" pitchFamily="18" charset="0"/>
                </a:rPr>
                <a:t>ERP</a:t>
              </a:r>
              <a:endParaRPr lang="vi-VN" smtClean="0">
                <a:latin typeface="Times New Roman" panose="02020603050405020304" pitchFamily="18" charset="0"/>
                <a:cs typeface="Times New Roman" panose="02020603050405020304" pitchFamily="18" charset="0"/>
              </a:endParaRPr>
            </a:p>
            <a:p>
              <a:pPr algn="ctr"/>
              <a:endParaRPr lang="en-US" smtClean="0">
                <a:latin typeface="Times New Roman" panose="02020603050405020304" pitchFamily="18" charset="0"/>
                <a:cs typeface="Times New Roman" panose="02020603050405020304" pitchFamily="18" charset="0"/>
              </a:endParaRPr>
            </a:p>
            <a:p>
              <a:pPr algn="ctr"/>
              <a:r>
                <a:rPr lang="en-US" smtClean="0">
                  <a:latin typeface="Times New Roman" panose="02020603050405020304" pitchFamily="18" charset="0"/>
                  <a:cs typeface="Times New Roman" panose="02020603050405020304" pitchFamily="18" charset="0"/>
                </a:rPr>
                <a:t>Mã: </a:t>
              </a:r>
              <a:r>
                <a:rPr lang="en-US" b="1" smtClean="0">
                  <a:solidFill>
                    <a:srgbClr val="FF0000"/>
                  </a:solidFill>
                  <a:latin typeface="Times New Roman" panose="02020603050405020304" pitchFamily="18" charset="0"/>
                  <a:cs typeface="Times New Roman" panose="02020603050405020304" pitchFamily="18" charset="0"/>
                </a:rPr>
                <a:t>PTCA00000372T</a:t>
              </a:r>
              <a:endParaRPr lang="en-US" b="1">
                <a:solidFill>
                  <a:srgbClr val="FF0000"/>
                </a:solidFill>
                <a:latin typeface="Times New Roman" panose="02020603050405020304" pitchFamily="18" charset="0"/>
                <a:cs typeface="Times New Roman" panose="02020603050405020304" pitchFamily="18" charset="0"/>
              </a:endParaRPr>
            </a:p>
          </p:txBody>
        </p:sp>
        <p:sp>
          <p:nvSpPr>
            <p:cNvPr id="29" name="Rounded Rectangular Callout 28"/>
            <p:cNvSpPr/>
            <p:nvPr/>
          </p:nvSpPr>
          <p:spPr>
            <a:xfrm>
              <a:off x="10568763" y="4503716"/>
              <a:ext cx="1526782" cy="992445"/>
            </a:xfrm>
            <a:prstGeom prst="wedgeRoundRectCallout">
              <a:avLst>
                <a:gd name="adj1" fmla="val -73513"/>
                <a:gd name="adj2" fmla="val 31341"/>
                <a:gd name="adj3" fmla="val 16667"/>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40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Giá trị được </a:t>
              </a:r>
              <a:r>
                <a:rPr lang="vi-VN" sz="140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cập nhật ở </a:t>
              </a:r>
              <a:r>
                <a:rPr lang="en-US" sz="140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đ</a:t>
              </a:r>
              <a:r>
                <a:rPr lang="vi-VN" sz="1400" smtClean="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ây </a:t>
              </a:r>
              <a:r>
                <a:rPr lang="en-US" sz="1400" smtClean="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thay vì cập nhật ở dòng </a:t>
              </a:r>
              <a:r>
                <a:rPr lang="en-US" sz="1400" smtClean="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0080</a:t>
              </a:r>
              <a:endParaRPr lang="en-US" sz="1400"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spTree>
    <p:extLst>
      <p:ext uri="{BB962C8B-B14F-4D97-AF65-F5344CB8AC3E}">
        <p14:creationId xmlns:p14="http://schemas.microsoft.com/office/powerpoint/2010/main" val="2557586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6191" y="131676"/>
            <a:ext cx="10647857"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1.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ĐỐI </a:t>
            </a:r>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CHIẾU MÃ NVL TRONG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BOM</a:t>
            </a:r>
            <a:r>
              <a:rPr lang="vi-VN"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-1</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30" name="Group 29"/>
          <p:cNvGrpSpPr/>
          <p:nvPr/>
        </p:nvGrpSpPr>
        <p:grpSpPr>
          <a:xfrm>
            <a:off x="76889" y="1822401"/>
            <a:ext cx="11814048" cy="2395108"/>
            <a:chOff x="76889" y="1822401"/>
            <a:chExt cx="11814048" cy="2395108"/>
          </a:xfrm>
        </p:grpSpPr>
        <p:sp>
          <p:nvSpPr>
            <p:cNvPr id="23" name="TextBox 22"/>
            <p:cNvSpPr txBox="1"/>
            <p:nvPr/>
          </p:nvSpPr>
          <p:spPr>
            <a:xfrm>
              <a:off x="76889" y="1822401"/>
              <a:ext cx="11814048" cy="2395108"/>
            </a:xfrm>
            <a:prstGeom prst="rect">
              <a:avLst/>
            </a:prstGeom>
            <a:solidFill>
              <a:schemeClr val="accent4">
                <a:lumMod val="20000"/>
                <a:lumOff val="80000"/>
              </a:schemeClr>
            </a:solidFill>
          </p:spPr>
          <p:txBody>
            <a:bodyPr wrap="square" rtlCol="0">
              <a:spAutoFit/>
            </a:bodyPr>
            <a:lstStyle/>
            <a:p>
              <a:endParaRPr lang="en-US"/>
            </a:p>
          </p:txBody>
        </p:sp>
        <p:pic>
          <p:nvPicPr>
            <p:cNvPr id="24" name="Picture 23"/>
            <p:cNvPicPr>
              <a:picLocks noChangeAspect="1"/>
            </p:cNvPicPr>
            <p:nvPr/>
          </p:nvPicPr>
          <p:blipFill>
            <a:blip r:embed="rId2"/>
            <a:stretch>
              <a:fillRect/>
            </a:stretch>
          </p:blipFill>
          <p:spPr>
            <a:xfrm>
              <a:off x="2384805" y="1891220"/>
              <a:ext cx="9429244" cy="2257740"/>
            </a:xfrm>
            <a:prstGeom prst="rect">
              <a:avLst/>
            </a:prstGeom>
          </p:spPr>
        </p:pic>
        <p:sp>
          <p:nvSpPr>
            <p:cNvPr id="25" name="TextBox 24"/>
            <p:cNvSpPr txBox="1"/>
            <p:nvPr/>
          </p:nvSpPr>
          <p:spPr>
            <a:xfrm>
              <a:off x="392287" y="3222381"/>
              <a:ext cx="1474613" cy="369332"/>
            </a:xfrm>
            <a:prstGeom prst="rect">
              <a:avLst/>
            </a:prstGeom>
            <a:noFill/>
            <a:ln w="28575">
              <a:solidFill>
                <a:srgbClr val="92D050"/>
              </a:solidFill>
            </a:ln>
          </p:spPr>
          <p:txBody>
            <a:bodyPr wrap="square" rtlCol="0">
              <a:spAutoFit/>
            </a:bodyPr>
            <a:lstStyle/>
            <a:p>
              <a:r>
                <a:rPr lang="vi-VN" b="1" smtClean="0">
                  <a:solidFill>
                    <a:srgbClr val="FF0000"/>
                  </a:solidFill>
                  <a:latin typeface="Times New Roman" panose="02020603050405020304" pitchFamily="18" charset="0"/>
                  <a:cs typeface="Times New Roman" panose="02020603050405020304" pitchFamily="18" charset="0"/>
                </a:rPr>
                <a:t>ECN-260012</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198756" y="2563203"/>
              <a:ext cx="1794545" cy="369332"/>
            </a:xfrm>
            <a:prstGeom prst="rect">
              <a:avLst/>
            </a:prstGeom>
            <a:noFill/>
          </p:spPr>
          <p:txBody>
            <a:bodyPr wrap="square" rtlCol="0">
              <a:spAutoFit/>
            </a:bodyPr>
            <a:lstStyle/>
            <a:p>
              <a:pPr algn="ctr"/>
              <a:r>
                <a:rPr lang="en-US" smtClean="0"/>
                <a:t>PLM</a:t>
              </a:r>
              <a:endParaRPr lang="en-US"/>
            </a:p>
          </p:txBody>
        </p:sp>
      </p:grpSp>
      <p:grpSp>
        <p:nvGrpSpPr>
          <p:cNvPr id="31" name="Group 30"/>
          <p:cNvGrpSpPr/>
          <p:nvPr/>
        </p:nvGrpSpPr>
        <p:grpSpPr>
          <a:xfrm>
            <a:off x="76889" y="4350180"/>
            <a:ext cx="12018656" cy="2395108"/>
            <a:chOff x="76889" y="4350180"/>
            <a:chExt cx="12018656" cy="2395108"/>
          </a:xfrm>
        </p:grpSpPr>
        <p:sp>
          <p:nvSpPr>
            <p:cNvPr id="26" name="TextBox 25"/>
            <p:cNvSpPr txBox="1"/>
            <p:nvPr/>
          </p:nvSpPr>
          <p:spPr>
            <a:xfrm>
              <a:off x="82224" y="4350180"/>
              <a:ext cx="11814048" cy="2395108"/>
            </a:xfrm>
            <a:prstGeom prst="rect">
              <a:avLst/>
            </a:prstGeom>
            <a:solidFill>
              <a:schemeClr val="accent6">
                <a:lumMod val="20000"/>
                <a:lumOff val="80000"/>
              </a:schemeClr>
            </a:solidFill>
          </p:spPr>
          <p:txBody>
            <a:bodyPr wrap="square" rtlCol="0">
              <a:spAutoFit/>
            </a:bodyPr>
            <a:lstStyle/>
            <a:p>
              <a:endParaRPr lang="en-US"/>
            </a:p>
          </p:txBody>
        </p:sp>
        <p:pic>
          <p:nvPicPr>
            <p:cNvPr id="27" name="Picture 26"/>
            <p:cNvPicPr>
              <a:picLocks noChangeAspect="1"/>
            </p:cNvPicPr>
            <p:nvPr/>
          </p:nvPicPr>
          <p:blipFill>
            <a:blip r:embed="rId3"/>
            <a:stretch>
              <a:fillRect/>
            </a:stretch>
          </p:blipFill>
          <p:spPr>
            <a:xfrm>
              <a:off x="2384804" y="4382758"/>
              <a:ext cx="9516803" cy="2362530"/>
            </a:xfrm>
            <a:prstGeom prst="rect">
              <a:avLst/>
            </a:prstGeom>
          </p:spPr>
        </p:pic>
        <p:sp>
          <p:nvSpPr>
            <p:cNvPr id="28" name="TextBox 27"/>
            <p:cNvSpPr txBox="1"/>
            <p:nvPr/>
          </p:nvSpPr>
          <p:spPr>
            <a:xfrm>
              <a:off x="76889" y="5141854"/>
              <a:ext cx="2302580" cy="923330"/>
            </a:xfrm>
            <a:prstGeom prst="rect">
              <a:avLst/>
            </a:prstGeom>
            <a:noFill/>
          </p:spPr>
          <p:txBody>
            <a:bodyPr wrap="square" rtlCol="0">
              <a:spAutoFit/>
            </a:bodyPr>
            <a:lstStyle/>
            <a:p>
              <a:pPr algn="ctr"/>
              <a:r>
                <a:rPr lang="en-US" smtClean="0"/>
                <a:t>ERP</a:t>
              </a:r>
              <a:endParaRPr lang="vi-VN" smtClean="0"/>
            </a:p>
            <a:p>
              <a:pPr algn="ctr"/>
              <a:endParaRPr lang="en-US" smtClean="0"/>
            </a:p>
            <a:p>
              <a:pPr algn="ctr"/>
              <a:r>
                <a:rPr lang="en-US" smtClean="0"/>
                <a:t>Mã: </a:t>
              </a:r>
              <a:r>
                <a:rPr lang="en-US" b="1" smtClean="0">
                  <a:solidFill>
                    <a:srgbClr val="FF0000"/>
                  </a:solidFill>
                </a:rPr>
                <a:t>PTCA00000372T</a:t>
              </a:r>
              <a:endParaRPr lang="en-US" b="1">
                <a:solidFill>
                  <a:srgbClr val="FF0000"/>
                </a:solidFill>
              </a:endParaRPr>
            </a:p>
          </p:txBody>
        </p:sp>
        <p:sp>
          <p:nvSpPr>
            <p:cNvPr id="29" name="Rounded Rectangular Callout 28"/>
            <p:cNvSpPr/>
            <p:nvPr/>
          </p:nvSpPr>
          <p:spPr>
            <a:xfrm>
              <a:off x="10568763" y="4503716"/>
              <a:ext cx="1526782" cy="992445"/>
            </a:xfrm>
            <a:prstGeom prst="wedgeRoundRectCallout">
              <a:avLst>
                <a:gd name="adj1" fmla="val -73513"/>
                <a:gd name="adj2" fmla="val 31341"/>
                <a:gd name="adj3" fmla="val 16667"/>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400">
                  <a:solidFill>
                    <a:sysClr val="windowText" lastClr="000000"/>
                  </a:solidFill>
                  <a:latin typeface="Times New Roman" panose="02020603050405020304" pitchFamily="18" charset="0"/>
                  <a:ea typeface="Microsoft JhengHei" panose="020B0604030504040204" pitchFamily="34" charset="-120"/>
                  <a:cs typeface="Times New Roman" panose="02020603050405020304" pitchFamily="18" charset="0"/>
                </a:rPr>
                <a:t>Giá trị được </a:t>
              </a:r>
              <a:r>
                <a:rPr lang="vi-VN" sz="140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cập nhật ở </a:t>
              </a:r>
              <a:r>
                <a:rPr lang="en-US" sz="140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đ</a:t>
              </a:r>
              <a:r>
                <a:rPr lang="vi-VN" sz="1400" smtClean="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ây </a:t>
              </a:r>
              <a:r>
                <a:rPr lang="en-US" sz="1400" smtClean="0">
                  <a:solidFill>
                    <a:schemeClr val="tx1"/>
                  </a:solidFill>
                  <a:latin typeface="Times New Roman" panose="02020603050405020304" pitchFamily="18" charset="0"/>
                  <a:ea typeface="Microsoft JhengHei" panose="020B0604030504040204" pitchFamily="34" charset="-120"/>
                  <a:cs typeface="Times New Roman" panose="02020603050405020304" pitchFamily="18" charset="0"/>
                </a:rPr>
                <a:t>thay vì cập nhật ở dòng </a:t>
              </a:r>
              <a:r>
                <a:rPr lang="en-US" sz="1400" smtClean="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0080</a:t>
              </a:r>
              <a:endParaRPr lang="en-US" sz="1400"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sp>
        <p:nvSpPr>
          <p:cNvPr id="14" name="TextBox 13"/>
          <p:cNvSpPr txBox="1"/>
          <p:nvPr/>
        </p:nvSpPr>
        <p:spPr>
          <a:xfrm>
            <a:off x="353569" y="708958"/>
            <a:ext cx="11838432" cy="115608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1600" b="1" dirty="0">
                <a:latin typeface="Microsoft JhengHei" panose="020B0604030504040204" pitchFamily="34" charset="-120"/>
                <a:ea typeface="Microsoft JhengHei" panose="020B0604030504040204" pitchFamily="34" charset="-120"/>
                <a:cs typeface="Times New Roman" panose="02020603050405020304" pitchFamily="18" charset="0"/>
              </a:rPr>
              <a:t>問題</a:t>
            </a:r>
            <a:r>
              <a:rPr lang="en-US" sz="1600" b="1" dirty="0">
                <a:latin typeface="Microsoft JhengHei" panose="020B0604030504040204" pitchFamily="34" charset="-120"/>
                <a:ea typeface="Microsoft JhengHei" panose="020B0604030504040204" pitchFamily="34" charset="-120"/>
                <a:cs typeface="Times New Roman" panose="02020603050405020304" pitchFamily="18" charset="0"/>
              </a:rPr>
              <a:t>:</a:t>
            </a:r>
            <a:r>
              <a:rPr lang="en-US" sz="1600" dirty="0">
                <a:latin typeface="Microsoft JhengHei" panose="020B0604030504040204" pitchFamily="34" charset="-120"/>
                <a:ea typeface="Microsoft JhengHei" panose="020B0604030504040204" pitchFamily="34" charset="-120"/>
                <a:cs typeface="Times New Roman" panose="02020603050405020304" pitchFamily="18" charset="0"/>
              </a:rPr>
              <a:t>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PLM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與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ERP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之間之原物料序號不一致，原因在於同一物料編碼於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PLM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中可能存在多筆不同</a:t>
            </a:r>
            <a:r>
              <a:rPr lang="zh-CN"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序號 </a:t>
            </a:r>
            <a:r>
              <a:rPr lang="vi-VN" altLang="zh-TW" sz="1400" dirty="0">
                <a:latin typeface="Times New Roman" panose="02020603050405020304" pitchFamily="18" charset="0"/>
                <a:ea typeface="Microsoft JhengHei" panose="020B0604030504040204" pitchFamily="34" charset="-120"/>
                <a:cs typeface="Times New Roman" panose="02020603050405020304" pitchFamily="18" charset="0"/>
              </a:rPr>
              <a:t>=&gt;</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sz="1400" dirty="0">
                <a:solidFill>
                  <a:srgbClr val="FF0000"/>
                </a:solidFill>
                <a:latin typeface="Microsoft JhengHei" panose="020B0604030504040204" pitchFamily="34" charset="-120"/>
                <a:ea typeface="Microsoft JhengHei" panose="020B0604030504040204" pitchFamily="34" charset="-120"/>
                <a:cs typeface="Times New Roman" panose="02020603050405020304" pitchFamily="18" charset="0"/>
              </a:rPr>
              <a:t>目前系統以「物料編碼」作為</a:t>
            </a:r>
            <a:r>
              <a:rPr lang="zh-TW" altLang="en-US" sz="1400" b="0" i="0" dirty="0">
                <a:solidFill>
                  <a:srgbClr val="FF0000"/>
                </a:solidFill>
                <a:effectLst/>
                <a:latin typeface="Microsoft JhengHei" panose="020B0604030504040204" pitchFamily="34" charset="-120"/>
                <a:ea typeface="Microsoft JhengHei" panose="020B0604030504040204" pitchFamily="34" charset="-120"/>
              </a:rPr>
              <a:t>主键</a:t>
            </a:r>
            <a:r>
              <a:rPr lang="zh-TW" altLang="en-US" sz="1400" dirty="0">
                <a:solidFill>
                  <a:srgbClr val="FF0000"/>
                </a:solidFill>
                <a:latin typeface="Microsoft JhengHei" panose="020B0604030504040204" pitchFamily="34" charset="-120"/>
                <a:ea typeface="Microsoft JhengHei" panose="020B0604030504040204" pitchFamily="34" charset="-120"/>
                <a:cs typeface="Times New Roman" panose="02020603050405020304" pitchFamily="18" charset="0"/>
              </a:rPr>
              <a:t>。</a:t>
            </a:r>
            <a:endParaRPr lang="en-US" sz="1400" dirty="0">
              <a:solidFill>
                <a:srgbClr val="FF0000"/>
              </a:solidFill>
              <a:latin typeface="Microsoft JhengHei" panose="020B0604030504040204" pitchFamily="34" charset="-120"/>
              <a:ea typeface="Microsoft JhengHei" panose="020B0604030504040204" pitchFamily="34" charset="-120"/>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sz="1600" b="1" dirty="0">
                <a:latin typeface="Microsoft JhengHei" panose="020B0604030504040204" pitchFamily="34" charset="-120"/>
                <a:ea typeface="Microsoft JhengHei" panose="020B0604030504040204" pitchFamily="34" charset="-120"/>
                <a:cs typeface="Times New Roman" panose="02020603050405020304" pitchFamily="18" charset="0"/>
              </a:rPr>
              <a:t>原因</a:t>
            </a:r>
            <a:r>
              <a:rPr lang="en-US" altLang="zh-CN" sz="1600" b="1" dirty="0">
                <a:latin typeface="Microsoft JhengHei" panose="020B0604030504040204" pitchFamily="34" charset="-120"/>
                <a:ea typeface="Microsoft JhengHei" panose="020B0604030504040204" pitchFamily="34" charset="-120"/>
                <a:cs typeface="Times New Roman" panose="02020603050405020304" pitchFamily="18" charset="0"/>
              </a:rPr>
              <a:t>: </a:t>
            </a:r>
            <a:r>
              <a:rPr lang="zh-CN"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序號</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僅具備排序用途，並非主鍵；以物料編碼作為輔助鍵進行對應，容易造成 </a:t>
            </a:r>
            <a:r>
              <a:rPr lang="zh-CN"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序號</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對應錯誤。</a:t>
            </a:r>
            <a:endParaRPr lang="en-US" sz="1400" dirty="0">
              <a:latin typeface="Microsoft JhengHei" panose="020B0604030504040204" pitchFamily="34" charset="-120"/>
              <a:ea typeface="Microsoft JhengHei" panose="020B0604030504040204" pitchFamily="34" charset="-120"/>
              <a:cs typeface="Times New Roman" panose="02020603050405020304" pitchFamily="18" charset="0"/>
            </a:endParaRPr>
          </a:p>
          <a:p>
            <a:pPr marL="342900" indent="-342900">
              <a:lnSpc>
                <a:spcPct val="150000"/>
              </a:lnSpc>
              <a:buFont typeface="Wingdings" panose="05000000000000000000" pitchFamily="2" charset="2"/>
              <a:buChar char="Ø"/>
            </a:pPr>
            <a:r>
              <a:rPr lang="zh-CN" altLang="en-US" sz="1600" b="1" dirty="0">
                <a:latin typeface="Microsoft JhengHei" panose="020B0604030504040204" pitchFamily="34" charset="-120"/>
                <a:ea typeface="Microsoft JhengHei" panose="020B0604030504040204" pitchFamily="34" charset="-120"/>
                <a:cs typeface="Times New Roman" panose="02020603050405020304" pitchFamily="18" charset="0"/>
              </a:rPr>
              <a:t>影像</a:t>
            </a:r>
            <a:r>
              <a:rPr lang="vi-VN" sz="1400" b="1" dirty="0">
                <a:latin typeface="Times New Roman" panose="02020603050405020304" pitchFamily="18" charset="0"/>
                <a:ea typeface="Microsoft JhengHei" panose="020B0604030504040204" pitchFamily="34" charset="-120"/>
                <a:cs typeface="Times New Roman" panose="02020603050405020304" pitchFamily="18" charset="0"/>
              </a:rPr>
              <a:t>:</a:t>
            </a:r>
            <a:r>
              <a:rPr lang="vi-VN" sz="14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ERP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中之 序號與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PLM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中變更位置不一致，導致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BOM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對照困難（例如：物料編碼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CTCS00000017 </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取得序號為 </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0030</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，而非</a:t>
            </a:r>
            <a:r>
              <a:rPr lang="en-US" altLang="zh-TW" sz="1400" dirty="0">
                <a:latin typeface="Microsoft JhengHei" panose="020B0604030504040204" pitchFamily="34" charset="-120"/>
                <a:ea typeface="Microsoft JhengHei" panose="020B0604030504040204" pitchFamily="34" charset="-120"/>
                <a:cs typeface="Times New Roman" panose="02020603050405020304" pitchFamily="18" charset="0"/>
              </a:rPr>
              <a:t>0080</a:t>
            </a:r>
            <a:r>
              <a:rPr lang="zh-TW" altLang="en-US" sz="1400" dirty="0">
                <a:latin typeface="Microsoft JhengHei" panose="020B0604030504040204" pitchFamily="34" charset="-120"/>
                <a:ea typeface="Microsoft JhengHei" panose="020B0604030504040204" pitchFamily="34" charset="-120"/>
                <a:cs typeface="Times New Roman" panose="02020603050405020304" pitchFamily="18" charset="0"/>
              </a:rPr>
              <a:t>）</a:t>
            </a:r>
            <a:endParaRPr lang="vi-VN"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412374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53568" y="1175905"/>
            <a:ext cx="11838432" cy="2446824"/>
          </a:xfrm>
          <a:prstGeom prst="rect">
            <a:avLst/>
          </a:prstGeom>
          <a:noFill/>
        </p:spPr>
        <p:txBody>
          <a:bodyPr wrap="square" rtlCol="0">
            <a:spAutoFit/>
          </a:bodyPr>
          <a:lstStyle/>
          <a:p>
            <a:pPr>
              <a:lnSpc>
                <a:spcPct val="150000"/>
              </a:lnSpc>
            </a:pPr>
            <a:r>
              <a:rPr lang="en-US" sz="1600" b="1" i="1" u="sng" smtClean="0">
                <a:latin typeface="Times New Roman" panose="02020603050405020304" pitchFamily="18" charset="0"/>
                <a:ea typeface="Microsoft JhengHei" panose="020B0604030504040204" pitchFamily="34" charset="-120"/>
                <a:cs typeface="Times New Roman" panose="02020603050405020304" pitchFamily="18" charset="0"/>
              </a:rPr>
              <a:t>Đề xuất 2 Phương án xử lý:</a:t>
            </a:r>
          </a:p>
          <a:p>
            <a:pPr marL="800100" lvl="1" indent="-342900">
              <a:lnSpc>
                <a:spcPct val="150000"/>
              </a:lnSpc>
              <a:buFont typeface="Wingdings" panose="05000000000000000000" pitchFamily="2" charset="2"/>
              <a:buChar char="Ø"/>
            </a:pPr>
            <a:r>
              <a:rPr lang="en-US" sz="1400" i="1" smtClean="0">
                <a:latin typeface="Times New Roman" panose="02020603050405020304" pitchFamily="18" charset="0"/>
                <a:ea typeface="Microsoft JhengHei" panose="020B0604030504040204" pitchFamily="34" charset="-120"/>
                <a:cs typeface="Times New Roman" panose="02020603050405020304" pitchFamily="18" charset="0"/>
              </a:rPr>
              <a:t>Phướng án 1: </a:t>
            </a:r>
          </a:p>
          <a:p>
            <a:pPr marL="1200150" lvl="2" indent="-285750">
              <a:lnSpc>
                <a:spcPct val="150000"/>
              </a:lnSpc>
              <a:buFont typeface="Wingdings" panose="05000000000000000000" pitchFamily="2" charset="2"/>
              <a:buChar char="§"/>
            </a:pPr>
            <a:r>
              <a:rPr lang="en-US" sz="1400" smtClean="0">
                <a:latin typeface="Times New Roman" panose="02020603050405020304" pitchFamily="18" charset="0"/>
                <a:ea typeface="Microsoft JhengHei" panose="020B0604030504040204" pitchFamily="34" charset="-120"/>
                <a:cs typeface="Times New Roman" panose="02020603050405020304" pitchFamily="18" charset="0"/>
              </a:rPr>
              <a:t>Nhờ PLM đặt lại STT là khóa chính tương tự như bên ERP</a:t>
            </a:r>
          </a:p>
          <a:p>
            <a:pPr marL="800100" lvl="1" indent="-342900">
              <a:lnSpc>
                <a:spcPct val="150000"/>
              </a:lnSpc>
              <a:buFont typeface="Wingdings" panose="05000000000000000000" pitchFamily="2" charset="2"/>
              <a:buChar char="Ø"/>
            </a:pPr>
            <a:r>
              <a:rPr lang="en-US" sz="1400" i="1" smtClean="0">
                <a:latin typeface="Times New Roman" panose="02020603050405020304" pitchFamily="18" charset="0"/>
                <a:ea typeface="Microsoft JhengHei" panose="020B0604030504040204" pitchFamily="34" charset="-120"/>
                <a:cs typeface="Times New Roman" panose="02020603050405020304" pitchFamily="18" charset="0"/>
              </a:rPr>
              <a:t>Phướng án 2: </a:t>
            </a:r>
          </a:p>
          <a:p>
            <a:pPr marL="1200150" lvl="2" indent="-285750">
              <a:lnSpc>
                <a:spcPct val="150000"/>
              </a:lnSpc>
              <a:buFont typeface="Wingdings" panose="05000000000000000000" pitchFamily="2" charset="2"/>
              <a:buChar char="§"/>
            </a:pPr>
            <a:r>
              <a:rPr lang="en-US" sz="1400" smtClean="0">
                <a:latin typeface="Times New Roman" panose="02020603050405020304" pitchFamily="18" charset="0"/>
                <a:ea typeface="Microsoft JhengHei" panose="020B0604030504040204" pitchFamily="34" charset="-120"/>
                <a:cs typeface="Times New Roman" panose="02020603050405020304" pitchFamily="18" charset="0"/>
              </a:rPr>
              <a:t>KaiFa điều chỉnh lại các nhập dữ liệu để trong 1 BOM không có mã NVL nào trùng tên nhau.</a:t>
            </a:r>
          </a:p>
          <a:p>
            <a:pPr marL="1200150" lvl="2" indent="-285750">
              <a:lnSpc>
                <a:spcPct val="150000"/>
              </a:lnSpc>
              <a:buFont typeface="Wingdings" panose="05000000000000000000" pitchFamily="2" charset="2"/>
              <a:buChar char="§"/>
            </a:pPr>
            <a:endParaRPr lang="en-US" sz="1400" smtClean="0">
              <a:latin typeface="Times New Roman" panose="02020603050405020304" pitchFamily="18" charset="0"/>
              <a:ea typeface="Microsoft JhengHei" panose="020B0604030504040204" pitchFamily="34" charset="-120"/>
              <a:cs typeface="Times New Roman" panose="02020603050405020304" pitchFamily="18" charset="0"/>
            </a:endParaRPr>
          </a:p>
          <a:p>
            <a:pPr>
              <a:lnSpc>
                <a:spcPct val="150000"/>
              </a:lnSpc>
            </a:pPr>
            <a:r>
              <a:rPr lang="en-US" sz="1600" b="1" i="1" u="sng" smtClean="0">
                <a:latin typeface="Times New Roman" panose="02020603050405020304" pitchFamily="18" charset="0"/>
                <a:ea typeface="Microsoft JhengHei" panose="020B0604030504040204" pitchFamily="34" charset="-120"/>
                <a:cs typeface="Times New Roman" panose="02020603050405020304" pitchFamily="18" charset="0"/>
              </a:rPr>
              <a:t>Một số phương án đề xuất khác?</a:t>
            </a:r>
            <a:endParaRPr lang="vi-VN" sz="1600" b="1" i="1" u="sng"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4" name="TextBox 3"/>
          <p:cNvSpPr txBox="1"/>
          <p:nvPr/>
        </p:nvSpPr>
        <p:spPr>
          <a:xfrm>
            <a:off x="1166191" y="131676"/>
            <a:ext cx="10647857"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1.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ĐỐI </a:t>
            </a:r>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CHIẾU MÃ NVL TRONG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BOM</a:t>
            </a:r>
            <a:r>
              <a:rPr lang="vi-VN"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-2</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2003674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499417" y="956022"/>
            <a:ext cx="11424270" cy="4899951"/>
            <a:chOff x="281703" y="1403482"/>
            <a:chExt cx="11424270" cy="4899951"/>
          </a:xfrm>
        </p:grpSpPr>
        <p:grpSp>
          <p:nvGrpSpPr>
            <p:cNvPr id="53" name="Group 52"/>
            <p:cNvGrpSpPr/>
            <p:nvPr/>
          </p:nvGrpSpPr>
          <p:grpSpPr>
            <a:xfrm>
              <a:off x="281703" y="1403482"/>
              <a:ext cx="11424270" cy="4899951"/>
              <a:chOff x="-26890" y="985382"/>
              <a:chExt cx="11424270" cy="5245279"/>
            </a:xfrm>
          </p:grpSpPr>
          <p:grpSp>
            <p:nvGrpSpPr>
              <p:cNvPr id="47" name="Group 46"/>
              <p:cNvGrpSpPr/>
              <p:nvPr/>
            </p:nvGrpSpPr>
            <p:grpSpPr>
              <a:xfrm>
                <a:off x="28359" y="985382"/>
                <a:ext cx="11369021" cy="5245279"/>
                <a:chOff x="266394" y="6042359"/>
                <a:chExt cx="10704857" cy="5245279"/>
              </a:xfrm>
            </p:grpSpPr>
            <p:sp>
              <p:nvSpPr>
                <p:cNvPr id="18" name="Rectangle 17"/>
                <p:cNvSpPr/>
                <p:nvPr/>
              </p:nvSpPr>
              <p:spPr>
                <a:xfrm>
                  <a:off x="266394" y="6042359"/>
                  <a:ext cx="10704857" cy="524527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6" name="TextBox 45"/>
                <p:cNvSpPr txBox="1"/>
                <p:nvPr/>
              </p:nvSpPr>
              <p:spPr>
                <a:xfrm>
                  <a:off x="1563973" y="9441242"/>
                  <a:ext cx="7626683" cy="625987"/>
                </a:xfrm>
                <a:prstGeom prst="rect">
                  <a:avLst/>
                </a:prstGeom>
                <a:noFill/>
                <a:ln>
                  <a:solidFill>
                    <a:srgbClr val="00B050"/>
                  </a:solidFill>
                </a:ln>
              </p:spPr>
              <p:txBody>
                <a:bodyPr wrap="square" rtlCol="0">
                  <a:spAutoFit/>
                </a:bodyPr>
                <a:lstStyle/>
                <a:p>
                  <a:pPr marL="285750" indent="-285750">
                    <a:buFont typeface="Wingdings" panose="05000000000000000000" pitchFamily="2" charset="2"/>
                    <a:buChar char="q"/>
                  </a:pPr>
                  <a:r>
                    <a:rPr lang="en-US" sz="1600">
                      <a:latin typeface="Times New Roman" panose="02020603050405020304" pitchFamily="18" charset="0"/>
                      <a:cs typeface="Times New Roman" panose="02020603050405020304" pitchFamily="18" charset="0"/>
                    </a:rPr>
                    <a:t>Cột STT trên PLM không phép lưu khi STT trùng nhau.</a:t>
                  </a:r>
                </a:p>
                <a:p>
                  <a:pPr marL="285750" indent="-285750">
                    <a:buFont typeface="Wingdings" panose="05000000000000000000" pitchFamily="2" charset="2"/>
                    <a:buChar char="q"/>
                  </a:pPr>
                  <a:r>
                    <a:rPr lang="en-US" sz="1600">
                      <a:latin typeface="Times New Roman" panose="02020603050405020304" pitchFamily="18" charset="0"/>
                      <a:cs typeface="Times New Roman" panose="02020603050405020304" pitchFamily="18" charset="0"/>
                    </a:rPr>
                    <a:t> STT chỉ được thay đổi 10, 20, 30,… </a:t>
                  </a:r>
                  <a:r>
                    <a:rPr lang="en-US" sz="1600" smtClean="0">
                      <a:latin typeface="Times New Roman" panose="02020603050405020304" pitchFamily="18" charset="0"/>
                      <a:cs typeface="Times New Roman" panose="02020603050405020304" pitchFamily="18" charset="0"/>
                    </a:rPr>
                    <a:t>thay vì có thể thay đổi thành 1</a:t>
                  </a:r>
                  <a:r>
                    <a:rPr lang="en-US" sz="1600">
                      <a:latin typeface="Times New Roman" panose="02020603050405020304" pitchFamily="18" charset="0"/>
                      <a:cs typeface="Times New Roman" panose="02020603050405020304" pitchFamily="18" charset="0"/>
                    </a:rPr>
                    <a:t>, 12</a:t>
                  </a:r>
                  <a:r>
                    <a:rPr lang="en-US" sz="1600" smtClean="0">
                      <a:latin typeface="Times New Roman" panose="02020603050405020304" pitchFamily="18" charset="0"/>
                      <a:cs typeface="Times New Roman" panose="02020603050405020304" pitchFamily="18" charset="0"/>
                    </a:rPr>
                    <a:t>,…</a:t>
                  </a:r>
                  <a:endParaRPr lang="en-US" sz="1600">
                    <a:latin typeface="Times New Roman" panose="02020603050405020304" pitchFamily="18" charset="0"/>
                    <a:cs typeface="Times New Roman" panose="02020603050405020304" pitchFamily="18" charset="0"/>
                  </a:endParaRPr>
                </a:p>
              </p:txBody>
            </p:sp>
          </p:grpSp>
          <p:sp>
            <p:nvSpPr>
              <p:cNvPr id="48" name="TextBox 47"/>
              <p:cNvSpPr txBox="1"/>
              <p:nvPr/>
            </p:nvSpPr>
            <p:spPr>
              <a:xfrm>
                <a:off x="-26890" y="1002304"/>
                <a:ext cx="10914133" cy="362414"/>
              </a:xfrm>
              <a:prstGeom prst="rect">
                <a:avLst/>
              </a:prstGeom>
              <a:noFill/>
            </p:spPr>
            <p:txBody>
              <a:bodyPr wrap="square" rtlCol="0">
                <a:spAutoFit/>
              </a:bodyPr>
              <a:lstStyle/>
              <a:p>
                <a:r>
                  <a:rPr lang="en-US" sz="1600" b="1" i="1" u="sng">
                    <a:latin typeface="Times New Roman" panose="02020603050405020304" pitchFamily="18" charset="0"/>
                    <a:cs typeface="Times New Roman" panose="02020603050405020304" pitchFamily="18" charset="0"/>
                  </a:rPr>
                  <a:t>Phương án 1</a:t>
                </a:r>
                <a:r>
                  <a:rPr lang="en-US" sz="1600" b="1" i="1" u="sng" smtClean="0">
                    <a:latin typeface="Times New Roman" panose="02020603050405020304" pitchFamily="18" charset="0"/>
                    <a:cs typeface="Times New Roman" panose="02020603050405020304" pitchFamily="18" charset="0"/>
                  </a:rPr>
                  <a:t>: Tham khảo </a:t>
                </a:r>
                <a:r>
                  <a:rPr lang="en-US" sz="1600" b="1" i="1" u="sng" smtClean="0">
                    <a:solidFill>
                      <a:srgbClr val="FF0000"/>
                    </a:solidFill>
                    <a:latin typeface="Times New Roman" panose="02020603050405020304" pitchFamily="18" charset="0"/>
                    <a:cs typeface="Times New Roman" panose="02020603050405020304" pitchFamily="18" charset="0"/>
                  </a:rPr>
                  <a:t>cố vấn PLM </a:t>
                </a:r>
                <a:r>
                  <a:rPr lang="en-US" sz="1600" b="1" i="1" u="sng" smtClean="0">
                    <a:latin typeface="Times New Roman" panose="02020603050405020304" pitchFamily="18" charset="0"/>
                    <a:cs typeface="Times New Roman" panose="02020603050405020304" pitchFamily="18" charset="0"/>
                  </a:rPr>
                  <a:t>để xử lý </a:t>
                </a:r>
                <a:endParaRPr lang="en-US" sz="1600" b="1" i="1" u="sng">
                  <a:latin typeface="Times New Roman" panose="02020603050405020304" pitchFamily="18" charset="0"/>
                  <a:cs typeface="Times New Roman" panose="02020603050405020304" pitchFamily="18" charset="0"/>
                </a:endParaRPr>
              </a:p>
            </p:txBody>
          </p:sp>
        </p:grpSp>
        <p:grpSp>
          <p:nvGrpSpPr>
            <p:cNvPr id="26" name="Group 25"/>
            <p:cNvGrpSpPr/>
            <p:nvPr/>
          </p:nvGrpSpPr>
          <p:grpSpPr>
            <a:xfrm>
              <a:off x="1715036" y="2024319"/>
              <a:ext cx="8047466" cy="2314898"/>
              <a:chOff x="1395430" y="1395083"/>
              <a:chExt cx="9431066" cy="2314898"/>
            </a:xfrm>
          </p:grpSpPr>
          <p:pic>
            <p:nvPicPr>
              <p:cNvPr id="27" name="Picture 26"/>
              <p:cNvPicPr>
                <a:picLocks noChangeAspect="1"/>
              </p:cNvPicPr>
              <p:nvPr/>
            </p:nvPicPr>
            <p:blipFill>
              <a:blip r:embed="rId2"/>
              <a:stretch>
                <a:fillRect/>
              </a:stretch>
            </p:blipFill>
            <p:spPr>
              <a:xfrm>
                <a:off x="1395430" y="1395083"/>
                <a:ext cx="9431066" cy="2314898"/>
              </a:xfrm>
              <a:prstGeom prst="rect">
                <a:avLst/>
              </a:prstGeom>
            </p:spPr>
          </p:pic>
          <p:sp>
            <p:nvSpPr>
              <p:cNvPr id="28" name="Rectangle 27"/>
              <p:cNvSpPr/>
              <p:nvPr/>
            </p:nvSpPr>
            <p:spPr>
              <a:xfrm>
                <a:off x="1606236" y="1395083"/>
                <a:ext cx="555683" cy="224516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grpSp>
        <p:grpSp>
          <p:nvGrpSpPr>
            <p:cNvPr id="29" name="Group 28"/>
            <p:cNvGrpSpPr/>
            <p:nvPr/>
          </p:nvGrpSpPr>
          <p:grpSpPr>
            <a:xfrm>
              <a:off x="774918" y="5373172"/>
              <a:ext cx="10783098" cy="672685"/>
              <a:chOff x="995356" y="6021681"/>
              <a:chExt cx="9894516" cy="896298"/>
            </a:xfrm>
          </p:grpSpPr>
          <p:sp>
            <p:nvSpPr>
              <p:cNvPr id="30" name="Rectangle 29"/>
              <p:cNvSpPr/>
              <p:nvPr/>
            </p:nvSpPr>
            <p:spPr>
              <a:xfrm>
                <a:off x="995356" y="6021681"/>
                <a:ext cx="9894516" cy="89629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1" name="TextBox 30"/>
              <p:cNvSpPr txBox="1"/>
              <p:nvPr/>
            </p:nvSpPr>
            <p:spPr>
              <a:xfrm>
                <a:off x="1152898" y="6196183"/>
                <a:ext cx="9313323" cy="451096"/>
              </a:xfrm>
              <a:prstGeom prst="rect">
                <a:avLst/>
              </a:prstGeom>
              <a:noFill/>
            </p:spPr>
            <p:txBody>
              <a:bodyPr wrap="square" rtlCol="0">
                <a:spAutoFit/>
              </a:bodyPr>
              <a:lstStyle/>
              <a:p>
                <a:r>
                  <a:rPr lang="en-US" sz="1600" b="1" i="1" u="sng" smtClean="0">
                    <a:solidFill>
                      <a:srgbClr val="FF0000"/>
                    </a:solidFill>
                    <a:latin typeface="Times New Roman" panose="02020603050405020304" pitchFamily="18" charset="0"/>
                    <a:cs typeface="Times New Roman" panose="02020603050405020304" pitchFamily="18" charset="0"/>
                  </a:rPr>
                  <a:t>Mục đích</a:t>
                </a:r>
                <a:r>
                  <a:rPr lang="en-US" sz="1600" smtClean="0">
                    <a:latin typeface="Times New Roman" panose="02020603050405020304" pitchFamily="18" charset="0"/>
                    <a:cs typeface="Times New Roman" panose="02020603050405020304" pitchFamily="18" charset="0"/>
                  </a:rPr>
                  <a:t>: đồng </a:t>
                </a:r>
                <a:r>
                  <a:rPr lang="en-US" sz="1600">
                    <a:latin typeface="Times New Roman" panose="02020603050405020304" pitchFamily="18" charset="0"/>
                    <a:cs typeface="Times New Roman" panose="02020603050405020304" pitchFamily="18" charset="0"/>
                  </a:rPr>
                  <a:t>hộ với khóa chính MD002 của bảng BOMMD trên ERP</a:t>
                </a:r>
                <a:r>
                  <a:rPr lang="en-US" sz="1600" smtClean="0">
                    <a:latin typeface="Times New Roman" panose="02020603050405020304" pitchFamily="18" charset="0"/>
                    <a:cs typeface="Times New Roman" panose="02020603050405020304" pitchFamily="18" charset="0"/>
                  </a:rPr>
                  <a:t>.</a:t>
                </a:r>
                <a:endParaRPr lang="en-US" sz="1600">
                  <a:latin typeface="Times New Roman" panose="02020603050405020304" pitchFamily="18" charset="0"/>
                  <a:cs typeface="Times New Roman" panose="02020603050405020304" pitchFamily="18" charset="0"/>
                </a:endParaRPr>
              </a:p>
            </p:txBody>
          </p:sp>
        </p:grpSp>
      </p:grpSp>
      <p:sp>
        <p:nvSpPr>
          <p:cNvPr id="15" name="TextBox 14"/>
          <p:cNvSpPr txBox="1"/>
          <p:nvPr/>
        </p:nvSpPr>
        <p:spPr>
          <a:xfrm>
            <a:off x="1166191" y="131676"/>
            <a:ext cx="10647857"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1.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ĐỐI </a:t>
            </a:r>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CHIẾU MÃ NVL TRONG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BOM</a:t>
            </a:r>
            <a:r>
              <a:rPr lang="vi-VN"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-3</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430364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p:cNvGrpSpPr/>
          <p:nvPr/>
        </p:nvGrpSpPr>
        <p:grpSpPr>
          <a:xfrm>
            <a:off x="685838" y="968722"/>
            <a:ext cx="11148198" cy="5687259"/>
            <a:chOff x="522514" y="1210022"/>
            <a:chExt cx="11148198" cy="5687259"/>
          </a:xfrm>
        </p:grpSpPr>
        <p:grpSp>
          <p:nvGrpSpPr>
            <p:cNvPr id="10" name="Group 9"/>
            <p:cNvGrpSpPr/>
            <p:nvPr/>
          </p:nvGrpSpPr>
          <p:grpSpPr>
            <a:xfrm>
              <a:off x="522514" y="1210022"/>
              <a:ext cx="11148198" cy="5687259"/>
              <a:chOff x="457319" y="1249560"/>
              <a:chExt cx="11408013" cy="6511819"/>
            </a:xfrm>
          </p:grpSpPr>
          <p:grpSp>
            <p:nvGrpSpPr>
              <p:cNvPr id="53" name="Group 52"/>
              <p:cNvGrpSpPr/>
              <p:nvPr/>
            </p:nvGrpSpPr>
            <p:grpSpPr>
              <a:xfrm>
                <a:off x="457319" y="1249560"/>
                <a:ext cx="11408013" cy="6511819"/>
                <a:chOff x="-339" y="767958"/>
                <a:chExt cx="11408013" cy="6511819"/>
              </a:xfrm>
            </p:grpSpPr>
            <p:sp>
              <p:nvSpPr>
                <p:cNvPr id="18" name="Rectangle 17"/>
                <p:cNvSpPr/>
                <p:nvPr/>
              </p:nvSpPr>
              <p:spPr>
                <a:xfrm>
                  <a:off x="18198" y="767958"/>
                  <a:ext cx="11389476" cy="651181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8" name="TextBox 47"/>
                <p:cNvSpPr txBox="1"/>
                <p:nvPr/>
              </p:nvSpPr>
              <p:spPr>
                <a:xfrm>
                  <a:off x="-339" y="849376"/>
                  <a:ext cx="10914133" cy="387639"/>
                </a:xfrm>
                <a:prstGeom prst="rect">
                  <a:avLst/>
                </a:prstGeom>
                <a:noFill/>
              </p:spPr>
              <p:txBody>
                <a:bodyPr wrap="square" rtlCol="0">
                  <a:spAutoFit/>
                </a:bodyPr>
                <a:lstStyle/>
                <a:p>
                  <a:r>
                    <a:rPr lang="en-US" sz="1600" b="1" i="1" u="sng">
                      <a:latin typeface="Times New Roman" panose="02020603050405020304" pitchFamily="18" charset="0"/>
                      <a:cs typeface="Times New Roman" panose="02020603050405020304" pitchFamily="18" charset="0"/>
                    </a:rPr>
                    <a:t>Phương án 2</a:t>
                  </a:r>
                  <a:r>
                    <a:rPr lang="en-US" sz="1600" b="1" i="1" u="sng" smtClean="0">
                      <a:latin typeface="Times New Roman" panose="02020603050405020304" pitchFamily="18" charset="0"/>
                      <a:cs typeface="Times New Roman" panose="02020603050405020304" pitchFamily="18" charset="0"/>
                    </a:rPr>
                    <a:t>: </a:t>
                  </a:r>
                  <a:r>
                    <a:rPr lang="en-US" sz="1600" b="1" i="1" u="sng" smtClean="0">
                      <a:solidFill>
                        <a:srgbClr val="FF0000"/>
                      </a:solidFill>
                      <a:latin typeface="Times New Roman" panose="02020603050405020304" pitchFamily="18" charset="0"/>
                      <a:cs typeface="Times New Roman" panose="02020603050405020304" pitchFamily="18" charset="0"/>
                    </a:rPr>
                    <a:t>Kaifa</a:t>
                  </a:r>
                  <a:r>
                    <a:rPr lang="en-US" sz="1600" b="1" i="1" u="sng" smtClean="0">
                      <a:latin typeface="Times New Roman" panose="02020603050405020304" pitchFamily="18" charset="0"/>
                      <a:cs typeface="Times New Roman" panose="02020603050405020304" pitchFamily="18" charset="0"/>
                    </a:rPr>
                    <a:t> gộp các NVL có chung mã thành 1 mã NVL duy nhất:</a:t>
                  </a:r>
                  <a:endParaRPr lang="en-US" sz="1600" b="1" i="1" u="sng">
                    <a:latin typeface="Times New Roman" panose="02020603050405020304" pitchFamily="18" charset="0"/>
                    <a:cs typeface="Times New Roman" panose="02020603050405020304" pitchFamily="18" charset="0"/>
                  </a:endParaRPr>
                </a:p>
              </p:txBody>
            </p:sp>
          </p:grpSp>
          <p:grpSp>
            <p:nvGrpSpPr>
              <p:cNvPr id="11" name="Group 10"/>
              <p:cNvGrpSpPr/>
              <p:nvPr/>
            </p:nvGrpSpPr>
            <p:grpSpPr>
              <a:xfrm>
                <a:off x="682171" y="1415841"/>
                <a:ext cx="10888552" cy="4897873"/>
                <a:chOff x="390990" y="1015450"/>
                <a:chExt cx="11833104" cy="5623833"/>
              </a:xfrm>
            </p:grpSpPr>
            <p:grpSp>
              <p:nvGrpSpPr>
                <p:cNvPr id="12" name="Group 11"/>
                <p:cNvGrpSpPr/>
                <p:nvPr/>
              </p:nvGrpSpPr>
              <p:grpSpPr>
                <a:xfrm>
                  <a:off x="390990" y="1506927"/>
                  <a:ext cx="8259523" cy="5132356"/>
                  <a:chOff x="1276363" y="1463384"/>
                  <a:chExt cx="9679583" cy="5132356"/>
                </a:xfrm>
              </p:grpSpPr>
              <p:pic>
                <p:nvPicPr>
                  <p:cNvPr id="24" name="Picture 23"/>
                  <p:cNvPicPr>
                    <a:picLocks noChangeAspect="1"/>
                  </p:cNvPicPr>
                  <p:nvPr/>
                </p:nvPicPr>
                <p:blipFill>
                  <a:blip r:embed="rId2"/>
                  <a:stretch>
                    <a:fillRect/>
                  </a:stretch>
                </p:blipFill>
                <p:spPr>
                  <a:xfrm>
                    <a:off x="1276363" y="1463384"/>
                    <a:ext cx="9431066" cy="2314898"/>
                  </a:xfrm>
                  <a:prstGeom prst="rect">
                    <a:avLst/>
                  </a:prstGeom>
                </p:spPr>
              </p:pic>
              <p:sp>
                <p:nvSpPr>
                  <p:cNvPr id="25" name="Rectangle 24"/>
                  <p:cNvSpPr/>
                  <p:nvPr/>
                </p:nvSpPr>
                <p:spPr>
                  <a:xfrm>
                    <a:off x="1562986" y="2434856"/>
                    <a:ext cx="8048847" cy="2339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sp>
                <p:nvSpPr>
                  <p:cNvPr id="26" name="Rectangle 25"/>
                  <p:cNvSpPr/>
                  <p:nvPr/>
                </p:nvSpPr>
                <p:spPr>
                  <a:xfrm>
                    <a:off x="1606236" y="3406328"/>
                    <a:ext cx="8048847" cy="2339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sp>
                <p:nvSpPr>
                  <p:cNvPr id="27" name="Down Arrow 26"/>
                  <p:cNvSpPr/>
                  <p:nvPr/>
                </p:nvSpPr>
                <p:spPr>
                  <a:xfrm>
                    <a:off x="5381515" y="3986623"/>
                    <a:ext cx="498290" cy="65621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pic>
                <p:nvPicPr>
                  <p:cNvPr id="28" name="Picture 27"/>
                  <p:cNvPicPr>
                    <a:picLocks noChangeAspect="1"/>
                  </p:cNvPicPr>
                  <p:nvPr/>
                </p:nvPicPr>
                <p:blipFill>
                  <a:blip r:embed="rId3"/>
                  <a:stretch>
                    <a:fillRect/>
                  </a:stretch>
                </p:blipFill>
                <p:spPr>
                  <a:xfrm>
                    <a:off x="1562985" y="4642842"/>
                    <a:ext cx="9392961" cy="1952898"/>
                  </a:xfrm>
                  <a:prstGeom prst="rect">
                    <a:avLst/>
                  </a:prstGeom>
                </p:spPr>
              </p:pic>
              <p:sp>
                <p:nvSpPr>
                  <p:cNvPr id="29" name="Rectangle 28"/>
                  <p:cNvSpPr/>
                  <p:nvPr/>
                </p:nvSpPr>
                <p:spPr>
                  <a:xfrm>
                    <a:off x="6386286" y="5351571"/>
                    <a:ext cx="725714" cy="23161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grpSp>
            <p:cxnSp>
              <p:nvCxnSpPr>
                <p:cNvPr id="13" name="Straight Arrow Connector 12"/>
                <p:cNvCxnSpPr>
                  <a:stCxn id="29" idx="0"/>
                  <a:endCxn id="14" idx="2"/>
                </p:cNvCxnSpPr>
                <p:nvPr/>
              </p:nvCxnSpPr>
              <p:spPr>
                <a:xfrm flipV="1">
                  <a:off x="5060876" y="3302763"/>
                  <a:ext cx="5483422" cy="20923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TextBox 16"/>
                <p:cNvSpPr txBox="1"/>
                <p:nvPr/>
              </p:nvSpPr>
              <p:spPr>
                <a:xfrm>
                  <a:off x="9113414" y="2088867"/>
                  <a:ext cx="2861769" cy="1213895"/>
                </a:xfrm>
                <a:prstGeom prst="rect">
                  <a:avLst/>
                </a:prstGeom>
                <a:noFill/>
                <a:ln>
                  <a:solidFill>
                    <a:srgbClr val="FF0000"/>
                  </a:solidFill>
                  <a:prstDash val="solid"/>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mtClean="0">
                      <a:latin typeface="Times New Roman" panose="02020603050405020304" pitchFamily="18" charset="0"/>
                      <a:cs typeface="Times New Roman" panose="02020603050405020304" pitchFamily="18" charset="0"/>
                    </a:rPr>
                    <a:t>Tổng </a:t>
                  </a:r>
                  <a:r>
                    <a:rPr lang="en-US">
                      <a:latin typeface="Times New Roman" panose="02020603050405020304" pitchFamily="18" charset="0"/>
                      <a:cs typeface="Times New Roman" panose="02020603050405020304" pitchFamily="18" charset="0"/>
                    </a:rPr>
                    <a:t>lượng dùng của 2 NVL trùng </a:t>
                  </a:r>
                  <a:r>
                    <a:rPr lang="en-US" smtClean="0">
                      <a:latin typeface="Times New Roman" panose="02020603050405020304" pitchFamily="18" charset="0"/>
                      <a:cs typeface="Times New Roman" panose="02020603050405020304" pitchFamily="18" charset="0"/>
                    </a:rPr>
                    <a:t>nhau</a:t>
                  </a:r>
                </a:p>
                <a:p>
                  <a:pPr marL="285750" indent="-285750">
                    <a:buFont typeface="Arial" panose="020B0604020202020204" pitchFamily="34" charset="0"/>
                    <a:buChar char="•"/>
                  </a:pPr>
                  <a:endParaRPr lang="en-US">
                    <a:latin typeface="Times New Roman" panose="02020603050405020304" pitchFamily="18" charset="0"/>
                    <a:cs typeface="Times New Roman" panose="02020603050405020304" pitchFamily="18" charset="0"/>
                  </a:endParaRPr>
                </a:p>
              </p:txBody>
            </p:sp>
            <p:sp>
              <p:nvSpPr>
                <p:cNvPr id="16" name="TextBox 18"/>
                <p:cNvSpPr txBox="1"/>
                <p:nvPr/>
              </p:nvSpPr>
              <p:spPr>
                <a:xfrm>
                  <a:off x="8960138" y="3977836"/>
                  <a:ext cx="3239613" cy="1213895"/>
                </a:xfrm>
                <a:prstGeom prst="rect">
                  <a:avLst/>
                </a:prstGeom>
                <a:noFill/>
                <a:ln>
                  <a:solidFill>
                    <a:srgbClr val="FF0000"/>
                  </a:solidFill>
                  <a:prstDash val="solid"/>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mtClean="0">
                      <a:latin typeface="Times New Roman" panose="02020603050405020304" pitchFamily="18" charset="0"/>
                      <a:cs typeface="Times New Roman" panose="02020603050405020304" pitchFamily="18" charset="0"/>
                    </a:rPr>
                    <a:t>Lượng dùng và Tỷ lệ hao mòn sẽ được Kaifa điều chỉnh.</a:t>
                  </a:r>
                  <a:endParaRPr lang="en-US">
                    <a:latin typeface="Times New Roman" panose="02020603050405020304" pitchFamily="18" charset="0"/>
                    <a:cs typeface="Times New Roman" panose="02020603050405020304" pitchFamily="18" charset="0"/>
                  </a:endParaRPr>
                </a:p>
              </p:txBody>
            </p:sp>
            <p:sp>
              <p:nvSpPr>
                <p:cNvPr id="17" name="Rectangle 16"/>
                <p:cNvSpPr/>
                <p:nvPr/>
              </p:nvSpPr>
              <p:spPr>
                <a:xfrm>
                  <a:off x="5767462" y="5395680"/>
                  <a:ext cx="619247" cy="231617"/>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sp>
              <p:nvSpPr>
                <p:cNvPr id="19" name="Rectangle 18"/>
                <p:cNvSpPr/>
                <p:nvPr/>
              </p:nvSpPr>
              <p:spPr>
                <a:xfrm>
                  <a:off x="4209143" y="5429278"/>
                  <a:ext cx="515202" cy="197454"/>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cxnSp>
              <p:nvCxnSpPr>
                <p:cNvPr id="20" name="Straight Arrow Connector 21"/>
                <p:cNvCxnSpPr>
                  <a:stCxn id="19" idx="2"/>
                  <a:endCxn id="16" idx="2"/>
                </p:cNvCxnSpPr>
                <p:nvPr/>
              </p:nvCxnSpPr>
              <p:spPr>
                <a:xfrm rot="5400000" flipH="1" flipV="1">
                  <a:off x="7305844" y="2352632"/>
                  <a:ext cx="435000" cy="6113200"/>
                </a:xfrm>
                <a:prstGeom prst="bentConnector3">
                  <a:avLst>
                    <a:gd name="adj1" fmla="val -69089"/>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4"/>
                <p:cNvCxnSpPr>
                  <a:stCxn id="17" idx="2"/>
                  <a:endCxn id="16" idx="2"/>
                </p:cNvCxnSpPr>
                <p:nvPr/>
              </p:nvCxnSpPr>
              <p:spPr>
                <a:xfrm rot="5400000" flipH="1" flipV="1">
                  <a:off x="8110732" y="3158085"/>
                  <a:ext cx="435566" cy="4502858"/>
                </a:xfrm>
                <a:prstGeom prst="bentConnector3">
                  <a:avLst>
                    <a:gd name="adj1" fmla="val -69000"/>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2" name="TextBox 36"/>
                <p:cNvSpPr txBox="1"/>
                <p:nvPr/>
              </p:nvSpPr>
              <p:spPr>
                <a:xfrm>
                  <a:off x="8946695" y="1076750"/>
                  <a:ext cx="3263689" cy="121389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mtClean="0">
                      <a:latin typeface="Times New Roman" panose="02020603050405020304" pitchFamily="18" charset="0"/>
                      <a:cs typeface="Times New Roman" panose="02020603050405020304" pitchFamily="18" charset="0"/>
                    </a:rPr>
                    <a:t>Xóa 1 NVL bị trùng và NVL sẽ được tính lại với công thức :</a:t>
                  </a:r>
                  <a:endParaRPr lang="en-US">
                    <a:latin typeface="Times New Roman" panose="02020603050405020304" pitchFamily="18" charset="0"/>
                    <a:cs typeface="Times New Roman" panose="02020603050405020304" pitchFamily="18" charset="0"/>
                  </a:endParaRPr>
                </a:p>
              </p:txBody>
            </p:sp>
            <p:sp>
              <p:nvSpPr>
                <p:cNvPr id="23" name="Rectangle 22"/>
                <p:cNvSpPr/>
                <p:nvPr/>
              </p:nvSpPr>
              <p:spPr>
                <a:xfrm>
                  <a:off x="8864503" y="1015450"/>
                  <a:ext cx="3359591" cy="4636231"/>
                </a:xfrm>
                <a:prstGeom prst="rect">
                  <a:avLst/>
                </a:prstGeom>
                <a:noFill/>
                <a:ln w="57150">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grpSp>
        </p:grpSp>
        <p:grpSp>
          <p:nvGrpSpPr>
            <p:cNvPr id="32" name="Group 31"/>
            <p:cNvGrpSpPr/>
            <p:nvPr/>
          </p:nvGrpSpPr>
          <p:grpSpPr>
            <a:xfrm>
              <a:off x="1399070" y="6024625"/>
              <a:ext cx="9927702" cy="672685"/>
              <a:chOff x="995356" y="6021681"/>
              <a:chExt cx="9894516" cy="896298"/>
            </a:xfrm>
          </p:grpSpPr>
          <p:sp>
            <p:nvSpPr>
              <p:cNvPr id="31" name="Rectangle 30"/>
              <p:cNvSpPr/>
              <p:nvPr/>
            </p:nvSpPr>
            <p:spPr>
              <a:xfrm>
                <a:off x="995356" y="6021681"/>
                <a:ext cx="9894516" cy="89629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8" name="TextBox 37"/>
              <p:cNvSpPr txBox="1"/>
              <p:nvPr/>
            </p:nvSpPr>
            <p:spPr>
              <a:xfrm>
                <a:off x="1152898" y="6196183"/>
                <a:ext cx="9313323" cy="492105"/>
              </a:xfrm>
              <a:prstGeom prst="rect">
                <a:avLst/>
              </a:prstGeom>
              <a:noFill/>
            </p:spPr>
            <p:txBody>
              <a:bodyPr wrap="square" rtlCol="0">
                <a:spAutoFit/>
              </a:bodyPr>
              <a:lstStyle/>
              <a:p>
                <a:r>
                  <a:rPr lang="en-US" b="1" i="1" u="sng" smtClean="0">
                    <a:solidFill>
                      <a:srgbClr val="FF0000"/>
                    </a:solidFill>
                    <a:latin typeface="Times New Roman" panose="02020603050405020304" pitchFamily="18" charset="0"/>
                    <a:cs typeface="Times New Roman" panose="02020603050405020304" pitchFamily="18" charset="0"/>
                  </a:rPr>
                  <a:t>Mục đích</a:t>
                </a:r>
                <a:r>
                  <a:rPr lang="en-US" smtClean="0">
                    <a:latin typeface="Times New Roman" panose="02020603050405020304" pitchFamily="18" charset="0"/>
                    <a:cs typeface="Times New Roman" panose="02020603050405020304" pitchFamily="18" charset="0"/>
                  </a:rPr>
                  <a:t>: dùng để đối chiếu dữ liệu từ PLM sang ERP bằng NVL nên cần NVL là duy nhất</a:t>
                </a:r>
                <a:endParaRPr lang="en-US">
                  <a:latin typeface="Times New Roman" panose="02020603050405020304" pitchFamily="18" charset="0"/>
                  <a:cs typeface="Times New Roman" panose="02020603050405020304" pitchFamily="18" charset="0"/>
                </a:endParaRPr>
              </a:p>
            </p:txBody>
          </p:sp>
        </p:grpSp>
      </p:grpSp>
      <p:sp>
        <p:nvSpPr>
          <p:cNvPr id="30" name="TextBox 29"/>
          <p:cNvSpPr txBox="1"/>
          <p:nvPr/>
        </p:nvSpPr>
        <p:spPr>
          <a:xfrm>
            <a:off x="1166191" y="131676"/>
            <a:ext cx="10647857"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1.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ĐỐI </a:t>
            </a:r>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CHIẾU MÃ NVL TRONG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BOM</a:t>
            </a:r>
            <a:r>
              <a:rPr lang="vi-VN"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-4</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4315556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2352" y="2817003"/>
            <a:ext cx="10427958" cy="461665"/>
          </a:xfrm>
          <a:prstGeom prst="rect">
            <a:avLst/>
          </a:prstGeom>
          <a:noFill/>
        </p:spPr>
        <p:txBody>
          <a:bodyPr wrap="square" rtlCol="0">
            <a:spAutoFit/>
          </a:bodyPr>
          <a:lstStyle/>
          <a:p>
            <a:pPr algn="ct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2. ĐIỀU CHỈNH Ô MÃ CÔNG ĐOẠN TRÊN PHIẾU ECN</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2559017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76362" y="131676"/>
            <a:ext cx="10427958"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2. ĐIỀU CHỈNH Ô MÃ CÔNG ĐOẠN TRÊN PHIẾU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ECN</a:t>
            </a:r>
            <a:r>
              <a:rPr lang="vi-VN"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-1</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16" name="TextBox 15"/>
          <p:cNvSpPr txBox="1"/>
          <p:nvPr/>
        </p:nvSpPr>
        <p:spPr>
          <a:xfrm>
            <a:off x="305621" y="708958"/>
            <a:ext cx="11838432" cy="417422"/>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1600" b="1" dirty="0">
                <a:latin typeface="Times New Roman" panose="02020603050405020304" pitchFamily="18" charset="0"/>
                <a:ea typeface="Microsoft JhengHei" panose="020B0604030504040204" pitchFamily="34" charset="-120"/>
                <a:cs typeface="Times New Roman" panose="02020603050405020304" pitchFamily="18" charset="0"/>
              </a:rPr>
              <a:t>Vấn đề:</a:t>
            </a:r>
            <a:r>
              <a:rPr lang="en-US" sz="1600" dirty="0">
                <a:latin typeface="Times New Roman" panose="02020603050405020304" pitchFamily="18" charset="0"/>
                <a:ea typeface="Microsoft JhengHei" panose="020B0604030504040204" pitchFamily="34" charset="-120"/>
                <a:cs typeface="Times New Roman" panose="02020603050405020304" pitchFamily="18" charset="0"/>
              </a:rPr>
              <a:t> </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Ô “</a:t>
            </a:r>
            <a:r>
              <a:rPr lang="en-US" sz="1400" dirty="0">
                <a:solidFill>
                  <a:srgbClr val="FF0000"/>
                </a:solidFill>
                <a:latin typeface="Times New Roman" panose="02020603050405020304" pitchFamily="18" charset="0"/>
                <a:ea typeface="Microsoft JhengHei" panose="020B0604030504040204" pitchFamily="34" charset="-120"/>
                <a:cs typeface="Times New Roman" panose="02020603050405020304" pitchFamily="18" charset="0"/>
              </a:rPr>
              <a:t>Mã Công Đoạn” </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đang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dạng</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nhập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tay</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=&gt; có thể nhập </a:t>
            </a:r>
            <a:r>
              <a:rPr lang="en-US" sz="1400" dirty="0" err="1">
                <a:latin typeface="Times New Roman" panose="02020603050405020304" pitchFamily="18" charset="0"/>
                <a:ea typeface="Microsoft JhengHei" panose="020B0604030504040204" pitchFamily="34" charset="-120"/>
                <a:cs typeface="Times New Roman" panose="02020603050405020304" pitchFamily="18" charset="0"/>
              </a:rPr>
              <a:t>sai</a:t>
            </a:r>
            <a:r>
              <a:rPr lang="en-US" sz="1400" dirty="0">
                <a:latin typeface="Times New Roman" panose="02020603050405020304" pitchFamily="18" charset="0"/>
                <a:ea typeface="Microsoft JhengHei" panose="020B0604030504040204" pitchFamily="34" charset="-120"/>
                <a:cs typeface="Times New Roman" panose="02020603050405020304" pitchFamily="18" charset="0"/>
              </a:rPr>
              <a:t> tên viết tắt của DCSX</a:t>
            </a:r>
            <a:endParaRPr lang="vi-VN" sz="14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5" name="Group 4"/>
          <p:cNvGrpSpPr/>
          <p:nvPr/>
        </p:nvGrpSpPr>
        <p:grpSpPr>
          <a:xfrm>
            <a:off x="834214" y="593341"/>
            <a:ext cx="10781246" cy="6098117"/>
            <a:chOff x="834214" y="593341"/>
            <a:chExt cx="10781246" cy="6098117"/>
          </a:xfrm>
        </p:grpSpPr>
        <p:grpSp>
          <p:nvGrpSpPr>
            <p:cNvPr id="23" name="Group 22"/>
            <p:cNvGrpSpPr/>
            <p:nvPr/>
          </p:nvGrpSpPr>
          <p:grpSpPr>
            <a:xfrm>
              <a:off x="834214" y="593341"/>
              <a:ext cx="10781246" cy="6098117"/>
              <a:chOff x="826419" y="552074"/>
              <a:chExt cx="10781246" cy="6098117"/>
            </a:xfrm>
          </p:grpSpPr>
          <p:grpSp>
            <p:nvGrpSpPr>
              <p:cNvPr id="24" name="Group 23"/>
              <p:cNvGrpSpPr/>
              <p:nvPr/>
            </p:nvGrpSpPr>
            <p:grpSpPr>
              <a:xfrm>
                <a:off x="1741711" y="1705432"/>
                <a:ext cx="6745383" cy="2813983"/>
                <a:chOff x="1640114" y="1419800"/>
                <a:chExt cx="7717840" cy="3498754"/>
              </a:xfrm>
            </p:grpSpPr>
            <p:pic>
              <p:nvPicPr>
                <p:cNvPr id="35" name="Picture 34"/>
                <p:cNvPicPr>
                  <a:picLocks noChangeAspect="1"/>
                </p:cNvPicPr>
                <p:nvPr/>
              </p:nvPicPr>
              <p:blipFill>
                <a:blip r:embed="rId2"/>
                <a:stretch>
                  <a:fillRect/>
                </a:stretch>
              </p:blipFill>
              <p:spPr>
                <a:xfrm>
                  <a:off x="1640114" y="1419800"/>
                  <a:ext cx="7717840" cy="3498754"/>
                </a:xfrm>
                <a:prstGeom prst="rect">
                  <a:avLst/>
                </a:prstGeom>
              </p:spPr>
            </p:pic>
            <p:sp>
              <p:nvSpPr>
                <p:cNvPr id="36" name="Rectangle 35"/>
                <p:cNvSpPr/>
                <p:nvPr/>
              </p:nvSpPr>
              <p:spPr>
                <a:xfrm>
                  <a:off x="4168031" y="3798207"/>
                  <a:ext cx="1222211" cy="43112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Times New Roman" panose="02020603050405020304" pitchFamily="18" charset="0"/>
                    <a:cs typeface="Times New Roman" panose="02020603050405020304" pitchFamily="18" charset="0"/>
                  </a:endParaRPr>
                </a:p>
              </p:txBody>
            </p:sp>
          </p:grpSp>
          <p:grpSp>
            <p:nvGrpSpPr>
              <p:cNvPr id="25" name="Group 24"/>
              <p:cNvGrpSpPr/>
              <p:nvPr/>
            </p:nvGrpSpPr>
            <p:grpSpPr>
              <a:xfrm>
                <a:off x="826420" y="4727957"/>
                <a:ext cx="10050410" cy="1156918"/>
                <a:chOff x="1276362" y="4726033"/>
                <a:chExt cx="10429611" cy="1156918"/>
              </a:xfrm>
            </p:grpSpPr>
            <p:sp>
              <p:nvSpPr>
                <p:cNvPr id="33" name="Rectangle 32"/>
                <p:cNvSpPr/>
                <p:nvPr/>
              </p:nvSpPr>
              <p:spPr>
                <a:xfrm>
                  <a:off x="1276362" y="4726033"/>
                  <a:ext cx="10429611" cy="1156918"/>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4" name="TextBox 33"/>
                <p:cNvSpPr txBox="1"/>
                <p:nvPr/>
              </p:nvSpPr>
              <p:spPr>
                <a:xfrm>
                  <a:off x="3215993" y="4969014"/>
                  <a:ext cx="8250470" cy="646331"/>
                </a:xfrm>
                <a:prstGeom prst="rect">
                  <a:avLst/>
                </a:prstGeom>
                <a:noFill/>
              </p:spPr>
              <p:txBody>
                <a:bodyPr wrap="square" rtlCol="0">
                  <a:spAutoFit/>
                </a:bodyPr>
                <a:lstStyle/>
                <a:p>
                  <a:pPr marL="342900" indent="-342900">
                    <a:buFont typeface="Wingdings" panose="05000000000000000000" pitchFamily="2" charset="2"/>
                    <a:buChar char="v"/>
                  </a:pPr>
                  <a:r>
                    <a:rPr lang="en-US" smtClean="0">
                      <a:latin typeface="Times New Roman" panose="02020603050405020304" pitchFamily="18" charset="0"/>
                      <a:cs typeface="Times New Roman" panose="02020603050405020304" pitchFamily="18" charset="0"/>
                    </a:rPr>
                    <a:t>Chuyển ô này thành dạng danh sách lựa chọn</a:t>
                  </a:r>
                  <a:r>
                    <a:rPr lang="en-US">
                      <a:latin typeface="Times New Roman" panose="02020603050405020304" pitchFamily="18" charset="0"/>
                      <a:cs typeface="Times New Roman" panose="02020603050405020304" pitchFamily="18" charset="0"/>
                    </a:rPr>
                    <a:t>?</a:t>
                  </a:r>
                  <a:endParaRPr lang="en-US" smtClean="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mtClean="0">
                      <a:latin typeface="Times New Roman" panose="02020603050405020304" pitchFamily="18" charset="0"/>
                      <a:cs typeface="Times New Roman" panose="02020603050405020304" pitchFamily="18" charset="0"/>
                    </a:rPr>
                    <a:t>Và danh sách lựa chọn là danh sách DCSX: MD001 của bảng CMSMD (ERP)?</a:t>
                  </a:r>
                </a:p>
              </p:txBody>
            </p:sp>
          </p:grpSp>
          <p:grpSp>
            <p:nvGrpSpPr>
              <p:cNvPr id="26" name="Group 25"/>
              <p:cNvGrpSpPr/>
              <p:nvPr/>
            </p:nvGrpSpPr>
            <p:grpSpPr>
              <a:xfrm>
                <a:off x="826419" y="5977506"/>
                <a:ext cx="10050410" cy="672685"/>
                <a:chOff x="995356" y="5956335"/>
                <a:chExt cx="9894516" cy="896298"/>
              </a:xfrm>
            </p:grpSpPr>
            <p:sp>
              <p:nvSpPr>
                <p:cNvPr id="31" name="Rectangle 30"/>
                <p:cNvSpPr/>
                <p:nvPr/>
              </p:nvSpPr>
              <p:spPr>
                <a:xfrm>
                  <a:off x="995356" y="5956335"/>
                  <a:ext cx="9894516" cy="896298"/>
                </a:xfrm>
                <a:prstGeom prst="rect">
                  <a:avLst/>
                </a:prstGeom>
                <a:solidFill>
                  <a:schemeClr val="accent6">
                    <a:lumMod val="40000"/>
                    <a:lumOff val="60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2" name="TextBox 31"/>
                <p:cNvSpPr txBox="1"/>
                <p:nvPr/>
              </p:nvSpPr>
              <p:spPr>
                <a:xfrm>
                  <a:off x="1285952" y="6091887"/>
                  <a:ext cx="1549522" cy="492105"/>
                </a:xfrm>
                <a:prstGeom prst="rect">
                  <a:avLst/>
                </a:prstGeom>
                <a:noFill/>
              </p:spPr>
              <p:txBody>
                <a:bodyPr wrap="square" rtlCol="0">
                  <a:spAutoFit/>
                </a:bodyPr>
                <a:lstStyle/>
                <a:p>
                  <a:r>
                    <a:rPr lang="en-US" b="1" i="1" u="sng" smtClean="0">
                      <a:solidFill>
                        <a:srgbClr val="FF0000"/>
                      </a:solidFill>
                      <a:latin typeface="Times New Roman" panose="02020603050405020304" pitchFamily="18" charset="0"/>
                      <a:cs typeface="Times New Roman" panose="02020603050405020304" pitchFamily="18" charset="0"/>
                    </a:rPr>
                    <a:t>Mục đích</a:t>
                  </a:r>
                  <a:endParaRPr lang="en-US" smtClean="0">
                    <a:latin typeface="Times New Roman" panose="02020603050405020304" pitchFamily="18" charset="0"/>
                    <a:cs typeface="Times New Roman" panose="02020603050405020304" pitchFamily="18" charset="0"/>
                  </a:endParaRPr>
                </a:p>
              </p:txBody>
            </p:sp>
          </p:grpSp>
          <p:grpSp>
            <p:nvGrpSpPr>
              <p:cNvPr id="27" name="Group 26"/>
              <p:cNvGrpSpPr/>
              <p:nvPr/>
            </p:nvGrpSpPr>
            <p:grpSpPr>
              <a:xfrm>
                <a:off x="8487094" y="552074"/>
                <a:ext cx="3120571" cy="3193383"/>
                <a:chOff x="8487094" y="552074"/>
                <a:chExt cx="3120571" cy="3193383"/>
              </a:xfrm>
            </p:grpSpPr>
            <p:sp>
              <p:nvSpPr>
                <p:cNvPr id="29" name="Rectangle 28"/>
                <p:cNvSpPr/>
                <p:nvPr/>
              </p:nvSpPr>
              <p:spPr>
                <a:xfrm>
                  <a:off x="8487094" y="552074"/>
                  <a:ext cx="3120571" cy="2973636"/>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30" name="TextBox 29"/>
                <p:cNvSpPr txBox="1"/>
                <p:nvPr/>
              </p:nvSpPr>
              <p:spPr>
                <a:xfrm>
                  <a:off x="8588695" y="667691"/>
                  <a:ext cx="3018970" cy="3077766"/>
                </a:xfrm>
                <a:prstGeom prst="rect">
                  <a:avLst/>
                </a:prstGeom>
                <a:noFill/>
              </p:spPr>
              <p:txBody>
                <a:bodyPr wrap="square" rtlCol="0">
                  <a:spAutoFit/>
                </a:bodyPr>
                <a:lstStyle/>
                <a:p>
                  <a:r>
                    <a:rPr lang="en-US" sz="1600" smtClean="0">
                      <a:solidFill>
                        <a:srgbClr val="FF0000"/>
                      </a:solidFill>
                      <a:latin typeface="Times New Roman" panose="02020603050405020304" pitchFamily="18" charset="0"/>
                      <a:cs typeface="Times New Roman" panose="02020603050405020304" pitchFamily="18" charset="0"/>
                    </a:rPr>
                    <a:t>MIS đề xuất Cải thiện:</a:t>
                  </a:r>
                </a:p>
                <a:p>
                  <a:pPr marL="285750" indent="-285750">
                    <a:buFont typeface="Arial" panose="020B0604020202020204" pitchFamily="34" charset="0"/>
                    <a:buChar char="•"/>
                  </a:pPr>
                  <a:r>
                    <a:rPr lang="en-US" sz="1600" smtClean="0">
                      <a:latin typeface="Times New Roman" panose="02020603050405020304" pitchFamily="18" charset="0"/>
                      <a:cs typeface="Times New Roman" panose="02020603050405020304" pitchFamily="18" charset="0"/>
                    </a:rPr>
                    <a:t> Ô </a:t>
                  </a:r>
                  <a:r>
                    <a:rPr lang="en-US" sz="1600" b="1" i="1" u="sng" smtClean="0">
                      <a:latin typeface="Times New Roman" panose="02020603050405020304" pitchFamily="18" charset="0"/>
                      <a:cs typeface="Times New Roman" panose="02020603050405020304" pitchFamily="18" charset="0"/>
                    </a:rPr>
                    <a:t>“Mã công đoạn” </a:t>
                  </a:r>
                  <a:r>
                    <a:rPr lang="en-US" sz="1600" smtClean="0">
                      <a:latin typeface="Times New Roman" panose="02020603050405020304" pitchFamily="18" charset="0"/>
                      <a:cs typeface="Times New Roman" panose="02020603050405020304" pitchFamily="18" charset="0"/>
                    </a:rPr>
                    <a:t>sản phẩm này sẽ là mã công đoạn của NVL của BOM khi dùng nó.</a:t>
                  </a:r>
                </a:p>
                <a:p>
                  <a:endParaRPr lang="en-US" sz="1600" smtClean="0">
                    <a:latin typeface="Times New Roman" panose="02020603050405020304" pitchFamily="18" charset="0"/>
                    <a:cs typeface="Times New Roman" panose="02020603050405020304" pitchFamily="18" charset="0"/>
                  </a:endParaRPr>
                </a:p>
                <a:p>
                  <a:r>
                    <a:rPr lang="vi-VN" sz="1600" b="1" i="1" u="sng" smtClean="0">
                      <a:solidFill>
                        <a:srgbClr val="FF0000"/>
                      </a:solidFill>
                      <a:latin typeface="Times New Roman" panose="02020603050405020304" pitchFamily="18" charset="0"/>
                      <a:cs typeface="Times New Roman" panose="02020603050405020304" pitchFamily="18" charset="0"/>
                    </a:rPr>
                    <a:t>Lưu </a:t>
                  </a:r>
                  <a:r>
                    <a:rPr lang="vi-VN" sz="1600" b="1" i="1" u="sng">
                      <a:solidFill>
                        <a:srgbClr val="FF0000"/>
                      </a:solidFill>
                      <a:latin typeface="Times New Roman" panose="02020603050405020304" pitchFamily="18" charset="0"/>
                      <a:cs typeface="Times New Roman" panose="02020603050405020304" pitchFamily="18" charset="0"/>
                    </a:rPr>
                    <a:t>ý:</a:t>
                  </a:r>
                  <a:r>
                    <a:rPr lang="vi-VN" sz="1600">
                      <a:latin typeface="Times New Roman" panose="02020603050405020304" pitchFamily="18" charset="0"/>
                      <a:cs typeface="Times New Roman" panose="02020603050405020304" pitchFamily="18" charset="0"/>
                    </a:rPr>
                    <a:t> </a:t>
                  </a:r>
                  <a:r>
                    <a:rPr lang="en-US" sz="1600" smtClean="0">
                      <a:latin typeface="Times New Roman" panose="02020603050405020304" pitchFamily="18" charset="0"/>
                      <a:cs typeface="Times New Roman" panose="02020603050405020304" pitchFamily="18" charset="0"/>
                    </a:rPr>
                    <a:t>Mã công đoạn sản phẩm trên PLM sẽ là mã công đoạn NVL của BOM trên ERP. (</a:t>
                  </a:r>
                  <a:r>
                    <a:rPr lang="en-US" sz="1600" i="1" u="sng" smtClean="0">
                      <a:solidFill>
                        <a:srgbClr val="FF0000"/>
                      </a:solidFill>
                      <a:latin typeface="Times New Roman" panose="02020603050405020304" pitchFamily="18" charset="0"/>
                      <a:cs typeface="Times New Roman" panose="02020603050405020304" pitchFamily="18" charset="0"/>
                    </a:rPr>
                    <a:t>mã công đoạn này chỉ lấy tức thì tại thời điểm làm phiếu không đồng nhất được toàn bộ</a:t>
                  </a:r>
                  <a:r>
                    <a:rPr lang="en-US" sz="1600" smtClean="0">
                      <a:latin typeface="Times New Roman" panose="02020603050405020304" pitchFamily="18" charset="0"/>
                      <a:cs typeface="Times New Roman" panose="02020603050405020304" pitchFamily="18" charset="0"/>
                    </a:rPr>
                    <a:t>)</a:t>
                  </a:r>
                  <a:endParaRPr lang="vi-VN" sz="1600">
                    <a:latin typeface="Times New Roman" panose="02020603050405020304" pitchFamily="18" charset="0"/>
                    <a:cs typeface="Times New Roman" panose="02020603050405020304" pitchFamily="18" charset="0"/>
                  </a:endParaRPr>
                </a:p>
                <a:p>
                  <a:endParaRPr lang="en-US" sz="1600" smtClean="0">
                    <a:latin typeface="Times New Roman" panose="02020603050405020304" pitchFamily="18" charset="0"/>
                    <a:cs typeface="Times New Roman" panose="02020603050405020304" pitchFamily="18" charset="0"/>
                  </a:endParaRPr>
                </a:p>
              </p:txBody>
            </p:sp>
          </p:grpSp>
          <p:cxnSp>
            <p:nvCxnSpPr>
              <p:cNvPr id="28" name="Straight Arrow Connector 10"/>
              <p:cNvCxnSpPr>
                <a:stCxn id="36" idx="3"/>
                <a:endCxn id="29" idx="2"/>
              </p:cNvCxnSpPr>
              <p:nvPr/>
            </p:nvCxnSpPr>
            <p:spPr>
              <a:xfrm flipV="1">
                <a:off x="5019318" y="3525710"/>
                <a:ext cx="5028062" cy="266003"/>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1007215" y="5024517"/>
              <a:ext cx="1161827" cy="646331"/>
            </a:xfrm>
            <a:prstGeom prst="rect">
              <a:avLst/>
            </a:prstGeom>
            <a:noFill/>
          </p:spPr>
          <p:txBody>
            <a:bodyPr wrap="square" rtlCol="0">
              <a:spAutoFit/>
            </a:bodyPr>
            <a:lstStyle/>
            <a:p>
              <a:r>
                <a:rPr lang="en-US" b="1" smtClean="0">
                  <a:solidFill>
                    <a:schemeClr val="accent6">
                      <a:lumMod val="50000"/>
                    </a:schemeClr>
                  </a:solidFill>
                  <a:latin typeface="Times New Roman" panose="02020603050405020304" pitchFamily="18" charset="0"/>
                  <a:cs typeface="Times New Roman" panose="02020603050405020304" pitchFamily="18" charset="0"/>
                </a:rPr>
                <a:t>Mục tiêu thảo luận</a:t>
              </a:r>
              <a:endParaRPr lang="en-US" b="1">
                <a:solidFill>
                  <a:schemeClr val="accent6">
                    <a:lumMod val="50000"/>
                  </a:schemeClr>
                </a:solidFill>
                <a:latin typeface="Times New Roman" panose="02020603050405020304" pitchFamily="18" charset="0"/>
                <a:cs typeface="Times New Roman" panose="02020603050405020304" pitchFamily="18" charset="0"/>
              </a:endParaRPr>
            </a:p>
          </p:txBody>
        </p:sp>
      </p:grpSp>
      <p:sp>
        <p:nvSpPr>
          <p:cNvPr id="37" name="TextBox 36"/>
          <p:cNvSpPr txBox="1"/>
          <p:nvPr/>
        </p:nvSpPr>
        <p:spPr>
          <a:xfrm>
            <a:off x="2703325" y="6134684"/>
            <a:ext cx="7950498" cy="369332"/>
          </a:xfrm>
          <a:prstGeom prst="rect">
            <a:avLst/>
          </a:prstGeom>
          <a:noFill/>
        </p:spPr>
        <p:txBody>
          <a:bodyPr wrap="square" rtlCol="0">
            <a:spAutoFit/>
          </a:bodyPr>
          <a:lstStyle/>
          <a:p>
            <a:pPr marL="285750" indent="-285750">
              <a:buFont typeface="Wingdings" panose="05000000000000000000" pitchFamily="2" charset="2"/>
              <a:buChar char="v"/>
            </a:pPr>
            <a:r>
              <a:rPr lang="en-US" smtClean="0">
                <a:latin typeface="Times New Roman" panose="02020603050405020304" pitchFamily="18" charset="0"/>
                <a:cs typeface="Times New Roman" panose="02020603050405020304" pitchFamily="18" charset="0"/>
              </a:rPr>
              <a:t>Tránh </a:t>
            </a:r>
            <a:r>
              <a:rPr lang="en-US">
                <a:latin typeface="Times New Roman" panose="02020603050405020304" pitchFamily="18" charset="0"/>
                <a:cs typeface="Times New Roman" panose="02020603050405020304" pitchFamily="18" charset="0"/>
              </a:rPr>
              <a:t>nhập sai DCSX, đồng nhất khi mã công đoạn</a:t>
            </a:r>
          </a:p>
        </p:txBody>
      </p:sp>
    </p:spTree>
    <p:extLst>
      <p:ext uri="{BB962C8B-B14F-4D97-AF65-F5344CB8AC3E}">
        <p14:creationId xmlns:p14="http://schemas.microsoft.com/office/powerpoint/2010/main" val="13747932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330199" y="1168400"/>
            <a:ext cx="11753523" cy="2454368"/>
            <a:chOff x="-7653" y="7520280"/>
            <a:chExt cx="12199653" cy="2921578"/>
          </a:xfrm>
        </p:grpSpPr>
        <p:sp>
          <p:nvSpPr>
            <p:cNvPr id="41" name="TextBox 40"/>
            <p:cNvSpPr txBox="1"/>
            <p:nvPr/>
          </p:nvSpPr>
          <p:spPr>
            <a:xfrm>
              <a:off x="-7653" y="7520280"/>
              <a:ext cx="12199653" cy="2921578"/>
            </a:xfrm>
            <a:prstGeom prst="rect">
              <a:avLst/>
            </a:prstGeom>
            <a:solidFill>
              <a:schemeClr val="accent4">
                <a:lumMod val="20000"/>
                <a:lumOff val="80000"/>
              </a:schemeClr>
            </a:solidFill>
          </p:spPr>
          <p:txBody>
            <a:bodyPr wrap="square" rtlCol="0">
              <a:spAutoFit/>
            </a:bodyPr>
            <a:lstStyle/>
            <a:p>
              <a:endParaRPr lang="en-US"/>
            </a:p>
          </p:txBody>
        </p:sp>
        <p:sp>
          <p:nvSpPr>
            <p:cNvPr id="46" name="TextBox 45"/>
            <p:cNvSpPr txBox="1"/>
            <p:nvPr/>
          </p:nvSpPr>
          <p:spPr>
            <a:xfrm>
              <a:off x="229356" y="8796403"/>
              <a:ext cx="809998" cy="369332"/>
            </a:xfrm>
            <a:prstGeom prst="rect">
              <a:avLst/>
            </a:prstGeom>
            <a:noFill/>
          </p:spPr>
          <p:txBody>
            <a:bodyPr wrap="square" rtlCol="0">
              <a:spAutoFit/>
            </a:bodyPr>
            <a:lstStyle/>
            <a:p>
              <a:r>
                <a:rPr lang="vi-VN" smtClean="0">
                  <a:latin typeface="Times New Roman" panose="02020603050405020304" pitchFamily="18" charset="0"/>
                  <a:cs typeface="Times New Roman" panose="02020603050405020304" pitchFamily="18" charset="0"/>
                </a:rPr>
                <a:t>PLM</a:t>
              </a:r>
              <a:endParaRPr lang="en-US">
                <a:latin typeface="Times New Roman" panose="02020603050405020304" pitchFamily="18" charset="0"/>
                <a:cs typeface="Times New Roman" panose="02020603050405020304" pitchFamily="18" charset="0"/>
              </a:endParaRPr>
            </a:p>
          </p:txBody>
        </p:sp>
        <p:grpSp>
          <p:nvGrpSpPr>
            <p:cNvPr id="20" name="Group 19"/>
            <p:cNvGrpSpPr/>
            <p:nvPr/>
          </p:nvGrpSpPr>
          <p:grpSpPr>
            <a:xfrm>
              <a:off x="1276362" y="7603414"/>
              <a:ext cx="10798629" cy="2755310"/>
              <a:chOff x="1276362" y="7603414"/>
              <a:chExt cx="10798629" cy="2755310"/>
            </a:xfrm>
          </p:grpSpPr>
          <p:pic>
            <p:nvPicPr>
              <p:cNvPr id="45" name="Picture 44"/>
              <p:cNvPicPr>
                <a:picLocks noChangeAspect="1"/>
              </p:cNvPicPr>
              <p:nvPr/>
            </p:nvPicPr>
            <p:blipFill>
              <a:blip r:embed="rId2"/>
              <a:stretch>
                <a:fillRect/>
              </a:stretch>
            </p:blipFill>
            <p:spPr>
              <a:xfrm>
                <a:off x="1276362" y="7603414"/>
                <a:ext cx="10798629" cy="2755310"/>
              </a:xfrm>
              <a:prstGeom prst="rect">
                <a:avLst/>
              </a:prstGeom>
            </p:spPr>
          </p:pic>
          <p:sp>
            <p:nvSpPr>
              <p:cNvPr id="47" name="Rectangle 46"/>
              <p:cNvSpPr/>
              <p:nvPr/>
            </p:nvSpPr>
            <p:spPr>
              <a:xfrm flipH="1">
                <a:off x="3672114" y="9494274"/>
                <a:ext cx="756704" cy="40446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grpSp>
      <p:grpSp>
        <p:nvGrpSpPr>
          <p:cNvPr id="68" name="Group 67"/>
          <p:cNvGrpSpPr/>
          <p:nvPr/>
        </p:nvGrpSpPr>
        <p:grpSpPr>
          <a:xfrm>
            <a:off x="412408" y="1709757"/>
            <a:ext cx="11614948" cy="4853026"/>
            <a:chOff x="148019" y="1375317"/>
            <a:chExt cx="12019733" cy="5489148"/>
          </a:xfrm>
        </p:grpSpPr>
        <p:sp>
          <p:nvSpPr>
            <p:cNvPr id="58" name="TextBox 57"/>
            <p:cNvSpPr txBox="1"/>
            <p:nvPr/>
          </p:nvSpPr>
          <p:spPr>
            <a:xfrm>
              <a:off x="148019" y="3670740"/>
              <a:ext cx="11935703" cy="3081013"/>
            </a:xfrm>
            <a:prstGeom prst="rect">
              <a:avLst/>
            </a:prstGeom>
            <a:solidFill>
              <a:schemeClr val="accent6">
                <a:lumMod val="20000"/>
                <a:lumOff val="80000"/>
              </a:schemeClr>
            </a:solidFill>
          </p:spPr>
          <p:txBody>
            <a:bodyPr wrap="square" rtlCol="0">
              <a:spAutoFit/>
            </a:bodyPr>
            <a:lstStyle/>
            <a:p>
              <a:endParaRPr lang="en-US"/>
            </a:p>
          </p:txBody>
        </p:sp>
        <p:grpSp>
          <p:nvGrpSpPr>
            <p:cNvPr id="59" name="Group 58"/>
            <p:cNvGrpSpPr/>
            <p:nvPr/>
          </p:nvGrpSpPr>
          <p:grpSpPr>
            <a:xfrm>
              <a:off x="1051824" y="1375317"/>
              <a:ext cx="11115928" cy="5489148"/>
              <a:chOff x="905691" y="1368852"/>
              <a:chExt cx="11115928" cy="5489148"/>
            </a:xfrm>
          </p:grpSpPr>
          <p:grpSp>
            <p:nvGrpSpPr>
              <p:cNvPr id="60" name="Group 59"/>
              <p:cNvGrpSpPr/>
              <p:nvPr/>
            </p:nvGrpSpPr>
            <p:grpSpPr>
              <a:xfrm>
                <a:off x="905691" y="3902172"/>
                <a:ext cx="10562409" cy="2955828"/>
                <a:chOff x="905691" y="3902172"/>
                <a:chExt cx="10562409" cy="2955828"/>
              </a:xfrm>
            </p:grpSpPr>
            <p:pic>
              <p:nvPicPr>
                <p:cNvPr id="65" name="Picture 64"/>
                <p:cNvPicPr>
                  <a:picLocks noChangeAspect="1"/>
                </p:cNvPicPr>
                <p:nvPr/>
              </p:nvPicPr>
              <p:blipFill>
                <a:blip r:embed="rId3"/>
                <a:stretch>
                  <a:fillRect/>
                </a:stretch>
              </p:blipFill>
              <p:spPr>
                <a:xfrm>
                  <a:off x="905691" y="3902172"/>
                  <a:ext cx="8010187" cy="2955828"/>
                </a:xfrm>
                <a:prstGeom prst="rect">
                  <a:avLst/>
                </a:prstGeom>
              </p:spPr>
            </p:pic>
            <p:pic>
              <p:nvPicPr>
                <p:cNvPr id="66" name="Picture 65"/>
                <p:cNvPicPr>
                  <a:picLocks noChangeAspect="1"/>
                </p:cNvPicPr>
                <p:nvPr/>
              </p:nvPicPr>
              <p:blipFill>
                <a:blip r:embed="rId4"/>
                <a:stretch>
                  <a:fillRect/>
                </a:stretch>
              </p:blipFill>
              <p:spPr>
                <a:xfrm>
                  <a:off x="8915878" y="6011956"/>
                  <a:ext cx="2552222" cy="485717"/>
                </a:xfrm>
                <a:prstGeom prst="rect">
                  <a:avLst/>
                </a:prstGeom>
              </p:spPr>
            </p:pic>
          </p:grpSp>
          <p:sp>
            <p:nvSpPr>
              <p:cNvPr id="61" name="Rounded Rectangular Callout 60"/>
              <p:cNvSpPr/>
              <p:nvPr/>
            </p:nvSpPr>
            <p:spPr>
              <a:xfrm>
                <a:off x="8245351" y="1368852"/>
                <a:ext cx="3776268" cy="2084769"/>
              </a:xfrm>
              <a:prstGeom prst="wedgeRoundRectCallout">
                <a:avLst>
                  <a:gd name="adj1" fmla="val -21312"/>
                  <a:gd name="adj2" fmla="val 189423"/>
                  <a:gd name="adj3" fmla="val 16667"/>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sz="1200" smtClean="0">
                    <a:solidFill>
                      <a:schemeClr val="tx1"/>
                    </a:solidFill>
                    <a:latin typeface="Times New Roman" panose="02020603050405020304" pitchFamily="18" charset="0"/>
                    <a:cs typeface="Times New Roman" panose="02020603050405020304" pitchFamily="18" charset="0"/>
                  </a:rPr>
                  <a:t>Mã </a:t>
                </a:r>
                <a:r>
                  <a:rPr lang="vi-VN" sz="1200">
                    <a:solidFill>
                      <a:schemeClr val="tx1"/>
                    </a:solidFill>
                    <a:latin typeface="Times New Roman" panose="02020603050405020304" pitchFamily="18" charset="0"/>
                    <a:cs typeface="Times New Roman" panose="02020603050405020304" pitchFamily="18" charset="0"/>
                  </a:rPr>
                  <a:t>công đoạn của NVL </a:t>
                </a:r>
                <a:r>
                  <a:rPr lang="vi-VN" sz="1200" i="1" u="sng" smtClean="0">
                    <a:solidFill>
                      <a:schemeClr val="tx1"/>
                    </a:solidFill>
                    <a:latin typeface="Times New Roman" panose="02020603050405020304" pitchFamily="18" charset="0"/>
                    <a:cs typeface="Times New Roman" panose="02020603050405020304" pitchFamily="18" charset="0"/>
                  </a:rPr>
                  <a:t>“AHMC-C2100061” </a:t>
                </a:r>
                <a:r>
                  <a:rPr lang="vi-VN" sz="1200" smtClean="0">
                    <a:solidFill>
                      <a:schemeClr val="tx1"/>
                    </a:solidFill>
                    <a:latin typeface="Times New Roman" panose="02020603050405020304" pitchFamily="18" charset="0"/>
                    <a:cs typeface="Times New Roman" panose="02020603050405020304" pitchFamily="18" charset="0"/>
                  </a:rPr>
                  <a:t>trong </a:t>
                </a:r>
                <a:r>
                  <a:rPr lang="vi-VN" sz="1200">
                    <a:solidFill>
                      <a:schemeClr val="tx1"/>
                    </a:solidFill>
                    <a:latin typeface="Times New Roman" panose="02020603050405020304" pitchFamily="18" charset="0"/>
                    <a:cs typeface="Times New Roman" panose="02020603050405020304" pitchFamily="18" charset="0"/>
                  </a:rPr>
                  <a:t>BOM sẽ là mã công đoạn của sản </a:t>
                </a:r>
                <a:r>
                  <a:rPr lang="vi-VN" sz="1200" smtClean="0">
                    <a:solidFill>
                      <a:schemeClr val="tx1"/>
                    </a:solidFill>
                    <a:latin typeface="Times New Roman" panose="02020603050405020304" pitchFamily="18" charset="0"/>
                    <a:cs typeface="Times New Roman" panose="02020603050405020304" pitchFamily="18" charset="0"/>
                  </a:rPr>
                  <a:t>phẩm </a:t>
                </a:r>
                <a:r>
                  <a:rPr lang="vi-VN" sz="1200" i="1" u="sng">
                    <a:solidFill>
                      <a:schemeClr val="tx1"/>
                    </a:solidFill>
                    <a:latin typeface="Times New Roman" panose="02020603050405020304" pitchFamily="18" charset="0"/>
                    <a:cs typeface="Times New Roman" panose="02020603050405020304" pitchFamily="18" charset="0"/>
                  </a:rPr>
                  <a:t>“AHMC-C2100061</a:t>
                </a:r>
                <a:r>
                  <a:rPr lang="vi-VN" sz="1200" i="1" u="sng" smtClean="0">
                    <a:solidFill>
                      <a:schemeClr val="tx1"/>
                    </a:solidFill>
                    <a:latin typeface="Times New Roman" panose="02020603050405020304" pitchFamily="18" charset="0"/>
                    <a:cs typeface="Times New Roman" panose="02020603050405020304" pitchFamily="18" charset="0"/>
                  </a:rPr>
                  <a:t>” </a:t>
                </a:r>
                <a:r>
                  <a:rPr lang="vi-VN" sz="1200" smtClean="0">
                    <a:solidFill>
                      <a:schemeClr val="tx1"/>
                    </a:solidFill>
                    <a:latin typeface="Times New Roman" panose="02020603050405020304" pitchFamily="18" charset="0"/>
                    <a:cs typeface="Times New Roman" panose="02020603050405020304" pitchFamily="18" charset="0"/>
                  </a:rPr>
                  <a:t>trên </a:t>
                </a:r>
                <a:r>
                  <a:rPr lang="vi-VN" sz="1200" smtClean="0">
                    <a:solidFill>
                      <a:srgbClr val="FF0000"/>
                    </a:solidFill>
                    <a:latin typeface="Times New Roman" panose="02020603050405020304" pitchFamily="18" charset="0"/>
                    <a:cs typeface="Times New Roman" panose="02020603050405020304" pitchFamily="18" charset="0"/>
                  </a:rPr>
                  <a:t>PLM</a:t>
                </a:r>
                <a:r>
                  <a:rPr lang="vi-VN" sz="1200" smtClean="0">
                    <a:solidFill>
                      <a:schemeClr val="tx1"/>
                    </a:solidFill>
                    <a:latin typeface="Times New Roman" panose="02020603050405020304" pitchFamily="18" charset="0"/>
                    <a:cs typeface="Times New Roman" panose="02020603050405020304" pitchFamily="18" charset="0"/>
                  </a:rPr>
                  <a:t> </a:t>
                </a:r>
                <a:r>
                  <a:rPr lang="vi-VN" sz="1200">
                    <a:solidFill>
                      <a:schemeClr val="tx1"/>
                    </a:solidFill>
                    <a:latin typeface="Times New Roman" panose="02020603050405020304" pitchFamily="18" charset="0"/>
                    <a:cs typeface="Times New Roman" panose="02020603050405020304" pitchFamily="18" charset="0"/>
                  </a:rPr>
                  <a:t>tại </a:t>
                </a:r>
                <a:r>
                  <a:rPr lang="vi-VN" sz="1200">
                    <a:solidFill>
                      <a:srgbClr val="FF0000"/>
                    </a:solidFill>
                    <a:latin typeface="Times New Roman" panose="02020603050405020304" pitchFamily="18" charset="0"/>
                    <a:cs typeface="Times New Roman" panose="02020603050405020304" pitchFamily="18" charset="0"/>
                  </a:rPr>
                  <a:t>thời điểm </a:t>
                </a:r>
                <a:r>
                  <a:rPr lang="vi-VN" sz="1200" b="1">
                    <a:solidFill>
                      <a:srgbClr val="FF0000"/>
                    </a:solidFill>
                    <a:latin typeface="Times New Roman" panose="02020603050405020304" pitchFamily="18" charset="0"/>
                    <a:cs typeface="Times New Roman" panose="02020603050405020304" pitchFamily="18" charset="0"/>
                  </a:rPr>
                  <a:t>thay đổi </a:t>
                </a:r>
                <a:r>
                  <a:rPr lang="vi-VN" sz="1200" b="1" smtClean="0">
                    <a:solidFill>
                      <a:srgbClr val="FF0000"/>
                    </a:solidFill>
                    <a:latin typeface="Times New Roman" panose="02020603050405020304" pitchFamily="18" charset="0"/>
                    <a:cs typeface="Times New Roman" panose="02020603050405020304" pitchFamily="18" charset="0"/>
                  </a:rPr>
                  <a:t>NVL</a:t>
                </a:r>
                <a:r>
                  <a:rPr lang="vi-VN" sz="1200" smtClean="0">
                    <a:solidFill>
                      <a:srgbClr val="FF0000"/>
                    </a:solidFill>
                    <a:latin typeface="Times New Roman" panose="02020603050405020304" pitchFamily="18" charset="0"/>
                    <a:cs typeface="Times New Roman" panose="02020603050405020304" pitchFamily="18" charset="0"/>
                  </a:rPr>
                  <a:t> </a:t>
                </a:r>
                <a:r>
                  <a:rPr lang="vi-VN" sz="1200" smtClean="0">
                    <a:solidFill>
                      <a:schemeClr val="tx1"/>
                    </a:solidFill>
                    <a:latin typeface="Times New Roman" panose="02020603050405020304" pitchFamily="18" charset="0"/>
                    <a:cs typeface="Times New Roman" panose="02020603050405020304" pitchFamily="18" charset="0"/>
                  </a:rPr>
                  <a:t>này </a:t>
                </a:r>
                <a:r>
                  <a:rPr lang="vi-VN" sz="1200">
                    <a:solidFill>
                      <a:schemeClr val="tx1"/>
                    </a:solidFill>
                    <a:latin typeface="Times New Roman" panose="02020603050405020304" pitchFamily="18" charset="0"/>
                    <a:cs typeface="Times New Roman" panose="02020603050405020304" pitchFamily="18" charset="0"/>
                  </a:rPr>
                  <a:t>trong </a:t>
                </a:r>
                <a:r>
                  <a:rPr lang="vi-VN" sz="1200" smtClean="0">
                    <a:solidFill>
                      <a:schemeClr val="tx1"/>
                    </a:solidFill>
                    <a:latin typeface="Times New Roman" panose="02020603050405020304" pitchFamily="18" charset="0"/>
                    <a:cs typeface="Times New Roman" panose="02020603050405020304" pitchFamily="18" charset="0"/>
                  </a:rPr>
                  <a:t>BOM.</a:t>
                </a:r>
                <a:endParaRPr lang="en-US" sz="1200" smtClean="0">
                  <a:solidFill>
                    <a:schemeClr val="tx1"/>
                  </a:solidFill>
                  <a:latin typeface="Times New Roman" panose="02020603050405020304" pitchFamily="18" charset="0"/>
                  <a:cs typeface="Times New Roman" panose="02020603050405020304" pitchFamily="18" charset="0"/>
                </a:endParaRPr>
              </a:p>
              <a:p>
                <a:endParaRPr lang="vi-VN" sz="1200" smtClean="0">
                  <a:solidFill>
                    <a:schemeClr val="tx1"/>
                  </a:solidFill>
                  <a:latin typeface="Times New Roman" panose="02020603050405020304" pitchFamily="18" charset="0"/>
                  <a:cs typeface="Times New Roman" panose="02020603050405020304" pitchFamily="18" charset="0"/>
                </a:endParaRPr>
              </a:p>
              <a:p>
                <a:r>
                  <a:rPr lang="vi-VN" sz="1200" smtClean="0">
                    <a:solidFill>
                      <a:srgbClr val="FF0000"/>
                    </a:solidFill>
                    <a:latin typeface="Times New Roman" panose="02020603050405020304" pitchFamily="18" charset="0"/>
                    <a:cs typeface="Times New Roman" panose="02020603050405020304" pitchFamily="18" charset="0"/>
                  </a:rPr>
                  <a:t>Lưu ý: </a:t>
                </a:r>
                <a:r>
                  <a:rPr lang="vi-VN" sz="1200" smtClean="0">
                    <a:solidFill>
                      <a:schemeClr val="tx1"/>
                    </a:solidFill>
                    <a:latin typeface="Times New Roman" panose="02020603050405020304" pitchFamily="18" charset="0"/>
                    <a:cs typeface="Times New Roman" panose="02020603050405020304" pitchFamily="18" charset="0"/>
                  </a:rPr>
                  <a:t>khi thay đổi mã công đoạn của sản phẩm thì nó sẽ không thay đổi mã công đoạn của NVL.</a:t>
                </a:r>
                <a:endParaRPr lang="en-US" sz="1200" smtClean="0">
                  <a:solidFill>
                    <a:schemeClr val="tx1"/>
                  </a:solidFill>
                  <a:latin typeface="Times New Roman" panose="02020603050405020304" pitchFamily="18" charset="0"/>
                  <a:cs typeface="Times New Roman" panose="02020603050405020304" pitchFamily="18" charset="0"/>
                </a:endParaRPr>
              </a:p>
              <a:p>
                <a:pPr lvl="1"/>
                <a:endParaRPr lang="en-US" sz="1200" smtClean="0">
                  <a:solidFill>
                    <a:schemeClr val="tx1"/>
                  </a:solidFill>
                  <a:latin typeface="Times New Roman" panose="02020603050405020304" pitchFamily="18" charset="0"/>
                  <a:cs typeface="Times New Roman" panose="02020603050405020304" pitchFamily="18" charset="0"/>
                </a:endParaRPr>
              </a:p>
            </p:txBody>
          </p:sp>
          <p:sp>
            <p:nvSpPr>
              <p:cNvPr id="62" name="Rectangle 61"/>
              <p:cNvSpPr/>
              <p:nvPr/>
            </p:nvSpPr>
            <p:spPr>
              <a:xfrm>
                <a:off x="8915878" y="6362700"/>
                <a:ext cx="414098" cy="13497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3" name="Rectangle 62"/>
              <p:cNvSpPr/>
              <p:nvPr/>
            </p:nvSpPr>
            <p:spPr>
              <a:xfrm>
                <a:off x="1153003" y="6345273"/>
                <a:ext cx="1618772" cy="152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64" name="TextBox 63"/>
              <p:cNvSpPr txBox="1"/>
              <p:nvPr/>
            </p:nvSpPr>
            <p:spPr>
              <a:xfrm>
                <a:off x="6911162" y="6519863"/>
                <a:ext cx="2658139" cy="276999"/>
              </a:xfrm>
              <a:prstGeom prst="rect">
                <a:avLst/>
              </a:prstGeom>
              <a:noFill/>
            </p:spPr>
            <p:txBody>
              <a:bodyPr wrap="square" rtlCol="0">
                <a:spAutoFit/>
              </a:bodyPr>
              <a:lstStyle/>
              <a:p>
                <a:r>
                  <a:rPr lang="vi-VN" sz="1200" smtClean="0">
                    <a:latin typeface="Times New Roman" panose="02020603050405020304" pitchFamily="18" charset="0"/>
                    <a:cs typeface="Times New Roman" panose="02020603050405020304" pitchFamily="18" charset="0"/>
                  </a:rPr>
                  <a:t>CĐSX của </a:t>
                </a:r>
                <a:r>
                  <a:rPr lang="vi-VN" sz="1200" b="1" i="1" u="sng" smtClean="0">
                    <a:latin typeface="Times New Roman" panose="02020603050405020304" pitchFamily="18" charset="0"/>
                    <a:cs typeface="Times New Roman" panose="02020603050405020304" pitchFamily="18" charset="0"/>
                  </a:rPr>
                  <a:t>AHMC-C2100061</a:t>
                </a:r>
                <a:r>
                  <a:rPr lang="vi-VN" sz="1200" smtClean="0">
                    <a:solidFill>
                      <a:srgbClr val="FF0000"/>
                    </a:solidFill>
                    <a:latin typeface="Times New Roman" panose="02020603050405020304" pitchFamily="18" charset="0"/>
                    <a:cs typeface="Times New Roman" panose="02020603050405020304" pitchFamily="18" charset="0"/>
                  </a:rPr>
                  <a:t>: “C2-2”</a:t>
                </a:r>
                <a:endParaRPr lang="en-US" sz="1200">
                  <a:solidFill>
                    <a:srgbClr val="FF0000"/>
                  </a:solidFill>
                  <a:latin typeface="Times New Roman" panose="02020603050405020304" pitchFamily="18" charset="0"/>
                  <a:cs typeface="Times New Roman" panose="02020603050405020304" pitchFamily="18" charset="0"/>
                </a:endParaRPr>
              </a:p>
            </p:txBody>
          </p:sp>
        </p:grpSp>
        <p:sp>
          <p:nvSpPr>
            <p:cNvPr id="67" name="TextBox 66"/>
            <p:cNvSpPr txBox="1"/>
            <p:nvPr/>
          </p:nvSpPr>
          <p:spPr>
            <a:xfrm>
              <a:off x="259559" y="5005827"/>
              <a:ext cx="809998" cy="369332"/>
            </a:xfrm>
            <a:prstGeom prst="rect">
              <a:avLst/>
            </a:prstGeom>
            <a:noFill/>
          </p:spPr>
          <p:txBody>
            <a:bodyPr wrap="square" rtlCol="0">
              <a:spAutoFit/>
            </a:bodyPr>
            <a:lstStyle/>
            <a:p>
              <a:r>
                <a:rPr lang="vi-VN" smtClean="0">
                  <a:latin typeface="Times New Roman" panose="02020603050405020304" pitchFamily="18" charset="0"/>
                  <a:cs typeface="Times New Roman" panose="02020603050405020304" pitchFamily="18" charset="0"/>
                </a:rPr>
                <a:t>ERP</a:t>
              </a:r>
              <a:endParaRPr lang="en-US">
                <a:latin typeface="Times New Roman" panose="02020603050405020304" pitchFamily="18" charset="0"/>
                <a:cs typeface="Times New Roman" panose="02020603050405020304" pitchFamily="18" charset="0"/>
              </a:endParaRPr>
            </a:p>
          </p:txBody>
        </p:sp>
      </p:grpSp>
      <p:sp>
        <p:nvSpPr>
          <p:cNvPr id="70" name="TextBox 69"/>
          <p:cNvSpPr txBox="1"/>
          <p:nvPr/>
        </p:nvSpPr>
        <p:spPr>
          <a:xfrm>
            <a:off x="323124" y="720448"/>
            <a:ext cx="3018970" cy="338554"/>
          </a:xfrm>
          <a:prstGeom prst="rect">
            <a:avLst/>
          </a:prstGeom>
          <a:noFill/>
        </p:spPr>
        <p:txBody>
          <a:bodyPr wrap="square" rtlCol="0">
            <a:spAutoFit/>
          </a:bodyPr>
          <a:lstStyle/>
          <a:p>
            <a:r>
              <a:rPr lang="en-US" sz="1600" b="1" i="1" u="sng" smtClean="0">
                <a:solidFill>
                  <a:srgbClr val="FF0000"/>
                </a:solidFill>
                <a:latin typeface="Times New Roman" panose="02020603050405020304" pitchFamily="18" charset="0"/>
                <a:cs typeface="Times New Roman" panose="02020603050405020304" pitchFamily="18" charset="0"/>
              </a:rPr>
              <a:t>MIS đề xuất Cải thiện:</a:t>
            </a:r>
          </a:p>
        </p:txBody>
      </p:sp>
      <p:sp>
        <p:nvSpPr>
          <p:cNvPr id="22" name="TextBox 21"/>
          <p:cNvSpPr txBox="1"/>
          <p:nvPr/>
        </p:nvSpPr>
        <p:spPr>
          <a:xfrm>
            <a:off x="1276362" y="131676"/>
            <a:ext cx="10427958"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2. ĐIỀU CHỈNH Ô MÃ CÔNG ĐOẠN TRÊN PHIẾU </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ECN</a:t>
            </a:r>
            <a:r>
              <a:rPr lang="vi-VN"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-2</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
        <p:nvSpPr>
          <p:cNvPr id="25" name="Rounded Rectangular Callout 24"/>
          <p:cNvSpPr/>
          <p:nvPr/>
        </p:nvSpPr>
        <p:spPr>
          <a:xfrm>
            <a:off x="5155991" y="14374333"/>
            <a:ext cx="4772381" cy="2701387"/>
          </a:xfrm>
          <a:prstGeom prst="wedgeRoundRectCallout">
            <a:avLst>
              <a:gd name="adj1" fmla="val -10088"/>
              <a:gd name="adj2" fmla="val 124310"/>
              <a:gd name="adj3" fmla="val 16667"/>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i="1" u="sng" smtClean="0">
                <a:solidFill>
                  <a:schemeClr val="tx1"/>
                </a:solidFill>
                <a:latin typeface="Times New Roman" panose="02020603050405020304" pitchFamily="18" charset="0"/>
                <a:cs typeface="Times New Roman" panose="02020603050405020304" pitchFamily="18" charset="0"/>
              </a:rPr>
              <a:t>Phương án 1: </a:t>
            </a:r>
            <a:r>
              <a:rPr lang="en-US" sz="1200" smtClean="0">
                <a:solidFill>
                  <a:schemeClr val="tx1"/>
                </a:solidFill>
                <a:latin typeface="Times New Roman" panose="02020603050405020304" pitchFamily="18" charset="0"/>
                <a:cs typeface="Times New Roman" panose="02020603050405020304" pitchFamily="18" charset="0"/>
              </a:rPr>
              <a:t>thực hiện thay đổi thay đổi toàn bộ CĐSX của “</a:t>
            </a:r>
            <a:r>
              <a:rPr lang="vi-VN" sz="1200" i="1" u="sng" smtClean="0">
                <a:solidFill>
                  <a:schemeClr val="tx1"/>
                </a:solidFill>
                <a:latin typeface="Times New Roman" panose="02020603050405020304" pitchFamily="18" charset="0"/>
                <a:cs typeface="Times New Roman" panose="02020603050405020304" pitchFamily="18" charset="0"/>
              </a:rPr>
              <a:t>AHMC-C2100061</a:t>
            </a:r>
            <a:r>
              <a:rPr lang="en-US" sz="1200" smtClean="0">
                <a:solidFill>
                  <a:schemeClr val="tx1"/>
                </a:solidFill>
                <a:latin typeface="Times New Roman" panose="02020603050405020304" pitchFamily="18" charset="0"/>
                <a:cs typeface="Times New Roman" panose="02020603050405020304" pitchFamily="18" charset="0"/>
              </a:rPr>
              <a:t>” khi thực hiện thay đổi mã công đoạn của sản phẩm “</a:t>
            </a:r>
            <a:r>
              <a:rPr lang="vi-VN" sz="1200" i="1" u="sng" smtClean="0">
                <a:solidFill>
                  <a:schemeClr val="tx1"/>
                </a:solidFill>
                <a:latin typeface="Times New Roman" panose="02020603050405020304" pitchFamily="18" charset="0"/>
                <a:cs typeface="Times New Roman" panose="02020603050405020304" pitchFamily="18" charset="0"/>
              </a:rPr>
              <a:t>AHMC-C2100061</a:t>
            </a:r>
            <a:r>
              <a:rPr lang="en-US" sz="1200" smtClean="0">
                <a:solidFill>
                  <a:schemeClr val="tx1"/>
                </a:solidFill>
                <a:latin typeface="Times New Roman" panose="02020603050405020304" pitchFamily="18" charset="0"/>
                <a:cs typeface="Times New Roman" panose="02020603050405020304" pitchFamily="18" charset="0"/>
              </a:rPr>
              <a:t>” trên phiếu ECN của PLM.</a:t>
            </a:r>
          </a:p>
          <a:p>
            <a:endParaRPr lang="en-US" sz="1200" b="1" i="1" u="sng" smtClean="0">
              <a:solidFill>
                <a:schemeClr val="tx1"/>
              </a:solidFill>
              <a:latin typeface="Times New Roman" panose="02020603050405020304" pitchFamily="18" charset="0"/>
              <a:cs typeface="Times New Roman" panose="02020603050405020304" pitchFamily="18" charset="0"/>
            </a:endParaRPr>
          </a:p>
          <a:p>
            <a:r>
              <a:rPr lang="en-US" sz="1200" b="1" i="1" u="sng" smtClean="0">
                <a:solidFill>
                  <a:schemeClr val="tx1"/>
                </a:solidFill>
                <a:latin typeface="Times New Roman" panose="02020603050405020304" pitchFamily="18" charset="0"/>
                <a:cs typeface="Times New Roman" panose="02020603050405020304" pitchFamily="18" charset="0"/>
              </a:rPr>
              <a:t>Phương án 2</a:t>
            </a:r>
            <a:r>
              <a:rPr lang="en-US" sz="1200" smtClean="0">
                <a:solidFill>
                  <a:schemeClr val="tx1"/>
                </a:solidFill>
                <a:latin typeface="Times New Roman" panose="02020603050405020304" pitchFamily="18" charset="0"/>
                <a:cs typeface="Times New Roman" panose="02020603050405020304" pitchFamily="18" charset="0"/>
              </a:rPr>
              <a:t>: chỉ thực hiện thay đổi khi CĐSX khi thực hiện thay đổi NVL trong BOM với mã công đoạn là mã công đoạn của sản phẩm đó tại thời điểm thực hiện thay đổi.</a:t>
            </a:r>
          </a:p>
          <a:p>
            <a:pPr lvl="1"/>
            <a:r>
              <a:rPr lang="vi-VN" sz="1200" smtClean="0">
                <a:solidFill>
                  <a:schemeClr val="tx1"/>
                </a:solidFill>
                <a:latin typeface="Times New Roman" panose="02020603050405020304" pitchFamily="18" charset="0"/>
                <a:cs typeface="Times New Roman" panose="02020603050405020304" pitchFamily="18" charset="0"/>
              </a:rPr>
              <a:t>Mã </a:t>
            </a:r>
            <a:r>
              <a:rPr lang="vi-VN" sz="1200">
                <a:solidFill>
                  <a:schemeClr val="tx1"/>
                </a:solidFill>
                <a:latin typeface="Times New Roman" panose="02020603050405020304" pitchFamily="18" charset="0"/>
                <a:cs typeface="Times New Roman" panose="02020603050405020304" pitchFamily="18" charset="0"/>
              </a:rPr>
              <a:t>công đoạn của NVL </a:t>
            </a:r>
            <a:r>
              <a:rPr lang="vi-VN" sz="1200" i="1" u="sng" smtClean="0">
                <a:solidFill>
                  <a:schemeClr val="tx1"/>
                </a:solidFill>
                <a:latin typeface="Times New Roman" panose="02020603050405020304" pitchFamily="18" charset="0"/>
                <a:cs typeface="Times New Roman" panose="02020603050405020304" pitchFamily="18" charset="0"/>
              </a:rPr>
              <a:t>“AHMC-C2100061” </a:t>
            </a:r>
            <a:r>
              <a:rPr lang="vi-VN" sz="1200" smtClean="0">
                <a:solidFill>
                  <a:schemeClr val="tx1"/>
                </a:solidFill>
                <a:latin typeface="Times New Roman" panose="02020603050405020304" pitchFamily="18" charset="0"/>
                <a:cs typeface="Times New Roman" panose="02020603050405020304" pitchFamily="18" charset="0"/>
              </a:rPr>
              <a:t>trong </a:t>
            </a:r>
            <a:r>
              <a:rPr lang="vi-VN" sz="1200">
                <a:solidFill>
                  <a:schemeClr val="tx1"/>
                </a:solidFill>
                <a:latin typeface="Times New Roman" panose="02020603050405020304" pitchFamily="18" charset="0"/>
                <a:cs typeface="Times New Roman" panose="02020603050405020304" pitchFamily="18" charset="0"/>
              </a:rPr>
              <a:t>BOM sẽ là mã công đoạn của sản </a:t>
            </a:r>
            <a:r>
              <a:rPr lang="vi-VN" sz="1200" smtClean="0">
                <a:solidFill>
                  <a:schemeClr val="tx1"/>
                </a:solidFill>
                <a:latin typeface="Times New Roman" panose="02020603050405020304" pitchFamily="18" charset="0"/>
                <a:cs typeface="Times New Roman" panose="02020603050405020304" pitchFamily="18" charset="0"/>
              </a:rPr>
              <a:t>phẩm </a:t>
            </a:r>
            <a:r>
              <a:rPr lang="vi-VN" sz="1200" i="1" u="sng">
                <a:solidFill>
                  <a:schemeClr val="tx1"/>
                </a:solidFill>
                <a:latin typeface="Times New Roman" panose="02020603050405020304" pitchFamily="18" charset="0"/>
                <a:cs typeface="Times New Roman" panose="02020603050405020304" pitchFamily="18" charset="0"/>
              </a:rPr>
              <a:t>“AHMC-C2100061</a:t>
            </a:r>
            <a:r>
              <a:rPr lang="vi-VN" sz="1200" i="1" u="sng" smtClean="0">
                <a:solidFill>
                  <a:schemeClr val="tx1"/>
                </a:solidFill>
                <a:latin typeface="Times New Roman" panose="02020603050405020304" pitchFamily="18" charset="0"/>
                <a:cs typeface="Times New Roman" panose="02020603050405020304" pitchFamily="18" charset="0"/>
              </a:rPr>
              <a:t>” </a:t>
            </a:r>
            <a:r>
              <a:rPr lang="vi-VN" sz="1200" smtClean="0">
                <a:solidFill>
                  <a:schemeClr val="tx1"/>
                </a:solidFill>
                <a:latin typeface="Times New Roman" panose="02020603050405020304" pitchFamily="18" charset="0"/>
                <a:cs typeface="Times New Roman" panose="02020603050405020304" pitchFamily="18" charset="0"/>
              </a:rPr>
              <a:t>trên </a:t>
            </a:r>
            <a:r>
              <a:rPr lang="vi-VN" sz="1200" smtClean="0">
                <a:solidFill>
                  <a:srgbClr val="FF0000"/>
                </a:solidFill>
                <a:latin typeface="Times New Roman" panose="02020603050405020304" pitchFamily="18" charset="0"/>
                <a:cs typeface="Times New Roman" panose="02020603050405020304" pitchFamily="18" charset="0"/>
              </a:rPr>
              <a:t>PLM</a:t>
            </a:r>
            <a:r>
              <a:rPr lang="vi-VN" sz="1200" smtClean="0">
                <a:solidFill>
                  <a:schemeClr val="tx1"/>
                </a:solidFill>
                <a:latin typeface="Times New Roman" panose="02020603050405020304" pitchFamily="18" charset="0"/>
                <a:cs typeface="Times New Roman" panose="02020603050405020304" pitchFamily="18" charset="0"/>
              </a:rPr>
              <a:t> </a:t>
            </a:r>
            <a:r>
              <a:rPr lang="vi-VN" sz="1200">
                <a:solidFill>
                  <a:schemeClr val="tx1"/>
                </a:solidFill>
                <a:latin typeface="Times New Roman" panose="02020603050405020304" pitchFamily="18" charset="0"/>
                <a:cs typeface="Times New Roman" panose="02020603050405020304" pitchFamily="18" charset="0"/>
              </a:rPr>
              <a:t>tại </a:t>
            </a:r>
            <a:r>
              <a:rPr lang="vi-VN" sz="1200">
                <a:solidFill>
                  <a:srgbClr val="FF0000"/>
                </a:solidFill>
                <a:latin typeface="Times New Roman" panose="02020603050405020304" pitchFamily="18" charset="0"/>
                <a:cs typeface="Times New Roman" panose="02020603050405020304" pitchFamily="18" charset="0"/>
              </a:rPr>
              <a:t>thời điểm </a:t>
            </a:r>
            <a:r>
              <a:rPr lang="vi-VN" sz="1200" b="1">
                <a:solidFill>
                  <a:srgbClr val="FF0000"/>
                </a:solidFill>
                <a:latin typeface="Times New Roman" panose="02020603050405020304" pitchFamily="18" charset="0"/>
                <a:cs typeface="Times New Roman" panose="02020603050405020304" pitchFamily="18" charset="0"/>
              </a:rPr>
              <a:t>thay đổi </a:t>
            </a:r>
            <a:r>
              <a:rPr lang="vi-VN" sz="1200" b="1" smtClean="0">
                <a:solidFill>
                  <a:srgbClr val="FF0000"/>
                </a:solidFill>
                <a:latin typeface="Times New Roman" panose="02020603050405020304" pitchFamily="18" charset="0"/>
                <a:cs typeface="Times New Roman" panose="02020603050405020304" pitchFamily="18" charset="0"/>
              </a:rPr>
              <a:t>NVL</a:t>
            </a:r>
            <a:r>
              <a:rPr lang="vi-VN" sz="1200" smtClean="0">
                <a:solidFill>
                  <a:srgbClr val="FF0000"/>
                </a:solidFill>
                <a:latin typeface="Times New Roman" panose="02020603050405020304" pitchFamily="18" charset="0"/>
                <a:cs typeface="Times New Roman" panose="02020603050405020304" pitchFamily="18" charset="0"/>
              </a:rPr>
              <a:t> </a:t>
            </a:r>
            <a:r>
              <a:rPr lang="vi-VN" sz="1200" smtClean="0">
                <a:solidFill>
                  <a:schemeClr val="tx1"/>
                </a:solidFill>
                <a:latin typeface="Times New Roman" panose="02020603050405020304" pitchFamily="18" charset="0"/>
                <a:cs typeface="Times New Roman" panose="02020603050405020304" pitchFamily="18" charset="0"/>
              </a:rPr>
              <a:t>này </a:t>
            </a:r>
            <a:r>
              <a:rPr lang="vi-VN" sz="1200">
                <a:solidFill>
                  <a:schemeClr val="tx1"/>
                </a:solidFill>
                <a:latin typeface="Times New Roman" panose="02020603050405020304" pitchFamily="18" charset="0"/>
                <a:cs typeface="Times New Roman" panose="02020603050405020304" pitchFamily="18" charset="0"/>
              </a:rPr>
              <a:t>trong </a:t>
            </a:r>
            <a:r>
              <a:rPr lang="vi-VN" sz="1200" smtClean="0">
                <a:solidFill>
                  <a:schemeClr val="tx1"/>
                </a:solidFill>
                <a:latin typeface="Times New Roman" panose="02020603050405020304" pitchFamily="18" charset="0"/>
                <a:cs typeface="Times New Roman" panose="02020603050405020304" pitchFamily="18" charset="0"/>
              </a:rPr>
              <a:t>BOM.</a:t>
            </a:r>
            <a:endParaRPr lang="en-US" sz="1200" smtClean="0">
              <a:solidFill>
                <a:schemeClr val="tx1"/>
              </a:solidFill>
              <a:latin typeface="Times New Roman" panose="02020603050405020304" pitchFamily="18" charset="0"/>
              <a:cs typeface="Times New Roman" panose="02020603050405020304" pitchFamily="18" charset="0"/>
            </a:endParaRPr>
          </a:p>
          <a:p>
            <a:pPr lvl="1"/>
            <a:endParaRPr lang="vi-VN" sz="1200" smtClean="0">
              <a:solidFill>
                <a:schemeClr val="tx1"/>
              </a:solidFill>
              <a:latin typeface="Times New Roman" panose="02020603050405020304" pitchFamily="18" charset="0"/>
              <a:cs typeface="Times New Roman" panose="02020603050405020304" pitchFamily="18" charset="0"/>
            </a:endParaRPr>
          </a:p>
          <a:p>
            <a:pPr lvl="1"/>
            <a:r>
              <a:rPr lang="vi-VN" sz="1200" smtClean="0">
                <a:solidFill>
                  <a:srgbClr val="FF0000"/>
                </a:solidFill>
                <a:latin typeface="Times New Roman" panose="02020603050405020304" pitchFamily="18" charset="0"/>
                <a:cs typeface="Times New Roman" panose="02020603050405020304" pitchFamily="18" charset="0"/>
              </a:rPr>
              <a:t>Lưu ý: </a:t>
            </a:r>
            <a:r>
              <a:rPr lang="vi-VN" sz="1200" smtClean="0">
                <a:solidFill>
                  <a:schemeClr val="tx1"/>
                </a:solidFill>
                <a:latin typeface="Times New Roman" panose="02020603050405020304" pitchFamily="18" charset="0"/>
                <a:cs typeface="Times New Roman" panose="02020603050405020304" pitchFamily="18" charset="0"/>
              </a:rPr>
              <a:t>khi thay đổi mã công đoạn của sản phẩm thì nó sẽ không thay đổi mã công đoạn của NVL.</a:t>
            </a:r>
            <a:endParaRPr lang="en-US" sz="1200" smtClean="0">
              <a:solidFill>
                <a:schemeClr val="tx1"/>
              </a:solidFill>
              <a:latin typeface="Times New Roman" panose="02020603050405020304" pitchFamily="18" charset="0"/>
              <a:cs typeface="Times New Roman" panose="02020603050405020304" pitchFamily="18" charset="0"/>
            </a:endParaRPr>
          </a:p>
          <a:p>
            <a:pPr lvl="1"/>
            <a:endParaRPr lang="en-US" sz="1200" smtClean="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50698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32352" y="2817003"/>
            <a:ext cx="10427958" cy="461665"/>
          </a:xfrm>
          <a:prstGeom prst="rect">
            <a:avLst/>
          </a:prstGeom>
          <a:noFill/>
        </p:spPr>
        <p:txBody>
          <a:bodyPr wrap="square" rtlCol="0">
            <a:spAutoFit/>
          </a:bodyPr>
          <a:lstStyle/>
          <a:p>
            <a:pPr algn="ctr"/>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3</a:t>
            </a:r>
            <a:r>
              <a:rPr lang="en-US" sz="2400" b="1" smtClean="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 KAIFA HỖ TRỢ KIỂM THỬ CÙNG MIS.</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4942297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76362" y="131676"/>
            <a:ext cx="10427958" cy="461665"/>
          </a:xfrm>
          <a:prstGeom prst="rect">
            <a:avLst/>
          </a:prstGeom>
          <a:noFill/>
        </p:spPr>
        <p:txBody>
          <a:bodyPr wrap="square" rtlCol="0">
            <a:spAutoFit/>
          </a:bodyPr>
          <a:lstStyle/>
          <a:p>
            <a:r>
              <a:rPr lang="en-US" sz="2400" b="1">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rPr>
              <a:t>3. KAIFA HỖ TRỢ KIỂM THỬ CÙNG MIS.</a:t>
            </a:r>
            <a:endParaRPr lang="en-US" sz="2400" b="1" dirty="0">
              <a:solidFill>
                <a:srgbClr val="0070C0"/>
              </a:solidFill>
              <a:latin typeface="Times New Roman" panose="02020603050405020304" pitchFamily="18" charset="0"/>
              <a:ea typeface="Microsoft JhengHei" panose="020B0604030504040204" pitchFamily="34" charset="-120"/>
              <a:cs typeface="Times New Roman" panose="02020603050405020304" pitchFamily="18" charset="0"/>
            </a:endParaRPr>
          </a:p>
        </p:txBody>
      </p:sp>
      <p:grpSp>
        <p:nvGrpSpPr>
          <p:cNvPr id="4" name="Group 3"/>
          <p:cNvGrpSpPr/>
          <p:nvPr/>
        </p:nvGrpSpPr>
        <p:grpSpPr>
          <a:xfrm>
            <a:off x="739390" y="1436192"/>
            <a:ext cx="11221138" cy="3603398"/>
            <a:chOff x="643697" y="1042787"/>
            <a:chExt cx="11221138" cy="3603398"/>
          </a:xfrm>
        </p:grpSpPr>
        <p:sp>
          <p:nvSpPr>
            <p:cNvPr id="16" name="TextBox 15"/>
            <p:cNvSpPr txBox="1"/>
            <p:nvPr/>
          </p:nvSpPr>
          <p:spPr>
            <a:xfrm>
              <a:off x="643697" y="1231473"/>
              <a:ext cx="7106932" cy="3046988"/>
            </a:xfrm>
            <a:prstGeom prst="rect">
              <a:avLst/>
            </a:prstGeom>
            <a:solidFill>
              <a:schemeClr val="accent6">
                <a:lumMod val="20000"/>
                <a:lumOff val="80000"/>
              </a:schemeClr>
            </a:solidFill>
          </p:spPr>
          <p:txBody>
            <a:bodyPr wrap="square" rtlCol="0">
              <a:spAutoFit/>
            </a:bodyPr>
            <a:lstStyle/>
            <a:p>
              <a:pPr marL="342900" indent="-342900">
                <a:lnSpc>
                  <a:spcPct val="150000"/>
                </a:lnSpc>
                <a:buFont typeface="+mj-lt"/>
                <a:buAutoNum type="arabicPeriod"/>
              </a:pPr>
              <a:r>
                <a:rPr lang="en-US" sz="1600" b="1" dirty="0">
                  <a:latin typeface="Times New Roman" panose="02020603050405020304" pitchFamily="18" charset="0"/>
                  <a:ea typeface="Microsoft JhengHei" panose="020B0604030504040204" pitchFamily="34" charset="-120"/>
                  <a:cs typeface="Times New Roman" panose="02020603050405020304" pitchFamily="18" charset="0"/>
                </a:rPr>
                <a:t>Vấn đề</a:t>
              </a:r>
              <a:r>
                <a:rPr lang="en-US" sz="1600" b="1">
                  <a:latin typeface="Times New Roman" panose="02020603050405020304" pitchFamily="18" charset="0"/>
                  <a:ea typeface="Microsoft JhengHei" panose="020B0604030504040204" pitchFamily="34" charset="-120"/>
                  <a:cs typeface="Times New Roman" panose="02020603050405020304" pitchFamily="18" charset="0"/>
                </a:rPr>
                <a:t>:</a:t>
              </a:r>
              <a:r>
                <a:rPr lang="en-US" sz="1600">
                  <a:latin typeface="Times New Roman" panose="02020603050405020304" pitchFamily="18" charset="0"/>
                  <a:ea typeface="Microsoft JhengHei" panose="020B0604030504040204" pitchFamily="34" charset="-120"/>
                  <a:cs typeface="Times New Roman" panose="02020603050405020304" pitchFamily="18" charset="0"/>
                </a:rPr>
                <a:t> </a:t>
              </a: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Mong muốn bên Kaifa hỗ trợ kiểm thử cùng.</a:t>
              </a:r>
            </a:p>
            <a:p>
              <a:pPr marL="342900" indent="-342900">
                <a:lnSpc>
                  <a:spcPct val="150000"/>
                </a:lnSpc>
                <a:buFont typeface="+mj-lt"/>
                <a:buAutoNum type="arabicPeriod"/>
              </a:pPr>
              <a:r>
                <a:rPr lang="en-US" sz="1600" b="1" smtClean="0">
                  <a:latin typeface="Times New Roman" panose="02020603050405020304" pitchFamily="18" charset="0"/>
                  <a:ea typeface="Microsoft JhengHei" panose="020B0604030504040204" pitchFamily="34" charset="-120"/>
                  <a:cs typeface="Times New Roman" panose="02020603050405020304" pitchFamily="18" charset="0"/>
                </a:rPr>
                <a:t>Mục đích:</a:t>
              </a:r>
            </a:p>
            <a:p>
              <a:pPr marL="800100" lvl="1" indent="-342900">
                <a:lnSpc>
                  <a:spcPct val="150000"/>
                </a:lnSpc>
                <a:buFont typeface="Wingdings" panose="05000000000000000000" pitchFamily="2" charset="2"/>
                <a:buChar char="ü"/>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Tiếp tục kiểm thử lỗi.</a:t>
              </a:r>
            </a:p>
            <a:p>
              <a:pPr marL="800100" lvl="1" indent="-342900">
                <a:lnSpc>
                  <a:spcPct val="150000"/>
                </a:lnSpc>
                <a:buFont typeface="Wingdings" panose="05000000000000000000" pitchFamily="2" charset="2"/>
                <a:buChar char="ü"/>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Kiểm tra service này có tác động đến các mã chương trình khác</a:t>
              </a:r>
              <a:r>
                <a:rPr lang="vi-VN" sz="1600" smtClean="0">
                  <a:latin typeface="Times New Roman" panose="02020603050405020304" pitchFamily="18" charset="0"/>
                  <a:ea typeface="Microsoft JhengHei" panose="020B0604030504040204" pitchFamily="34" charset="-120"/>
                  <a:cs typeface="Times New Roman" panose="02020603050405020304" pitchFamily="18" charset="0"/>
                </a:rPr>
                <a:t> trên ERP</a:t>
              </a: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 không?</a:t>
              </a:r>
            </a:p>
            <a:p>
              <a:pPr marL="800100" lvl="1" indent="-342900">
                <a:lnSpc>
                  <a:spcPct val="150000"/>
                </a:lnSpc>
                <a:buFont typeface="Wingdings" panose="05000000000000000000" pitchFamily="2" charset="2"/>
                <a:buChar char="ü"/>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Kiểm tra tính ổn định của service.</a:t>
              </a:r>
            </a:p>
            <a:p>
              <a:pPr marL="800100" lvl="1" indent="-342900">
                <a:lnSpc>
                  <a:spcPct val="150000"/>
                </a:lnSpc>
                <a:buFont typeface="Wingdings" panose="05000000000000000000" pitchFamily="2" charset="2"/>
                <a:buChar char="ü"/>
              </a:pPr>
              <a:r>
                <a:rPr lang="en-US" sz="1600" smtClean="0">
                  <a:latin typeface="Times New Roman" panose="02020603050405020304" pitchFamily="18" charset="0"/>
                  <a:ea typeface="Microsoft JhengHei" panose="020B0604030504040204" pitchFamily="34" charset="-120"/>
                  <a:cs typeface="Times New Roman" panose="02020603050405020304" pitchFamily="18" charset="0"/>
                </a:rPr>
                <a:t>Giả định các lỗi khi gặp thực tế để xử lý.</a:t>
              </a:r>
            </a:p>
            <a:p>
              <a:pPr marL="800100" lvl="1" indent="-342900">
                <a:lnSpc>
                  <a:spcPct val="150000"/>
                </a:lnSpc>
                <a:buFont typeface="+mj-lt"/>
                <a:buAutoNum type="arabicPeriod"/>
              </a:pPr>
              <a:endParaRPr lang="vi-VN" sz="1600" dirty="0">
                <a:latin typeface="Times New Roman" panose="02020603050405020304" pitchFamily="18" charset="0"/>
                <a:ea typeface="Microsoft JhengHei" panose="020B0604030504040204" pitchFamily="34" charset="-120"/>
                <a:cs typeface="Times New Roman" panose="02020603050405020304" pitchFamily="18" charset="0"/>
              </a:endParaRPr>
            </a:p>
          </p:txBody>
        </p:sp>
        <p:pic>
          <p:nvPicPr>
            <p:cNvPr id="1026" name="Picture 2" descr="Tes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61437" y="1042787"/>
              <a:ext cx="3603398" cy="360339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4111131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40000"/>
            <a:lum/>
          </a:blip>
          <a:srcRect/>
          <a:stretch>
            <a:fillRect l="-3000" r="-3000"/>
          </a:stretch>
        </a:blipFill>
        <a:effectLst/>
      </p:bgPr>
    </p:bg>
    <p:spTree>
      <p:nvGrpSpPr>
        <p:cNvPr id="1" name=""/>
        <p:cNvGrpSpPr/>
        <p:nvPr/>
      </p:nvGrpSpPr>
      <p:grpSpPr>
        <a:xfrm>
          <a:off x="0" y="0"/>
          <a:ext cx="0" cy="0"/>
          <a:chOff x="0" y="0"/>
          <a:chExt cx="0" cy="0"/>
        </a:xfrm>
      </p:grpSpPr>
      <p:sp>
        <p:nvSpPr>
          <p:cNvPr id="2" name="Text 0"/>
          <p:cNvSpPr/>
          <p:nvPr/>
        </p:nvSpPr>
        <p:spPr>
          <a:xfrm>
            <a:off x="2202337" y="1142380"/>
            <a:ext cx="7759713" cy="1480820"/>
          </a:xfrm>
          <a:prstGeom prst="rect">
            <a:avLst/>
          </a:prstGeom>
          <a:noFill/>
        </p:spPr>
        <p:txBody>
          <a:bodyPr wrap="square" lIns="0" tIns="0" rIns="0" bIns="127508" rtlCol="0" anchor="ctr">
            <a:prstTxWarp prst="textArchUp">
              <a:avLst/>
            </a:prstTxWarp>
            <a:spAutoFit/>
          </a:bodyPr>
          <a:lstStyle/>
          <a:p>
            <a:pPr marL="0" indent="0" algn="ctr">
              <a:buNone/>
            </a:pPr>
            <a:r>
              <a:rPr lang="en-US" sz="88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reflection blurRad="6350" stA="50000" endA="300" endPos="50000" dist="60007" dir="5400000" sy="-100000" algn="bl" rotWithShape="0"/>
                </a:effectLst>
                <a:latin typeface="Times New Roman" panose="02020603050405020304" pitchFamily="18" charset="0"/>
                <a:ea typeface="Microsoft JhengHei" panose="020B0604030504040204" pitchFamily="34" charset="-120"/>
                <a:cs typeface="Times New Roman" panose="02020603050405020304" pitchFamily="18" charset="0"/>
              </a:rPr>
              <a:t>THANK YOU!</a:t>
            </a:r>
            <a:endParaRPr lang="en-US" sz="88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reflection blurRad="6350" stA="50000" endA="300" endPos="50000" dist="60007" dir="5400000" sy="-100000" algn="bl" rotWithShape="0"/>
              </a:effectLst>
              <a:latin typeface="Times New Roman" panose="02020603050405020304" pitchFamily="18" charset="0"/>
              <a:ea typeface="Microsoft JhengHei" panose="020B0604030504040204" pitchFamily="34" charset="-12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29"/>
          <p:cNvGraphicFramePr>
            <a:graphicFrameLocks noGrp="1"/>
          </p:cNvGraphicFramePr>
          <p:nvPr>
            <p:extLst>
              <p:ext uri="{D42A27DB-BD31-4B8C-83A1-F6EECF244321}">
                <p14:modId xmlns:p14="http://schemas.microsoft.com/office/powerpoint/2010/main" val="3387299350"/>
              </p:ext>
            </p:extLst>
          </p:nvPr>
        </p:nvGraphicFramePr>
        <p:xfrm>
          <a:off x="1898113" y="1609725"/>
          <a:ext cx="8128000" cy="2225040"/>
        </p:xfrm>
        <a:graphic>
          <a:graphicData uri="http://schemas.openxmlformats.org/drawingml/2006/table">
            <a:tbl>
              <a:tblPr firstRow="1" bandRow="1">
                <a:tableStyleId>{5C22544A-7EE6-4342-B048-85BDC9FD1C3A}</a:tableStyleId>
              </a:tblPr>
              <a:tblGrid>
                <a:gridCol w="3130111">
                  <a:extLst>
                    <a:ext uri="{9D8B030D-6E8A-4147-A177-3AD203B41FA5}">
                      <a16:colId xmlns:a16="http://schemas.microsoft.com/office/drawing/2014/main" val="2990982293"/>
                    </a:ext>
                  </a:extLst>
                </a:gridCol>
                <a:gridCol w="4997889">
                  <a:extLst>
                    <a:ext uri="{9D8B030D-6E8A-4147-A177-3AD203B41FA5}">
                      <a16:colId xmlns:a16="http://schemas.microsoft.com/office/drawing/2014/main" val="3378965344"/>
                    </a:ext>
                  </a:extLst>
                </a:gridCol>
              </a:tblGrid>
              <a:tr h="370840">
                <a:tc>
                  <a:txBody>
                    <a:bodyPr/>
                    <a:lstStyle/>
                    <a:p>
                      <a:pPr algn="ctr"/>
                      <a:r>
                        <a:rPr lang="en-US" i="1" u="sng">
                          <a:latin typeface="Times New Roman" panose="02020603050405020304" pitchFamily="18" charset="0"/>
                          <a:ea typeface="Microsoft JhengHei" panose="020B0604030504040204" pitchFamily="34" charset="-120"/>
                          <a:cs typeface="Times New Roman" panose="02020603050405020304" pitchFamily="18" charset="0"/>
                        </a:rPr>
                        <a:t>ERP</a:t>
                      </a:r>
                    </a:p>
                  </a:txBody>
                  <a:tcPr/>
                </a:tc>
                <a:tc>
                  <a:txBody>
                    <a:bodyPr/>
                    <a:lstStyle/>
                    <a:p>
                      <a:pPr algn="ctr"/>
                      <a:r>
                        <a:rPr lang="en-US" i="1" u="sng">
                          <a:latin typeface="Times New Roman" panose="02020603050405020304" pitchFamily="18" charset="0"/>
                          <a:ea typeface="Microsoft JhengHei" panose="020B0604030504040204" pitchFamily="34" charset="-120"/>
                          <a:cs typeface="Times New Roman" panose="02020603050405020304" pitchFamily="18" charset="0"/>
                        </a:rPr>
                        <a:t>PLM</a:t>
                      </a:r>
                    </a:p>
                  </a:txBody>
                  <a:tcPr/>
                </a:tc>
                <a:extLst>
                  <a:ext uri="{0D108BD9-81ED-4DB2-BD59-A6C34878D82A}">
                    <a16:rowId xmlns:a16="http://schemas.microsoft.com/office/drawing/2014/main" val="3229988530"/>
                  </a:ext>
                </a:extLst>
              </a:tr>
              <a:tr h="370840">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MB002(Tên SP)  	</a:t>
                      </a:r>
                    </a:p>
                  </a:txBody>
                  <a:tcPr/>
                </a:tc>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Tên sản phẩm</a:t>
                      </a:r>
                    </a:p>
                  </a:txBody>
                  <a:tcPr/>
                </a:tc>
                <a:extLst>
                  <a:ext uri="{0D108BD9-81ED-4DB2-BD59-A6C34878D82A}">
                    <a16:rowId xmlns:a16="http://schemas.microsoft.com/office/drawing/2014/main" val="1387083936"/>
                  </a:ext>
                </a:extLst>
              </a:tr>
              <a:tr h="370840">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MB003(Quy cách)</a:t>
                      </a:r>
                    </a:p>
                  </a:txBody>
                  <a:tcPr/>
                </a:tc>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Quy cách</a:t>
                      </a:r>
                    </a:p>
                  </a:txBody>
                  <a:tcPr/>
                </a:tc>
                <a:extLst>
                  <a:ext uri="{0D108BD9-81ED-4DB2-BD59-A6C34878D82A}">
                    <a16:rowId xmlns:a16="http://schemas.microsoft.com/office/drawing/2014/main" val="2111991827"/>
                  </a:ext>
                </a:extLst>
              </a:tr>
              <a:tr h="370840">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MB068(Mã CĐ)</a:t>
                      </a:r>
                    </a:p>
                  </a:txBody>
                  <a:tcPr/>
                </a:tc>
                <a:tc>
                  <a:txBody>
                    <a:bodyPr/>
                    <a:lstStyle/>
                    <a:p>
                      <a:r>
                        <a:rPr lang="vi-VN">
                          <a:latin typeface="Times New Roman" panose="02020603050405020304" pitchFamily="18" charset="0"/>
                          <a:ea typeface="Microsoft JhengHei" panose="020B0604030504040204" pitchFamily="34" charset="-120"/>
                          <a:cs typeface="Times New Roman" panose="02020603050405020304" pitchFamily="18" charset="0"/>
                        </a:rPr>
                        <a:t>Mã công đoạn (chưa chọn được theo danh sách)</a:t>
                      </a:r>
                      <a:endParaRPr lang="en-US">
                        <a:latin typeface="Times New Roman" panose="02020603050405020304" pitchFamily="18" charset="0"/>
                        <a:ea typeface="Microsoft JhengHei" panose="020B0604030504040204" pitchFamily="34" charset="-120"/>
                        <a:cs typeface="Times New Roman" panose="02020603050405020304" pitchFamily="18" charset="0"/>
                      </a:endParaRPr>
                    </a:p>
                  </a:txBody>
                  <a:tcPr/>
                </a:tc>
                <a:extLst>
                  <a:ext uri="{0D108BD9-81ED-4DB2-BD59-A6C34878D82A}">
                    <a16:rowId xmlns:a16="http://schemas.microsoft.com/office/drawing/2014/main" val="3036031676"/>
                  </a:ext>
                </a:extLst>
              </a:tr>
              <a:tr h="370840">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MB025(TTinh SP)</a:t>
                      </a:r>
                    </a:p>
                  </a:txBody>
                  <a:tcPr/>
                </a:tc>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Tự làm/mua ngoài (P/M/S/Y/F)</a:t>
                      </a:r>
                    </a:p>
                  </a:txBody>
                  <a:tcPr/>
                </a:tc>
                <a:extLst>
                  <a:ext uri="{0D108BD9-81ED-4DB2-BD59-A6C34878D82A}">
                    <a16:rowId xmlns:a16="http://schemas.microsoft.com/office/drawing/2014/main" val="2409234316"/>
                  </a:ext>
                </a:extLst>
              </a:tr>
              <a:tr h="370840">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MB028(Ghi chú)	</a:t>
                      </a:r>
                    </a:p>
                  </a:txBody>
                  <a:tcPr/>
                </a:tc>
                <a:tc>
                  <a:txBody>
                    <a:bodyPr/>
                    <a:lstStyle/>
                    <a:p>
                      <a:r>
                        <a:rPr lang="en-US">
                          <a:latin typeface="Times New Roman" panose="02020603050405020304" pitchFamily="18" charset="0"/>
                          <a:ea typeface="Microsoft JhengHei" panose="020B0604030504040204" pitchFamily="34" charset="-120"/>
                          <a:cs typeface="Times New Roman" panose="02020603050405020304" pitchFamily="18" charset="0"/>
                        </a:rPr>
                        <a:t>Mô tả về sản phẩm</a:t>
                      </a:r>
                    </a:p>
                  </a:txBody>
                  <a:tcPr/>
                </a:tc>
                <a:extLst>
                  <a:ext uri="{0D108BD9-81ED-4DB2-BD59-A6C34878D82A}">
                    <a16:rowId xmlns:a16="http://schemas.microsoft.com/office/drawing/2014/main" val="817571400"/>
                  </a:ext>
                </a:extLst>
              </a:tr>
            </a:tbl>
          </a:graphicData>
        </a:graphic>
      </p:graphicFrame>
      <p:sp>
        <p:nvSpPr>
          <p:cNvPr id="31" name="TextBox 30"/>
          <p:cNvSpPr txBox="1"/>
          <p:nvPr/>
        </p:nvSpPr>
        <p:spPr>
          <a:xfrm>
            <a:off x="3722652" y="3930015"/>
            <a:ext cx="4021173" cy="276999"/>
          </a:xfrm>
          <a:prstGeom prst="rect">
            <a:avLst/>
          </a:prstGeom>
          <a:noFill/>
        </p:spPr>
        <p:txBody>
          <a:bodyPr wrap="square" rtlCol="0">
            <a:spAutoFit/>
          </a:bodyPr>
          <a:lstStyle/>
          <a:p>
            <a:r>
              <a:rPr lang="en-US" sz="1200" i="1" smtClean="0">
                <a:latin typeface="Times New Roman" panose="02020603050405020304" pitchFamily="18" charset="0"/>
                <a:ea typeface="Microsoft JhengHei" panose="020B0604030504040204" pitchFamily="34" charset="-120"/>
                <a:cs typeface="Times New Roman" panose="02020603050405020304" pitchFamily="18" charset="0"/>
              </a:rPr>
              <a:t>Bảng 1: các trường thực hiện thay đổi sản phẩm trên PLM</a:t>
            </a:r>
            <a:endParaRPr lang="en-US" sz="1200" i="1" dirty="0">
              <a:latin typeface="Times New Roman" panose="02020603050405020304" pitchFamily="18" charset="0"/>
              <a:ea typeface="Microsoft JhengHei" panose="020B0604030504040204" pitchFamily="34" charset="-120"/>
              <a:cs typeface="Times New Roman" panose="02020603050405020304" pitchFamily="18" charset="0"/>
            </a:endParaRPr>
          </a:p>
        </p:txBody>
      </p:sp>
    </p:spTree>
    <p:extLst>
      <p:ext uri="{BB962C8B-B14F-4D97-AF65-F5344CB8AC3E}">
        <p14:creationId xmlns:p14="http://schemas.microsoft.com/office/powerpoint/2010/main" val="1571868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p:cNvSpPr txBox="1"/>
          <p:nvPr/>
        </p:nvSpPr>
        <p:spPr>
          <a:xfrm>
            <a:off x="3722652" y="3930015"/>
            <a:ext cx="4021173" cy="276999"/>
          </a:xfrm>
          <a:prstGeom prst="rect">
            <a:avLst/>
          </a:prstGeom>
          <a:noFill/>
        </p:spPr>
        <p:txBody>
          <a:bodyPr wrap="square" rtlCol="0">
            <a:spAutoFit/>
          </a:bodyPr>
          <a:lstStyle/>
          <a:p>
            <a:r>
              <a:rPr lang="en-US" sz="1200" i="1" smtClean="0">
                <a:latin typeface="Times New Roman" panose="02020603050405020304" pitchFamily="18" charset="0"/>
                <a:ea typeface="Microsoft JhengHei" panose="020B0604030504040204" pitchFamily="34" charset="-120"/>
                <a:cs typeface="Times New Roman" panose="02020603050405020304" pitchFamily="18" charset="0"/>
              </a:rPr>
              <a:t>Bảng 1: các trường thực hiện thay đổi sản phẩm trên PLM</a:t>
            </a:r>
            <a:endParaRPr lang="en-US" sz="1200" i="1" dirty="0">
              <a:latin typeface="Times New Roman" panose="02020603050405020304" pitchFamily="18" charset="0"/>
              <a:ea typeface="Microsoft JhengHei" panose="020B0604030504040204" pitchFamily="34" charset="-12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441971799"/>
              </p:ext>
            </p:extLst>
          </p:nvPr>
        </p:nvGraphicFramePr>
        <p:xfrm>
          <a:off x="2127638" y="1578000"/>
          <a:ext cx="8128000" cy="2225040"/>
        </p:xfrm>
        <a:graphic>
          <a:graphicData uri="http://schemas.openxmlformats.org/drawingml/2006/table">
            <a:tbl>
              <a:tblPr firstRow="1" bandRow="1">
                <a:tableStyleId>{5C22544A-7EE6-4342-B048-85BDC9FD1C3A}</a:tableStyleId>
              </a:tblPr>
              <a:tblGrid>
                <a:gridCol w="3130111">
                  <a:extLst>
                    <a:ext uri="{9D8B030D-6E8A-4147-A177-3AD203B41FA5}">
                      <a16:colId xmlns:a16="http://schemas.microsoft.com/office/drawing/2014/main" val="2990982293"/>
                    </a:ext>
                  </a:extLst>
                </a:gridCol>
                <a:gridCol w="4997889">
                  <a:extLst>
                    <a:ext uri="{9D8B030D-6E8A-4147-A177-3AD203B41FA5}">
                      <a16:colId xmlns:a16="http://schemas.microsoft.com/office/drawing/2014/main" val="3378965344"/>
                    </a:ext>
                  </a:extLst>
                </a:gridCol>
              </a:tblGrid>
              <a:tr h="370840">
                <a:tc>
                  <a:txBody>
                    <a:bodyPr/>
                    <a:lstStyle/>
                    <a:p>
                      <a:pPr algn="ctr"/>
                      <a:r>
                        <a:rPr lang="en-US" i="1" u="sng">
                          <a:latin typeface="Times New Roman" panose="02020603050405020304" pitchFamily="18" charset="0"/>
                          <a:ea typeface="Microsoft JhengHei" panose="020B0604030504040204" pitchFamily="34" charset="-120"/>
                          <a:cs typeface="Times New Roman" panose="02020603050405020304" pitchFamily="18" charset="0"/>
                        </a:rPr>
                        <a:t>ERP</a:t>
                      </a:r>
                    </a:p>
                  </a:txBody>
                  <a:tcPr/>
                </a:tc>
                <a:tc>
                  <a:txBody>
                    <a:bodyPr/>
                    <a:lstStyle/>
                    <a:p>
                      <a:pPr algn="ctr"/>
                      <a:r>
                        <a:rPr lang="en-US" i="1" u="sng">
                          <a:latin typeface="Times New Roman" panose="02020603050405020304" pitchFamily="18" charset="0"/>
                          <a:ea typeface="Microsoft JhengHei" panose="020B0604030504040204" pitchFamily="34" charset="-120"/>
                          <a:cs typeface="Times New Roman" panose="02020603050405020304" pitchFamily="18" charset="0"/>
                        </a:rPr>
                        <a:t>PLM</a:t>
                      </a:r>
                    </a:p>
                  </a:txBody>
                  <a:tcPr/>
                </a:tc>
                <a:extLst>
                  <a:ext uri="{0D108BD9-81ED-4DB2-BD59-A6C34878D82A}">
                    <a16:rowId xmlns:a16="http://schemas.microsoft.com/office/drawing/2014/main" val="3229988530"/>
                  </a:ext>
                </a:extLst>
              </a:tr>
              <a:tr h="370840">
                <a:tc>
                  <a:txBody>
                    <a:bodyPr/>
                    <a:lstStyle/>
                    <a:p>
                      <a:r>
                        <a:rPr lang="en-US" dirty="0">
                          <a:latin typeface="Times New Roman" panose="02020603050405020304" pitchFamily="18" charset="0"/>
                          <a:ea typeface="Microsoft JhengHei" panose="020B0604030504040204" pitchFamily="34" charset="-120"/>
                          <a:cs typeface="Times New Roman" panose="02020603050405020304" pitchFamily="18" charset="0"/>
                        </a:rPr>
                        <a:t>MB002(</a:t>
                      </a:r>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產品名稱</a:t>
                      </a:r>
                      <a:r>
                        <a:rPr lang="en-US" dirty="0">
                          <a:latin typeface="Times New Roman" panose="02020603050405020304" pitchFamily="18" charset="0"/>
                          <a:ea typeface="Microsoft JhengHei" panose="020B0604030504040204" pitchFamily="34" charset="-120"/>
                          <a:cs typeface="Times New Roman" panose="02020603050405020304" pitchFamily="18" charset="0"/>
                        </a:rPr>
                        <a:t>)  	</a:t>
                      </a:r>
                    </a:p>
                  </a:txBody>
                  <a:tcPr/>
                </a:tc>
                <a:tc>
                  <a:txBody>
                    <a:bodyPr/>
                    <a:lstStyle/>
                    <a:p>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產品名稱</a:t>
                      </a:r>
                      <a:endParaRPr lang="en-US"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tc>
                <a:extLst>
                  <a:ext uri="{0D108BD9-81ED-4DB2-BD59-A6C34878D82A}">
                    <a16:rowId xmlns:a16="http://schemas.microsoft.com/office/drawing/2014/main" val="1387083936"/>
                  </a:ext>
                </a:extLst>
              </a:tr>
              <a:tr h="370840">
                <a:tc>
                  <a:txBody>
                    <a:bodyPr/>
                    <a:lstStyle/>
                    <a:p>
                      <a:r>
                        <a:rPr lang="en-US" dirty="0">
                          <a:latin typeface="Times New Roman" panose="02020603050405020304" pitchFamily="18" charset="0"/>
                          <a:ea typeface="Microsoft JhengHei" panose="020B0604030504040204" pitchFamily="34" charset="-120"/>
                          <a:cs typeface="Times New Roman" panose="02020603050405020304" pitchFamily="18" charset="0"/>
                        </a:rPr>
                        <a:t>MB003(</a:t>
                      </a:r>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規格</a:t>
                      </a:r>
                      <a:r>
                        <a:rPr lang="en-US" dirty="0">
                          <a:latin typeface="Times New Roman" panose="02020603050405020304" pitchFamily="18" charset="0"/>
                          <a:ea typeface="Microsoft JhengHei" panose="020B0604030504040204" pitchFamily="34" charset="-120"/>
                          <a:cs typeface="Times New Roman" panose="02020603050405020304" pitchFamily="18" charset="0"/>
                        </a:rPr>
                        <a:t>)</a:t>
                      </a:r>
                    </a:p>
                  </a:txBody>
                  <a:tcPr/>
                </a:tc>
                <a:tc>
                  <a:txBody>
                    <a:bodyPr/>
                    <a:lstStyle/>
                    <a:p>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規格</a:t>
                      </a:r>
                      <a:endParaRPr lang="en-US"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tc>
                <a:extLst>
                  <a:ext uri="{0D108BD9-81ED-4DB2-BD59-A6C34878D82A}">
                    <a16:rowId xmlns:a16="http://schemas.microsoft.com/office/drawing/2014/main" val="2111991827"/>
                  </a:ext>
                </a:extLst>
              </a:tr>
              <a:tr h="370840">
                <a:tc>
                  <a:txBody>
                    <a:bodyPr/>
                    <a:lstStyle/>
                    <a:p>
                      <a:r>
                        <a:rPr lang="en-US" dirty="0">
                          <a:latin typeface="Times New Roman" panose="02020603050405020304" pitchFamily="18" charset="0"/>
                          <a:ea typeface="Microsoft JhengHei" panose="020B0604030504040204" pitchFamily="34" charset="-120"/>
                          <a:cs typeface="Times New Roman" panose="02020603050405020304" pitchFamily="18" charset="0"/>
                        </a:rPr>
                        <a:t>MB068(</a:t>
                      </a:r>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製程代碼</a:t>
                      </a:r>
                      <a:r>
                        <a:rPr lang="en-US" dirty="0">
                          <a:latin typeface="Times New Roman" panose="02020603050405020304" pitchFamily="18" charset="0"/>
                          <a:ea typeface="Microsoft JhengHei" panose="020B0604030504040204" pitchFamily="34" charset="-120"/>
                          <a:cs typeface="Times New Roman" panose="02020603050405020304" pitchFamily="18" charset="0"/>
                        </a:rPr>
                        <a:t>)</a:t>
                      </a:r>
                    </a:p>
                  </a:txBody>
                  <a:tcPr/>
                </a:tc>
                <a:tc>
                  <a:txBody>
                    <a:bodyPr/>
                    <a:lstStyle/>
                    <a:p>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製程代碼 </a:t>
                      </a:r>
                      <a:r>
                        <a:rPr lang="vi-VN" dirty="0">
                          <a:latin typeface="Times New Roman" panose="02020603050405020304" pitchFamily="18" charset="0"/>
                          <a:ea typeface="Microsoft JhengHei" panose="020B0604030504040204" pitchFamily="34" charset="-120"/>
                          <a:cs typeface="Times New Roman" panose="02020603050405020304" pitchFamily="18" charset="0"/>
                        </a:rPr>
                        <a:t>(</a:t>
                      </a:r>
                      <a:r>
                        <a:rPr lang="zh-TW" altLang="en-US" dirty="0">
                          <a:latin typeface="Times New Roman" panose="02020603050405020304" pitchFamily="18" charset="0"/>
                          <a:ea typeface="Microsoft JhengHei" panose="020B0604030504040204" pitchFamily="34" charset="-120"/>
                          <a:cs typeface="Times New Roman" panose="02020603050405020304" pitchFamily="18" charset="0"/>
                        </a:rPr>
                        <a:t>無法依清單進行選擇</a:t>
                      </a:r>
                      <a:r>
                        <a:rPr lang="vi-VN" dirty="0">
                          <a:latin typeface="Times New Roman" panose="02020603050405020304" pitchFamily="18" charset="0"/>
                          <a:ea typeface="Microsoft JhengHei" panose="020B0604030504040204" pitchFamily="34" charset="-120"/>
                          <a:cs typeface="Times New Roman" panose="02020603050405020304" pitchFamily="18" charset="0"/>
                        </a:rPr>
                        <a:t>)</a:t>
                      </a:r>
                      <a:endParaRPr lang="en-US"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tc>
                <a:extLst>
                  <a:ext uri="{0D108BD9-81ED-4DB2-BD59-A6C34878D82A}">
                    <a16:rowId xmlns:a16="http://schemas.microsoft.com/office/drawing/2014/main" val="3036031676"/>
                  </a:ext>
                </a:extLst>
              </a:tr>
              <a:tr h="370840">
                <a:tc>
                  <a:txBody>
                    <a:bodyPr/>
                    <a:lstStyle/>
                    <a:p>
                      <a:r>
                        <a:rPr lang="en-US" dirty="0">
                          <a:latin typeface="Times New Roman" panose="02020603050405020304" pitchFamily="18" charset="0"/>
                          <a:ea typeface="Microsoft JhengHei" panose="020B0604030504040204" pitchFamily="34" charset="-120"/>
                          <a:cs typeface="Times New Roman" panose="02020603050405020304" pitchFamily="18" charset="0"/>
                        </a:rPr>
                        <a:t>MB025(</a:t>
                      </a:r>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產品屬性</a:t>
                      </a:r>
                      <a:r>
                        <a:rPr lang="en-US" dirty="0">
                          <a:latin typeface="Times New Roman" panose="02020603050405020304" pitchFamily="18" charset="0"/>
                          <a:ea typeface="Microsoft JhengHei" panose="020B0604030504040204" pitchFamily="34" charset="-120"/>
                          <a:cs typeface="Times New Roman" panose="02020603050405020304" pitchFamily="18" charset="0"/>
                        </a:rPr>
                        <a:t>)</a:t>
                      </a:r>
                    </a:p>
                  </a:txBody>
                  <a:tcPr/>
                </a:tc>
                <a:tc>
                  <a:txBody>
                    <a:bodyPr/>
                    <a:lstStyle/>
                    <a:p>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自製</a:t>
                      </a:r>
                      <a:r>
                        <a:rPr lang="en-US" dirty="0">
                          <a:latin typeface="Times New Roman" panose="02020603050405020304" pitchFamily="18" charset="0"/>
                          <a:ea typeface="Microsoft JhengHei" panose="020B0604030504040204" pitchFamily="34" charset="-120"/>
                          <a:cs typeface="Times New Roman" panose="02020603050405020304" pitchFamily="18" charset="0"/>
                        </a:rPr>
                        <a:t>/</a:t>
                      </a:r>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外購 </a:t>
                      </a:r>
                      <a:r>
                        <a:rPr lang="en-US" dirty="0">
                          <a:latin typeface="Times New Roman" panose="02020603050405020304" pitchFamily="18" charset="0"/>
                          <a:ea typeface="Microsoft JhengHei" panose="020B0604030504040204" pitchFamily="34" charset="-120"/>
                          <a:cs typeface="Times New Roman" panose="02020603050405020304" pitchFamily="18" charset="0"/>
                        </a:rPr>
                        <a:t>(P/M/S/Y/F)</a:t>
                      </a:r>
                    </a:p>
                  </a:txBody>
                  <a:tcPr/>
                </a:tc>
                <a:extLst>
                  <a:ext uri="{0D108BD9-81ED-4DB2-BD59-A6C34878D82A}">
                    <a16:rowId xmlns:a16="http://schemas.microsoft.com/office/drawing/2014/main" val="2409234316"/>
                  </a:ext>
                </a:extLst>
              </a:tr>
              <a:tr h="370840">
                <a:tc>
                  <a:txBody>
                    <a:bodyPr/>
                    <a:lstStyle/>
                    <a:p>
                      <a:r>
                        <a:rPr lang="en-US" dirty="0">
                          <a:latin typeface="Times New Roman" panose="02020603050405020304" pitchFamily="18" charset="0"/>
                          <a:ea typeface="Microsoft JhengHei" panose="020B0604030504040204" pitchFamily="34" charset="-120"/>
                          <a:cs typeface="Times New Roman" panose="02020603050405020304" pitchFamily="18" charset="0"/>
                        </a:rPr>
                        <a:t>MB028(</a:t>
                      </a:r>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備註</a:t>
                      </a:r>
                      <a:r>
                        <a:rPr lang="en-US" dirty="0">
                          <a:latin typeface="Times New Roman" panose="02020603050405020304" pitchFamily="18" charset="0"/>
                          <a:ea typeface="Microsoft JhengHei" panose="020B0604030504040204" pitchFamily="34" charset="-120"/>
                          <a:cs typeface="Times New Roman" panose="02020603050405020304" pitchFamily="18" charset="0"/>
                        </a:rPr>
                        <a:t>)	</a:t>
                      </a:r>
                    </a:p>
                  </a:txBody>
                  <a:tcPr/>
                </a:tc>
                <a:tc>
                  <a:txBody>
                    <a:bodyPr/>
                    <a:lstStyle/>
                    <a:p>
                      <a:r>
                        <a:rPr lang="zh-CN" altLang="en-US" dirty="0">
                          <a:latin typeface="Times New Roman" panose="02020603050405020304" pitchFamily="18" charset="0"/>
                          <a:ea typeface="Microsoft JhengHei" panose="020B0604030504040204" pitchFamily="34" charset="-120"/>
                          <a:cs typeface="Times New Roman" panose="02020603050405020304" pitchFamily="18" charset="0"/>
                        </a:rPr>
                        <a:t>產品說明</a:t>
                      </a:r>
                      <a:endParaRPr lang="en-US" dirty="0">
                        <a:latin typeface="Times New Roman" panose="02020603050405020304" pitchFamily="18" charset="0"/>
                        <a:ea typeface="Microsoft JhengHei" panose="020B0604030504040204" pitchFamily="34" charset="-120"/>
                        <a:cs typeface="Times New Roman" panose="02020603050405020304" pitchFamily="18" charset="0"/>
                      </a:endParaRPr>
                    </a:p>
                  </a:txBody>
                  <a:tcPr/>
                </a:tc>
                <a:extLst>
                  <a:ext uri="{0D108BD9-81ED-4DB2-BD59-A6C34878D82A}">
                    <a16:rowId xmlns:a16="http://schemas.microsoft.com/office/drawing/2014/main" val="817571400"/>
                  </a:ext>
                </a:extLst>
              </a:tr>
            </a:tbl>
          </a:graphicData>
        </a:graphic>
      </p:graphicFrame>
    </p:spTree>
    <p:extLst>
      <p:ext uri="{BB962C8B-B14F-4D97-AF65-F5344CB8AC3E}">
        <p14:creationId xmlns:p14="http://schemas.microsoft.com/office/powerpoint/2010/main" val="36432978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d157257-a3bf-4ff5-a465-4e2defe95989">
      <Terms xmlns="http://schemas.microsoft.com/office/infopath/2007/PartnerControls"/>
    </lcf76f155ced4ddcb4097134ff3c332f>
    <TaxCatchAll xmlns="5fe9d9f8-cc4e-4bb2-9b11-9758b481ddc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3BE9727992A24479AC7469DEEDEA94C" ma:contentTypeVersion="18" ma:contentTypeDescription="Create a new document." ma:contentTypeScope="" ma:versionID="61955638a51c6b5b28075ae19238329a">
  <xsd:schema xmlns:xsd="http://www.w3.org/2001/XMLSchema" xmlns:xs="http://www.w3.org/2001/XMLSchema" xmlns:p="http://schemas.microsoft.com/office/2006/metadata/properties" xmlns:ns2="9d157257-a3bf-4ff5-a465-4e2defe95989" xmlns:ns3="5fe9d9f8-cc4e-4bb2-9b11-9758b481ddc1" targetNamespace="http://schemas.microsoft.com/office/2006/metadata/properties" ma:root="true" ma:fieldsID="83e78d16efe5b900a8ad9ecb685341f9" ns2:_="" ns3:_="">
    <xsd:import namespace="9d157257-a3bf-4ff5-a465-4e2defe95989"/>
    <xsd:import namespace="5fe9d9f8-cc4e-4bb2-9b11-9758b481ddc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157257-a3bf-4ff5-a465-4e2defe95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f4cab4e9-b41f-4aee-96b1-c1b3b1261b9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fe9d9f8-cc4e-4bb2-9b11-9758b481ddc1"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4bd9be1-660a-4bc7-baff-f2d1738c4dfe}" ma:internalName="TaxCatchAll" ma:showField="CatchAllData" ma:web="5fe9d9f8-cc4e-4bb2-9b11-9758b481ddc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A1B6E6-DB4D-447A-A62B-ECFD8D7F5B06}">
  <ds:schemaRefs>
    <ds:schemaRef ds:uri="http://schemas.microsoft.com/office/2006/metadata/properties"/>
    <ds:schemaRef ds:uri="http://www.w3.org/XML/1998/namespace"/>
    <ds:schemaRef ds:uri="http://schemas.microsoft.com/office/2006/documentManagement/types"/>
    <ds:schemaRef ds:uri="http://purl.org/dc/dcmitype/"/>
    <ds:schemaRef ds:uri="9d157257-a3bf-4ff5-a465-4e2defe95989"/>
    <ds:schemaRef ds:uri="http://purl.org/dc/elements/1.1/"/>
    <ds:schemaRef ds:uri="http://purl.org/dc/terms/"/>
    <ds:schemaRef ds:uri="http://schemas.microsoft.com/office/infopath/2007/PartnerControls"/>
    <ds:schemaRef ds:uri="http://schemas.openxmlformats.org/package/2006/metadata/core-properties"/>
    <ds:schemaRef ds:uri="5fe9d9f8-cc4e-4bb2-9b11-9758b481ddc1"/>
  </ds:schemaRefs>
</ds:datastoreItem>
</file>

<file path=customXml/itemProps2.xml><?xml version="1.0" encoding="utf-8"?>
<ds:datastoreItem xmlns:ds="http://schemas.openxmlformats.org/officeDocument/2006/customXml" ds:itemID="{88A8293E-3464-4F92-8F98-F5E93319AD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d157257-a3bf-4ff5-a465-4e2defe95989"/>
    <ds:schemaRef ds:uri="5fe9d9f8-cc4e-4bb2-9b11-9758b481dd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E39E95-2672-4702-9B71-D7310F408EF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3782</TotalTime>
  <Words>1225</Words>
  <Application>Microsoft Office PowerPoint</Application>
  <PresentationFormat>Widescreen</PresentationFormat>
  <Paragraphs>110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Microsoft JhengHei</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Hoang Dieu Linh</dc:creator>
  <cp:lastModifiedBy>VN26223</cp:lastModifiedBy>
  <cp:revision>529</cp:revision>
  <dcterms:created xsi:type="dcterms:W3CDTF">2025-09-08T03:05:00Z</dcterms:created>
  <dcterms:modified xsi:type="dcterms:W3CDTF">2026-02-03T03:14:36Z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714D2EF51C4F4F8C83E630E53B0102DC_12</vt:lpwstr>
  </property>
  <property fmtid="{D5CDD505-2E9C-101B-9397-08002B2CF9AE}" pid="3" name="KSOProductBuildVer">
    <vt:lpwstr>1033-12.2.0.21931</vt:lpwstr>
  </property>
  <property fmtid="{D5CDD505-2E9C-101B-9397-08002B2CF9AE}" pid="4" name="ContentTypeId">
    <vt:lpwstr>0x01010003BE9727992A24479AC7469DEEDEA94C</vt:lpwstr>
  </property>
</Properties>
</file>