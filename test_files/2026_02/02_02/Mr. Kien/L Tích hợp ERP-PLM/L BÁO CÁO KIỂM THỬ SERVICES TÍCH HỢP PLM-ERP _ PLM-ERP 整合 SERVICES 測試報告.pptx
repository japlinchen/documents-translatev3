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5"/>
  </p:notesMasterIdLst>
  <p:handoutMasterIdLst>
    <p:handoutMasterId r:id="rId46"/>
  </p:handoutMasterIdLst>
  <p:sldIdLst>
    <p:sldId id="256" r:id="rId5"/>
    <p:sldId id="258" r:id="rId6"/>
    <p:sldId id="320" r:id="rId7"/>
    <p:sldId id="257" r:id="rId8"/>
    <p:sldId id="279" r:id="rId9"/>
    <p:sldId id="259" r:id="rId10"/>
    <p:sldId id="280" r:id="rId11"/>
    <p:sldId id="267" r:id="rId12"/>
    <p:sldId id="281" r:id="rId13"/>
    <p:sldId id="294" r:id="rId14"/>
    <p:sldId id="301" r:id="rId15"/>
    <p:sldId id="295" r:id="rId16"/>
    <p:sldId id="302" r:id="rId17"/>
    <p:sldId id="272" r:id="rId18"/>
    <p:sldId id="287" r:id="rId19"/>
    <p:sldId id="274" r:id="rId20"/>
    <p:sldId id="288" r:id="rId21"/>
    <p:sldId id="273" r:id="rId22"/>
    <p:sldId id="289" r:id="rId23"/>
    <p:sldId id="275" r:id="rId24"/>
    <p:sldId id="290" r:id="rId25"/>
    <p:sldId id="296" r:id="rId26"/>
    <p:sldId id="303" r:id="rId27"/>
    <p:sldId id="297" r:id="rId28"/>
    <p:sldId id="321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26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ch Thi Hong Nga" initials="BTHN" lastIdx="1" clrIdx="0">
    <p:extLst>
      <p:ext uri="{19B8F6BF-5375-455C-9EA6-DF929625EA0E}">
        <p15:presenceInfo xmlns:p15="http://schemas.microsoft.com/office/powerpoint/2012/main" userId="Bach Thi Hong Ng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B050"/>
    <a:srgbClr val="E6E6E6"/>
    <a:srgbClr val="FFFFFF"/>
    <a:srgbClr val="B5B9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2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853D7B-0D53-4B3C-8760-2F59B0A80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F66384-6CED-462A-8A87-1896761C51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VPIC1 tuyển dụng 09/2025 (5 đang tuyển) : lương + reviews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8" t="13333" r="10959" b="32868"/>
          <a:stretch>
            <a:fillRect/>
          </a:stretch>
        </p:blipFill>
        <p:spPr bwMode="auto">
          <a:xfrm>
            <a:off x="123513" y="85060"/>
            <a:ext cx="1056701" cy="53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tile tx="0" ty="0" sx="81000" sy="86000" flip="x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64098" y="495132"/>
            <a:ext cx="84942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BÁO CÁO KIỂM THỬ SERVICES TÍCH HỢP PLM-ERP</a:t>
            </a:r>
          </a:p>
          <a:p>
            <a:pPr algn="ctr"/>
            <a:r>
              <a:rPr lang="en-US" sz="36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PLM-ERP </a:t>
            </a:r>
            <a:r>
              <a:rPr lang="zh-CN" altLang="en-US" sz="36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整合 </a:t>
            </a:r>
            <a:r>
              <a:rPr lang="en-US" altLang="zh-TW" sz="36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SERVICES </a:t>
            </a:r>
            <a:r>
              <a:rPr lang="zh-CN" altLang="en-US" sz="36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測試報告</a:t>
            </a:r>
            <a:endParaRPr lang="en-US" sz="36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1203504" y="205049"/>
            <a:ext cx="1566134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NỘI DUNG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197522" y="798296"/>
            <a:ext cx="8329417" cy="5541842"/>
            <a:chOff x="1197522" y="798296"/>
            <a:chExt cx="8329417" cy="5541842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2064762" y="798296"/>
              <a:ext cx="7456197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PHẠM VI KIỂM THỬ</a:t>
              </a:r>
            </a:p>
          </p:txBody>
        </p:sp>
        <p:sp>
          <p:nvSpPr>
            <p:cNvPr id="5" name="Octagon 4"/>
            <p:cNvSpPr/>
            <p:nvPr/>
          </p:nvSpPr>
          <p:spPr>
            <a:xfrm>
              <a:off x="1203504" y="798296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2058781" y="1760716"/>
              <a:ext cx="7456197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SƠ ĐỒ TỔNG QUAN PLM-ERP</a:t>
              </a:r>
              <a:b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</a:br>
              <a:endPara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Octagon 6"/>
            <p:cNvSpPr/>
            <p:nvPr/>
          </p:nvSpPr>
          <p:spPr>
            <a:xfrm>
              <a:off x="1197523" y="1760716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2052800" y="5601633"/>
              <a:ext cx="7456197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LUỒNG XỬ LÝ ECN QUA SERVICES</a:t>
              </a:r>
            </a:p>
          </p:txBody>
        </p:sp>
        <p:sp>
          <p:nvSpPr>
            <p:cNvPr id="9" name="Octagon 8"/>
            <p:cNvSpPr/>
            <p:nvPr/>
          </p:nvSpPr>
          <p:spPr>
            <a:xfrm>
              <a:off x="1197522" y="5601631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" name="Rectangle: Rounded Corners 9"/>
            <p:cNvSpPr/>
            <p:nvPr/>
          </p:nvSpPr>
          <p:spPr>
            <a:xfrm>
              <a:off x="2058780" y="2723136"/>
              <a:ext cx="7468159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KẾT QUẢ</a:t>
              </a:r>
            </a:p>
          </p:txBody>
        </p:sp>
        <p:sp>
          <p:nvSpPr>
            <p:cNvPr id="11" name="Octagon 10"/>
            <p:cNvSpPr/>
            <p:nvPr/>
          </p:nvSpPr>
          <p:spPr>
            <a:xfrm>
              <a:off x="1197523" y="2723136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" name="Rectangle: Rounded Corners 9"/>
            <p:cNvSpPr/>
            <p:nvPr/>
          </p:nvSpPr>
          <p:spPr>
            <a:xfrm>
              <a:off x="2052800" y="3682635"/>
              <a:ext cx="7473972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VẤN ĐỀ GẶP PHẢI</a:t>
              </a:r>
            </a:p>
          </p:txBody>
        </p:sp>
        <p:sp>
          <p:nvSpPr>
            <p:cNvPr id="14" name="Octagon 13"/>
            <p:cNvSpPr/>
            <p:nvPr/>
          </p:nvSpPr>
          <p:spPr>
            <a:xfrm>
              <a:off x="1197523" y="3682635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4</a:t>
              </a:r>
              <a:endPara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: Rounded Corners 9"/>
            <p:cNvSpPr/>
            <p:nvPr/>
          </p:nvSpPr>
          <p:spPr>
            <a:xfrm>
              <a:off x="2064763" y="4642134"/>
              <a:ext cx="7450216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20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THỜI GIAN THỰC HIỆN VÀ CHI TIẾT HƯỚNG GIẢI QUYẾT</a:t>
              </a:r>
              <a:endPara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Octagon 19"/>
            <p:cNvSpPr/>
            <p:nvPr/>
          </p:nvSpPr>
          <p:spPr>
            <a:xfrm>
              <a:off x="1209485" y="4642133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5</a:t>
              </a:r>
              <a:endPara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97522" y="798296"/>
            <a:ext cx="8329417" cy="5541842"/>
            <a:chOff x="1197522" y="798296"/>
            <a:chExt cx="8329417" cy="5541842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2064762" y="798296"/>
              <a:ext cx="7456197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測試範圍</a:t>
              </a:r>
              <a:endPara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" name="Octagon 4"/>
            <p:cNvSpPr/>
            <p:nvPr/>
          </p:nvSpPr>
          <p:spPr>
            <a:xfrm>
              <a:off x="1203504" y="798296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2058781" y="1760716"/>
              <a:ext cx="7456197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b="1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PLM-ERP </a:t>
              </a:r>
              <a:r>
                <a:rPr lang="zh-TW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連接系統整體架構圖</a:t>
              </a:r>
              <a:endPara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Octagon 6"/>
            <p:cNvSpPr/>
            <p:nvPr/>
          </p:nvSpPr>
          <p:spPr>
            <a:xfrm>
              <a:off x="1197523" y="1760716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2052800" y="5601633"/>
              <a:ext cx="7456197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b="1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 </a:t>
              </a:r>
              <a:r>
                <a:rPr lang="zh-TW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透過 </a:t>
              </a:r>
              <a:r>
                <a:rPr lang="en-US" altLang="zh-TW" sz="2000" b="1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SERVICES </a:t>
              </a:r>
              <a:r>
                <a:rPr lang="zh-TW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的處理流程</a:t>
              </a:r>
              <a:endPara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Octagon 8"/>
            <p:cNvSpPr/>
            <p:nvPr/>
          </p:nvSpPr>
          <p:spPr>
            <a:xfrm>
              <a:off x="1197522" y="5601631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" name="Rectangle: Rounded Corners 9"/>
            <p:cNvSpPr/>
            <p:nvPr/>
          </p:nvSpPr>
          <p:spPr>
            <a:xfrm>
              <a:off x="2058780" y="2723136"/>
              <a:ext cx="7468159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結果</a:t>
              </a:r>
              <a:endPara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Octagon 10"/>
            <p:cNvSpPr/>
            <p:nvPr/>
          </p:nvSpPr>
          <p:spPr>
            <a:xfrm>
              <a:off x="1197523" y="2723136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" name="Rectangle: Rounded Corners 9"/>
            <p:cNvSpPr/>
            <p:nvPr/>
          </p:nvSpPr>
          <p:spPr>
            <a:xfrm>
              <a:off x="2052800" y="3682635"/>
              <a:ext cx="7473972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遇到的問題</a:t>
              </a:r>
              <a:endPara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Octagon 13"/>
            <p:cNvSpPr/>
            <p:nvPr/>
          </p:nvSpPr>
          <p:spPr>
            <a:xfrm>
              <a:off x="1197523" y="3682635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4</a:t>
              </a:r>
              <a:endPara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: Rounded Corners 9"/>
            <p:cNvSpPr/>
            <p:nvPr/>
          </p:nvSpPr>
          <p:spPr>
            <a:xfrm>
              <a:off x="2064763" y="4642134"/>
              <a:ext cx="7450216" cy="73850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執行時間以及解決方向說明</a:t>
              </a:r>
              <a:endPara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Octagon 19"/>
            <p:cNvSpPr/>
            <p:nvPr/>
          </p:nvSpPr>
          <p:spPr>
            <a:xfrm>
              <a:off x="1209485" y="4642133"/>
              <a:ext cx="777291" cy="738505"/>
            </a:xfrm>
            <a:prstGeom prst="octagon">
              <a:avLst/>
            </a:prstGeom>
            <a:solidFill>
              <a:srgbClr val="85CA3A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5</a:t>
              </a:r>
              <a:endPara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 0"/>
          <p:cNvSpPr/>
          <p:nvPr/>
        </p:nvSpPr>
        <p:spPr>
          <a:xfrm>
            <a:off x="1197522" y="205049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內容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913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94783" y="1004491"/>
            <a:ext cx="106750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vi-VN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Xác nhận luồng ECN sau khi ký duyệt trên PLM được tự động đồng bộ sang ERP, không cần thao tác thủ công.</a:t>
            </a:r>
            <a:endParaRPr lang="en-US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vi-VN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Kiểm chứng tính chính xác và đồng bộ dữ liệu BOM giữa PLM và ERP (cập nhật đúng chương trình/bảng BOM trên ERP).</a:t>
            </a:r>
            <a:endParaRPr lang="en-US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3. </a:t>
            </a:r>
            <a:r>
              <a:rPr lang="en-US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Đảm bảo dữ liệu BOM trên ERP phản ánh đúng nội dung thay đổi BOM trên phiếu ECN của PLM.</a:t>
            </a:r>
          </a:p>
          <a:p>
            <a:pPr indent="0" algn="just">
              <a:lnSpc>
                <a:spcPct val="2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4. </a:t>
            </a:r>
            <a:r>
              <a:rPr lang="vi-VN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Đánh giá cơ chế xử lý kỹ thuật: kiểm soát trạng thái ECN và ghi nhận/phân loại lỗi theo từng bước </a:t>
            </a:r>
            <a:r>
              <a:rPr lang="vi-VN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đồng bộ</a:t>
            </a:r>
            <a:endParaRPr lang="en-US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Text 0"/>
          <p:cNvSpPr/>
          <p:nvPr/>
        </p:nvSpPr>
        <p:spPr>
          <a:xfrm>
            <a:off x="1238832" y="171809"/>
            <a:ext cx="3464924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MỤC ĐÍCH THỰC HIỆN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31359" y="1077643"/>
            <a:ext cx="106750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AutoNum type="arabicPeriod"/>
            </a:pP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確認 </a:t>
            </a:r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流程在 </a:t>
            </a:r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上完成簽核能自動同步至 </a:t>
            </a:r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，不用手動操作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AutoNum type="arabicPeriod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驗證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與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之間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資料的正確性與一致性（確保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上的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表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程式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已正確更新）。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AutoNum type="arabicPeriod"/>
            </a:pP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確保 </a:t>
            </a:r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上的 </a:t>
            </a:r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資料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能正確反映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之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工程變動通知單上的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變更內容。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AutoNum type="arabicPeriod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評估技術處理機制：控管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狀態，並於各同步步驟中記錄與分類錯</a:t>
            </a: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誤。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Text 0"/>
          <p:cNvSpPr/>
          <p:nvPr/>
        </p:nvSpPr>
        <p:spPr>
          <a:xfrm>
            <a:off x="1202802" y="211564"/>
            <a:ext cx="1231106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實施目的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84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9995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1. PHẠM VI KIỂM THỬ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23807" y="1389442"/>
            <a:ext cx="10348053" cy="3306941"/>
            <a:chOff x="677065" y="765328"/>
            <a:chExt cx="10348053" cy="3306941"/>
          </a:xfrm>
        </p:grpSpPr>
        <p:sp>
          <p:nvSpPr>
            <p:cNvPr id="11" name="Rectangle 10"/>
            <p:cNvSpPr/>
            <p:nvPr/>
          </p:nvSpPr>
          <p:spPr>
            <a:xfrm>
              <a:off x="677065" y="765328"/>
              <a:ext cx="10348053" cy="330694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/>
            <p:cNvSpPr/>
            <p:nvPr>
              <p:custDataLst>
                <p:tags r:id="rId1"/>
              </p:custDataLst>
            </p:nvPr>
          </p:nvSpPr>
          <p:spPr>
            <a:xfrm>
              <a:off x="677065" y="895304"/>
              <a:ext cx="10348053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Phạm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vi kiểm thử hiện tại tập trung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nghiệp vụ ECN thay đổi BOM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bao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gồm: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 thống PLM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ECN thay đổi BOM sau khi được ký duyệt (Released)</a:t>
              </a:r>
              <a:endParaRPr lang="en-US" sz="1600" dirty="0"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 thống ERP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vi-VN" sz="1600" dirty="0">
                  <a:latin typeface="Times New Roman" panose="02020603050405020304" pitchFamily="18" charset="0"/>
                  <a:ea typeface="Noto Sans" pitchFamily="34" charset="-122"/>
                  <a:cs typeface="Times New Roman" panose="02020603050405020304" pitchFamily="18" charset="0"/>
                </a:rPr>
                <a:t> </a:t>
              </a: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 bộ dữ liệu BOM vào </a:t>
              </a:r>
              <a:r>
                <a:rPr lang="vi-V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chương trình BOMI04 (BOMTA, BOMTB, BOMTC)</a:t>
              </a: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và </a:t>
              </a:r>
              <a:r>
                <a:rPr lang="vi-V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chương trình BOMI02 (BOMMC, BOMMD)</a:t>
              </a: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1600" dirty="0"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Nội dung kiểm thử: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 bộ dữ liệu BOM từ PLM sang ERP thông qua các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bảng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trung gian.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 tra việc cập nhật dữ liệu vào đúng chương trình và bảng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 </a:t>
              </a: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 ERP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soát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trạng thái và xử lý lỗi trong quá trình truyền dữ liệu.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9995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測試範圍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923807" y="1389442"/>
            <a:ext cx="10348053" cy="3306941"/>
            <a:chOff x="677065" y="765328"/>
            <a:chExt cx="10348053" cy="3306941"/>
          </a:xfrm>
        </p:grpSpPr>
        <p:sp>
          <p:nvSpPr>
            <p:cNvPr id="11" name="Rectangle 10"/>
            <p:cNvSpPr/>
            <p:nvPr/>
          </p:nvSpPr>
          <p:spPr>
            <a:xfrm>
              <a:off x="677065" y="765328"/>
              <a:ext cx="10348053" cy="330694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/>
            <p:cNvSpPr/>
            <p:nvPr>
              <p:custDataLst>
                <p:tags r:id="rId1"/>
              </p:custDataLst>
            </p:nvPr>
          </p:nvSpPr>
          <p:spPr>
            <a:xfrm>
              <a:off x="677065" y="895304"/>
              <a:ext cx="10348053" cy="30080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目前的測試範圍聚焦於 </a:t>
              </a:r>
              <a:r>
                <a:rPr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之 </a:t>
              </a:r>
              <a:r>
                <a:rPr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變更業務，包含：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zh-CN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PLM </a:t>
              </a:r>
              <a:r>
                <a:rPr lang="zh-CN" altLang="en-US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系統</a:t>
              </a:r>
              <a:r>
                <a: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: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已完成簽核並處於 </a:t>
              </a:r>
              <a:r>
                <a: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Released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狀態之 </a:t>
              </a:r>
              <a:r>
                <a: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 BOM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變更。</a:t>
              </a:r>
              <a:endPara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ER</a:t>
              </a:r>
              <a:r>
                <a:rPr lang="en-US" altLang="zh-CN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P </a:t>
              </a:r>
              <a:r>
                <a:rPr lang="zh-CN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系統</a:t>
              </a:r>
              <a:r>
                <a: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: </a:t>
              </a:r>
              <a:r>
                <a:rPr lang="vi-VN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將 </a:t>
              </a:r>
              <a:r>
                <a:rPr lang="vi-VN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 </a:t>
              </a:r>
              <a:r>
                <a:rPr lang="zh-CN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資料同步 </a:t>
              </a:r>
              <a:r>
                <a:rPr lang="vi-VN" sz="1600" b="1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BOMI04 (BOMTA, BOMTB, BOMTC)</a:t>
              </a:r>
              <a:r>
                <a:rPr lang="vi-VN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以及 </a:t>
              </a:r>
              <a:r>
                <a:rPr lang="vi-VN" sz="1600" b="1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BOMI02 (BOMMC, BOMMD)</a:t>
              </a:r>
              <a:r>
                <a:rPr lang="en-US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zh-CN" altLang="en-US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程式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zh-CN" altLang="en-US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測試內容</a:t>
              </a:r>
              <a:r>
                <a:rPr lang="en-US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: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zh-CN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通過各中介表將 </a:t>
              </a:r>
              <a:r>
                <a:rPr lang="en-US" altLang="zh-CN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PLM </a:t>
              </a:r>
              <a:r>
                <a:rPr lang="zh-CN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上的 </a:t>
              </a:r>
              <a:r>
                <a:rPr lang="en-US" altLang="zh-CN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 </a:t>
              </a:r>
              <a:r>
                <a:rPr lang="zh-CN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資料同步至 </a:t>
              </a:r>
              <a:r>
                <a:rPr lang="en-US" altLang="zh-CN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ERP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檢查資料是否正確更新至 </a:t>
              </a:r>
              <a:r>
                <a:rPr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ERP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中對應的程式與 </a:t>
              </a:r>
              <a:r>
                <a:rPr lang="en-US" altLang="zh-CN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SQL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表。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zh-CN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管控資料拋轉過程的狀態並處理故障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0070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2696" y="131676"/>
            <a:ext cx="10462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2. SƠ ĐỒ TỔNG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QUAN KẾT NỐI PLM-ERP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25453" y="890229"/>
            <a:ext cx="11389581" cy="5985316"/>
            <a:chOff x="415725" y="1125665"/>
            <a:chExt cx="11389581" cy="5985316"/>
          </a:xfrm>
        </p:grpSpPr>
        <p:pic>
          <p:nvPicPr>
            <p:cNvPr id="6" name="Picture 5" descr="Hình ảnh User Icon PNG, Vector, PSD, và biểu tượng để tải về miễn phí ...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 flipV="1">
              <a:off x="415725" y="2469516"/>
              <a:ext cx="1053236" cy="1053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Aras Innovator® | カコムス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3639" y="2415573"/>
              <a:ext cx="2064217" cy="1161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Straight Arrow Connector 9"/>
            <p:cNvCxnSpPr>
              <a:stCxn id="6" idx="3"/>
              <a:endCxn id="9" idx="1"/>
            </p:cNvCxnSpPr>
            <p:nvPr/>
          </p:nvCxnSpPr>
          <p:spPr>
            <a:xfrm>
              <a:off x="1468961" y="2996134"/>
              <a:ext cx="914678" cy="0"/>
            </a:xfrm>
            <a:prstGeom prst="straightConnector1">
              <a:avLst/>
            </a:prstGeom>
            <a:ln w="381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1" name="Flowchart: Magnetic Disk 10"/>
            <p:cNvSpPr/>
            <p:nvPr/>
          </p:nvSpPr>
          <p:spPr>
            <a:xfrm>
              <a:off x="5818098" y="1125665"/>
              <a:ext cx="1555825" cy="156210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Middleware Database</a:t>
              </a:r>
              <a:endPara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Arrow Connector 11"/>
            <p:cNvCxnSpPr>
              <a:stCxn id="9" idx="3"/>
              <a:endCxn id="11" idx="2"/>
            </p:cNvCxnSpPr>
            <p:nvPr/>
          </p:nvCxnSpPr>
          <p:spPr>
            <a:xfrm flipV="1">
              <a:off x="4447856" y="1906715"/>
              <a:ext cx="1370242" cy="1089419"/>
            </a:xfrm>
            <a:prstGeom prst="straightConnector1">
              <a:avLst/>
            </a:prstGeom>
            <a:ln w="381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27"/>
            <p:cNvSpPr txBox="1"/>
            <p:nvPr/>
          </p:nvSpPr>
          <p:spPr>
            <a:xfrm rot="19315666">
              <a:off x="4226231" y="2190313"/>
              <a:ext cx="13051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Tiêu đề phiếu ECN</a:t>
              </a:r>
            </a:p>
          </p:txBody>
        </p:sp>
        <p:sp>
          <p:nvSpPr>
            <p:cNvPr id="14" name="TextBox 80"/>
            <p:cNvSpPr txBox="1"/>
            <p:nvPr/>
          </p:nvSpPr>
          <p:spPr>
            <a:xfrm rot="2051292">
              <a:off x="3747936" y="4184262"/>
              <a:ext cx="28852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Lấy dữ liệu thay đổi hoặc thêm mới NVL trên BOM</a:t>
              </a: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68694" y="3889082"/>
              <a:ext cx="1736612" cy="1815040"/>
            </a:xfrm>
            <a:prstGeom prst="rect">
              <a:avLst/>
            </a:prstGeom>
          </p:spPr>
        </p:pic>
        <p:cxnSp>
          <p:nvCxnSpPr>
            <p:cNvPr id="16" name="Straight Arrow Connector 15"/>
            <p:cNvCxnSpPr/>
            <p:nvPr/>
          </p:nvCxnSpPr>
          <p:spPr>
            <a:xfrm>
              <a:off x="8107391" y="4796602"/>
              <a:ext cx="1794109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6732734" y="2826587"/>
              <a:ext cx="325079" cy="134326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83"/>
            <p:cNvSpPr txBox="1"/>
            <p:nvPr/>
          </p:nvSpPr>
          <p:spPr>
            <a:xfrm>
              <a:off x="8274585" y="4422820"/>
              <a:ext cx="13051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 dữ liệu ERP</a:t>
              </a:r>
            </a:p>
          </p:txBody>
        </p:sp>
        <p:sp>
          <p:nvSpPr>
            <p:cNvPr id="19" name="TextBox 84"/>
            <p:cNvSpPr txBox="1"/>
            <p:nvPr/>
          </p:nvSpPr>
          <p:spPr>
            <a:xfrm>
              <a:off x="8099983" y="5158264"/>
              <a:ext cx="19139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Lấy dữ liệu </a:t>
              </a:r>
              <a:r>
                <a:rPr lang="en-US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bảng</a:t>
              </a:r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INVMB, BOMMC, BOMMD bên ERP để hoàn thiện các </a:t>
              </a:r>
              <a:r>
                <a:rPr lang="en-US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bảng</a:t>
              </a:r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INVTL, INVTM, BOMTA, BOMTB,BOMTC của bản trung gian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H="1" flipV="1">
              <a:off x="6462422" y="2841949"/>
              <a:ext cx="333011" cy="13432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8107391" y="5030702"/>
              <a:ext cx="1794109" cy="2049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20" idx="2"/>
            </p:cNvCxnSpPr>
            <p:nvPr/>
          </p:nvCxnSpPr>
          <p:spPr>
            <a:xfrm flipH="1" flipV="1">
              <a:off x="4222772" y="3411835"/>
              <a:ext cx="2074455" cy="138476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5293190" y="4185218"/>
              <a:ext cx="3474720" cy="2925763"/>
              <a:chOff x="5293190" y="4185218"/>
              <a:chExt cx="3474720" cy="2925763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6297227" y="4339402"/>
                <a:ext cx="1697723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Services</a:t>
                </a: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5293190" y="6803204"/>
                <a:ext cx="3474720" cy="30777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Server: 192.168.20.7</a:t>
                </a:r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6269849" y="4185218"/>
                <a:ext cx="1752477" cy="2589984"/>
              </a:xfrm>
              <a:prstGeom prst="rect">
                <a:avLst/>
              </a:prstGeom>
              <a:noFill/>
              <a:ln w="38100">
                <a:solidFill>
                  <a:srgbClr val="B5B905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462" y="5160815"/>
            <a:ext cx="907541" cy="116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91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427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PLM-ERP </a:t>
            </a:r>
            <a:r>
              <a:rPr lang="zh-TW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連接系統整體架構圖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47514" y="1004966"/>
            <a:ext cx="11389581" cy="5853034"/>
            <a:chOff x="401210" y="1057223"/>
            <a:chExt cx="11389581" cy="5853034"/>
          </a:xfrm>
        </p:grpSpPr>
        <p:pic>
          <p:nvPicPr>
            <p:cNvPr id="6" name="Picture 5" descr="Hình ảnh User Icon PNG, Vector, PSD, và biểu tượng để tải về miễn phí ...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 flipV="1">
              <a:off x="401210" y="2401074"/>
              <a:ext cx="1053236" cy="1053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Aras Innovator® | カコムス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9124" y="2347131"/>
              <a:ext cx="2064217" cy="1161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Straight Arrow Connector 9"/>
            <p:cNvCxnSpPr>
              <a:stCxn id="6" idx="3"/>
              <a:endCxn id="9" idx="1"/>
            </p:cNvCxnSpPr>
            <p:nvPr/>
          </p:nvCxnSpPr>
          <p:spPr>
            <a:xfrm>
              <a:off x="1454446" y="2927692"/>
              <a:ext cx="914678" cy="0"/>
            </a:xfrm>
            <a:prstGeom prst="straightConnector1">
              <a:avLst/>
            </a:prstGeom>
            <a:ln w="381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1" name="Flowchart: Magnetic Disk 10"/>
            <p:cNvSpPr/>
            <p:nvPr/>
          </p:nvSpPr>
          <p:spPr>
            <a:xfrm>
              <a:off x="5803583" y="1057223"/>
              <a:ext cx="1555825" cy="156210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Middleware Database</a:t>
              </a:r>
              <a:endParaRPr 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cxnSp>
          <p:nvCxnSpPr>
            <p:cNvPr id="12" name="Straight Arrow Connector 11"/>
            <p:cNvCxnSpPr>
              <a:stCxn id="9" idx="3"/>
              <a:endCxn id="11" idx="2"/>
            </p:cNvCxnSpPr>
            <p:nvPr/>
          </p:nvCxnSpPr>
          <p:spPr>
            <a:xfrm flipV="1">
              <a:off x="4433341" y="1838273"/>
              <a:ext cx="1370242" cy="1089419"/>
            </a:xfrm>
            <a:prstGeom prst="straightConnector1">
              <a:avLst/>
            </a:prstGeom>
            <a:ln w="381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27"/>
            <p:cNvSpPr txBox="1"/>
            <p:nvPr/>
          </p:nvSpPr>
          <p:spPr>
            <a:xfrm rot="19315666">
              <a:off x="4211716" y="2121871"/>
              <a:ext cx="13051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 </a:t>
              </a:r>
              <a:r>
                <a:rPr lang="zh-CN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表單的標題</a:t>
              </a:r>
              <a:endParaRPr 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80"/>
            <p:cNvSpPr txBox="1"/>
            <p:nvPr/>
          </p:nvSpPr>
          <p:spPr>
            <a:xfrm rot="2051292">
              <a:off x="3733421" y="4115820"/>
              <a:ext cx="28852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TW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擷取 </a:t>
              </a:r>
              <a:r>
                <a:rPr 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 </a:t>
              </a:r>
              <a:r>
                <a:rPr lang="zh-TW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中變更或新增之原物料資料。</a:t>
              </a:r>
              <a:endParaRPr 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54179" y="3820640"/>
              <a:ext cx="1736612" cy="1815040"/>
            </a:xfrm>
            <a:prstGeom prst="rect">
              <a:avLst/>
            </a:prstGeom>
          </p:spPr>
        </p:pic>
        <p:cxnSp>
          <p:nvCxnSpPr>
            <p:cNvPr id="16" name="Straight Arrow Connector 15"/>
            <p:cNvCxnSpPr/>
            <p:nvPr/>
          </p:nvCxnSpPr>
          <p:spPr>
            <a:xfrm>
              <a:off x="8092876" y="4728160"/>
              <a:ext cx="1794109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6718219" y="2758145"/>
              <a:ext cx="325079" cy="134326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83"/>
            <p:cNvSpPr txBox="1"/>
            <p:nvPr/>
          </p:nvSpPr>
          <p:spPr>
            <a:xfrm>
              <a:off x="8260070" y="4354378"/>
              <a:ext cx="13051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拋轉至 </a:t>
              </a:r>
              <a:r>
                <a:rPr 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ERP</a:t>
              </a:r>
            </a:p>
          </p:txBody>
        </p:sp>
        <p:sp>
          <p:nvSpPr>
            <p:cNvPr id="19" name="TextBox 84"/>
            <p:cNvSpPr txBox="1"/>
            <p:nvPr/>
          </p:nvSpPr>
          <p:spPr>
            <a:xfrm>
              <a:off x="8158104" y="5089822"/>
              <a:ext cx="184132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TW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擷取 </a:t>
              </a:r>
              <a:r>
                <a:rPr 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ERP </a:t>
              </a:r>
              <a:r>
                <a:rPr lang="zh-CN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上</a:t>
              </a:r>
              <a:r>
                <a:rPr lang="zh-TW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之 </a:t>
              </a:r>
              <a:r>
                <a:rPr lang="en-US" altLang="zh-TW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INVMB, </a:t>
              </a:r>
              <a:r>
                <a:rPr 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BOMMC、BOMMD </a:t>
              </a:r>
              <a:r>
                <a:rPr lang="zh-TW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表資料，以完成</a:t>
              </a:r>
              <a:r>
                <a:rPr lang="zh-CN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中介表</a:t>
              </a:r>
              <a:r>
                <a:rPr lang="zh-TW" alt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之 </a:t>
              </a:r>
              <a:r>
                <a:rPr lang="en-US" altLang="zh-TW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INVTL, INVTM, </a:t>
              </a:r>
              <a:r>
                <a:rPr lang="en-US" sz="10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BOMTA、BOMTB、BOMTC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6282712" y="4270960"/>
              <a:ext cx="1697723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Services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H="1" flipV="1">
              <a:off x="6447907" y="2773507"/>
              <a:ext cx="333011" cy="13432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1E5EB0-68F6-4C99-9CB1-29AD439FA4FE}"/>
                </a:ext>
              </a:extLst>
            </p:cNvPr>
            <p:cNvSpPr txBox="1"/>
            <p:nvPr/>
          </p:nvSpPr>
          <p:spPr>
            <a:xfrm>
              <a:off x="5294736" y="6602480"/>
              <a:ext cx="3497123" cy="30777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Server: 192.168.20.7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0FE652-BA13-410E-850D-F4D8943FF189}"/>
                </a:ext>
              </a:extLst>
            </p:cNvPr>
            <p:cNvSpPr/>
            <p:nvPr/>
          </p:nvSpPr>
          <p:spPr>
            <a:xfrm>
              <a:off x="6244994" y="4180214"/>
              <a:ext cx="1752477" cy="2309110"/>
            </a:xfrm>
            <a:prstGeom prst="rect">
              <a:avLst/>
            </a:prstGeom>
            <a:noFill/>
            <a:ln w="38100">
              <a:solidFill>
                <a:srgbClr val="B5B905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75591" y="5368724"/>
              <a:ext cx="907541" cy="1165743"/>
            </a:xfrm>
            <a:prstGeom prst="rect">
              <a:avLst/>
            </a:prstGeom>
          </p:spPr>
        </p:pic>
      </p:grpSp>
      <p:cxnSp>
        <p:nvCxnSpPr>
          <p:cNvPr id="27" name="Straight Arrow Connector 26"/>
          <p:cNvCxnSpPr>
            <a:stCxn id="20" idx="2"/>
          </p:cNvCxnSpPr>
          <p:nvPr/>
        </p:nvCxnSpPr>
        <p:spPr>
          <a:xfrm flipH="1" flipV="1">
            <a:off x="4289661" y="3240244"/>
            <a:ext cx="2139355" cy="14356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8239180" y="4925568"/>
            <a:ext cx="179410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59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310806"/>
              </p:ext>
            </p:extLst>
          </p:nvPr>
        </p:nvGraphicFramePr>
        <p:xfrm>
          <a:off x="368299" y="1031359"/>
          <a:ext cx="11019171" cy="573094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80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273"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 liệu trước khi ECN </a:t>
                      </a:r>
                      <a:r>
                        <a:rPr lang="vi-V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Released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77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PLM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898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ERP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772" y="1540029"/>
            <a:ext cx="5590333" cy="24231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19849" y="3246374"/>
            <a:ext cx="1743456" cy="463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97550" y="2541809"/>
            <a:ext cx="1371095" cy="235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97551" y="2300701"/>
            <a:ext cx="1371095" cy="235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7163305" y="4091766"/>
            <a:ext cx="3540732" cy="2587756"/>
            <a:chOff x="6794501" y="4068870"/>
            <a:chExt cx="3540732" cy="258775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4501" y="4068870"/>
              <a:ext cx="3540732" cy="2587756"/>
            </a:xfrm>
            <a:prstGeom prst="rect">
              <a:avLst/>
            </a:prstGeom>
          </p:spPr>
        </p:pic>
        <p:sp>
          <p:nvSpPr>
            <p:cNvPr id="28" name="Rectangle 27"/>
            <p:cNvSpPr/>
            <p:nvPr/>
          </p:nvSpPr>
          <p:spPr>
            <a:xfrm>
              <a:off x="8400793" y="4876800"/>
              <a:ext cx="1162544" cy="2072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944403" y="4163065"/>
            <a:ext cx="3594711" cy="2516458"/>
            <a:chOff x="2506772" y="4089488"/>
            <a:chExt cx="3594711" cy="2653053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06772" y="4089488"/>
              <a:ext cx="3594711" cy="2653053"/>
            </a:xfrm>
            <a:prstGeom prst="rect">
              <a:avLst/>
            </a:prstGeom>
          </p:spPr>
        </p:pic>
        <p:sp>
          <p:nvSpPr>
            <p:cNvPr id="29" name="Rectangle 28"/>
            <p:cNvSpPr/>
            <p:nvPr/>
          </p:nvSpPr>
          <p:spPr>
            <a:xfrm>
              <a:off x="2635008" y="4471859"/>
              <a:ext cx="1162544" cy="2072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674309" y="5632704"/>
              <a:ext cx="1105211" cy="1097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785" y="6295160"/>
            <a:ext cx="2314898" cy="304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051" y="4846574"/>
            <a:ext cx="1771897" cy="3429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450" y="6241404"/>
            <a:ext cx="1743318" cy="33342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182CC4B-839E-47D1-AB7A-F094F089A23C}"/>
              </a:ext>
            </a:extLst>
          </p:cNvPr>
          <p:cNvSpPr txBox="1"/>
          <p:nvPr/>
        </p:nvSpPr>
        <p:spPr>
          <a:xfrm>
            <a:off x="1276361" y="131676"/>
            <a:ext cx="10505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3. </a:t>
            </a:r>
            <a:r>
              <a:rPr lang="en-US" altLang="zh-TW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KẾT </a:t>
            </a:r>
            <a:r>
              <a:rPr lang="en-US" altLang="zh-TW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QUẢ -1</a:t>
            </a:r>
            <a:endParaRPr lang="en-US" altLang="zh-TW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7158" y="627684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Kết quả thay đổi INV </a:t>
            </a:r>
          </a:p>
        </p:txBody>
      </p:sp>
    </p:spTree>
    <p:extLst>
      <p:ext uri="{BB962C8B-B14F-4D97-AF65-F5344CB8AC3E}">
        <p14:creationId xmlns:p14="http://schemas.microsoft.com/office/powerpoint/2010/main" val="2647723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9647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結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果 </a:t>
            </a:r>
            <a:r>
              <a:rPr lang="en-US" altLang="zh-CN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-1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8299" y="646818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A. INV </a:t>
            </a:r>
            <a:r>
              <a:rPr lang="ja-JP" alt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變更的結果</a:t>
            </a:r>
            <a:endParaRPr lang="en-US" b="1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2948"/>
              </p:ext>
            </p:extLst>
          </p:nvPr>
        </p:nvGraphicFramePr>
        <p:xfrm>
          <a:off x="368299" y="1031359"/>
          <a:ext cx="11019171" cy="573094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80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273"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ECN Released </a:t>
                      </a:r>
                      <a:r>
                        <a:rPr lang="ja-JP" alt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之前的資料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77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PLM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898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ERP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02" y="1565355"/>
            <a:ext cx="5590333" cy="24231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419849" y="3246374"/>
            <a:ext cx="1743456" cy="463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97550" y="2541809"/>
            <a:ext cx="1371095" cy="235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797551" y="2300701"/>
            <a:ext cx="1371095" cy="235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7163305" y="4091766"/>
            <a:ext cx="3540732" cy="2587756"/>
            <a:chOff x="6794501" y="4068870"/>
            <a:chExt cx="3540732" cy="2587756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4501" y="4068870"/>
              <a:ext cx="3540732" cy="2587756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>
            <a:xfrm>
              <a:off x="8400793" y="4876800"/>
              <a:ext cx="1162544" cy="2072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944403" y="4163065"/>
            <a:ext cx="3594711" cy="2516458"/>
            <a:chOff x="2506772" y="4089488"/>
            <a:chExt cx="3594711" cy="2653053"/>
          </a:xfrm>
        </p:grpSpPr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06772" y="4089488"/>
              <a:ext cx="3594711" cy="2653053"/>
            </a:xfrm>
            <a:prstGeom prst="rect">
              <a:avLst/>
            </a:prstGeom>
          </p:spPr>
        </p:pic>
        <p:sp>
          <p:nvSpPr>
            <p:cNvPr id="35" name="Rectangle 34"/>
            <p:cNvSpPr/>
            <p:nvPr/>
          </p:nvSpPr>
          <p:spPr>
            <a:xfrm>
              <a:off x="2635008" y="4471859"/>
              <a:ext cx="1162544" cy="2072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674309" y="5632704"/>
              <a:ext cx="1105211" cy="1097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362" y="6263651"/>
            <a:ext cx="2314898" cy="304843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051" y="4846574"/>
            <a:ext cx="1771897" cy="342948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450" y="6241404"/>
            <a:ext cx="1743318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11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6191" y="91773"/>
            <a:ext cx="10141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KẾT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QUẢ -2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3986" y="501750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Kết quả thay đổi INV 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820496"/>
              </p:ext>
            </p:extLst>
          </p:nvPr>
        </p:nvGraphicFramePr>
        <p:xfrm>
          <a:off x="288950" y="845670"/>
          <a:ext cx="11019171" cy="581556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80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1378">
                  <a:extLst>
                    <a:ext uri="{9D8B030D-6E8A-4147-A177-3AD203B41FA5}">
                      <a16:colId xmlns:a16="http://schemas.microsoft.com/office/drawing/2014/main" val="1262617335"/>
                    </a:ext>
                  </a:extLst>
                </a:gridCol>
              </a:tblGrid>
              <a:tr h="377673"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 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 sau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khi ECN </a:t>
                      </a:r>
                      <a:r>
                        <a:rPr lang="vi-V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Released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982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PLM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79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ERP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INVI24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INV02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889">
                <a:tc vMerge="1">
                  <a:txBody>
                    <a:bodyPr/>
                    <a:lstStyle/>
                    <a:p>
                      <a:pPr algn="ctr"/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401555"/>
                  </a:ext>
                </a:extLst>
              </a:tr>
            </a:tbl>
          </a:graphicData>
        </a:graphic>
      </p:graphicFrame>
      <p:grpSp>
        <p:nvGrpSpPr>
          <p:cNvPr id="49" name="Group 48"/>
          <p:cNvGrpSpPr/>
          <p:nvPr/>
        </p:nvGrpSpPr>
        <p:grpSpPr>
          <a:xfrm>
            <a:off x="1408055" y="1285293"/>
            <a:ext cx="9658202" cy="5375943"/>
            <a:chOff x="1739901" y="1317313"/>
            <a:chExt cx="9658202" cy="5375943"/>
          </a:xfrm>
        </p:grpSpPr>
        <p:sp>
          <p:nvSpPr>
            <p:cNvPr id="50" name="Rectangle 49"/>
            <p:cNvSpPr/>
            <p:nvPr/>
          </p:nvSpPr>
          <p:spPr>
            <a:xfrm>
              <a:off x="4119734" y="2219900"/>
              <a:ext cx="1503879" cy="1589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3211966" y="1317313"/>
              <a:ext cx="5305894" cy="2390641"/>
              <a:chOff x="2970667" y="1235557"/>
              <a:chExt cx="5305894" cy="2390641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70667" y="1235557"/>
                <a:ext cx="5305894" cy="2390641"/>
              </a:xfrm>
              <a:prstGeom prst="rect">
                <a:avLst/>
              </a:prstGeom>
            </p:spPr>
          </p:pic>
          <p:sp>
            <p:nvSpPr>
              <p:cNvPr id="60" name="Rectangle 59"/>
              <p:cNvSpPr/>
              <p:nvPr/>
            </p:nvSpPr>
            <p:spPr>
              <a:xfrm>
                <a:off x="5733288" y="2884493"/>
                <a:ext cx="1743456" cy="4632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4119735" y="1955801"/>
                <a:ext cx="1503879" cy="2286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4933471" y="2905241"/>
                <a:ext cx="690142" cy="23160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6482871" y="2440821"/>
                <a:ext cx="690142" cy="23160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9901" y="4227781"/>
              <a:ext cx="3686343" cy="2465475"/>
            </a:xfrm>
            <a:prstGeom prst="rect">
              <a:avLst/>
            </a:prstGeom>
          </p:spPr>
        </p:pic>
        <p:grpSp>
          <p:nvGrpSpPr>
            <p:cNvPr id="53" name="Group 52"/>
            <p:cNvGrpSpPr/>
            <p:nvPr/>
          </p:nvGrpSpPr>
          <p:grpSpPr>
            <a:xfrm>
              <a:off x="5864913" y="4331521"/>
              <a:ext cx="5533190" cy="2164971"/>
              <a:chOff x="6343672" y="4217781"/>
              <a:chExt cx="6532477" cy="2407366"/>
            </a:xfrm>
          </p:grpSpPr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43672" y="4217781"/>
                <a:ext cx="3347968" cy="2407366"/>
              </a:xfrm>
              <a:prstGeom prst="rect">
                <a:avLst/>
              </a:prstGeom>
            </p:spPr>
          </p:pic>
          <p:pic>
            <p:nvPicPr>
              <p:cNvPr id="55" name="Picture 5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99777" y="4270456"/>
                <a:ext cx="2976372" cy="2354691"/>
              </a:xfrm>
              <a:prstGeom prst="rect">
                <a:avLst/>
              </a:prstGeom>
            </p:spPr>
          </p:pic>
          <p:sp>
            <p:nvSpPr>
              <p:cNvPr id="56" name="Rectangle 55"/>
              <p:cNvSpPr/>
              <p:nvPr/>
            </p:nvSpPr>
            <p:spPr>
              <a:xfrm>
                <a:off x="6406387" y="4561467"/>
                <a:ext cx="1150113" cy="18373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6343672" y="5624180"/>
                <a:ext cx="1212828" cy="14797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11117706" y="5027074"/>
                <a:ext cx="1150494" cy="15452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6158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5460" y="131676"/>
            <a:ext cx="9650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結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果 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-2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589904"/>
              </p:ext>
            </p:extLst>
          </p:nvPr>
        </p:nvGraphicFramePr>
        <p:xfrm>
          <a:off x="265044" y="1006214"/>
          <a:ext cx="11728174" cy="5768831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7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5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9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262"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ECN Released </a:t>
                      </a:r>
                      <a:r>
                        <a:rPr lang="zh-CN" alt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後的資料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3626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PLM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698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/>
                        <a:t>ERP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INVI24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INV02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2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4119734" y="2219900"/>
            <a:ext cx="1503879" cy="158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211966" y="1399392"/>
            <a:ext cx="5305894" cy="2308562"/>
            <a:chOff x="2970667" y="1235557"/>
            <a:chExt cx="5305894" cy="239064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0667" y="1235557"/>
              <a:ext cx="5305894" cy="2390641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5733288" y="2902303"/>
              <a:ext cx="1743456" cy="4632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19735" y="1955801"/>
              <a:ext cx="1503879" cy="228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933471" y="2895971"/>
              <a:ext cx="690142" cy="2316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482871" y="2440821"/>
              <a:ext cx="690142" cy="2316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10" y="4310855"/>
            <a:ext cx="3889311" cy="2465475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5560430" y="4395093"/>
            <a:ext cx="5914859" cy="2371575"/>
            <a:chOff x="6343672" y="4217781"/>
            <a:chExt cx="6532477" cy="2407366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3672" y="4217781"/>
              <a:ext cx="3347968" cy="2407366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99777" y="4270456"/>
              <a:ext cx="2976372" cy="2354691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6406387" y="4585114"/>
              <a:ext cx="1150113" cy="183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343672" y="5624180"/>
              <a:ext cx="1212828" cy="14797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1117706" y="5027074"/>
              <a:ext cx="1150494" cy="1545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02345" y="678833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A. INV </a:t>
            </a:r>
            <a:r>
              <a:rPr lang="ja-JP" alt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變更的結果</a:t>
            </a:r>
            <a:endParaRPr lang="en-US" b="1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232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2696" y="131676"/>
            <a:ext cx="1010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KẾT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QUẢ -3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549367"/>
              </p:ext>
            </p:extLst>
          </p:nvPr>
        </p:nvGraphicFramePr>
        <p:xfrm>
          <a:off x="368299" y="1031359"/>
          <a:ext cx="11019171" cy="573094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80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273"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Dữ liệu trước khi ECN </a:t>
                      </a:r>
                      <a:r>
                        <a:rPr lang="vi-VN" sz="1400" dirty="0"/>
                        <a:t>Released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77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PLM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898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/>
                        <a:t>ERP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40975"/>
          <a:stretch>
            <a:fillRect/>
          </a:stretch>
        </p:blipFill>
        <p:spPr>
          <a:xfrm>
            <a:off x="2052969" y="1605118"/>
            <a:ext cx="3636010" cy="229171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133" y="4288252"/>
            <a:ext cx="4151234" cy="208946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122419" y="3459480"/>
            <a:ext cx="1179519" cy="335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483100" y="5234940"/>
            <a:ext cx="818839" cy="335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>
            <a:stCxn id="21" idx="3"/>
          </p:cNvCxnSpPr>
          <p:nvPr/>
        </p:nvCxnSpPr>
        <p:spPr>
          <a:xfrm flipV="1">
            <a:off x="5301938" y="2765778"/>
            <a:ext cx="1719751" cy="861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2" idx="3"/>
          </p:cNvCxnSpPr>
          <p:nvPr/>
        </p:nvCxnSpPr>
        <p:spPr>
          <a:xfrm flipV="1">
            <a:off x="5301939" y="4876800"/>
            <a:ext cx="1776194" cy="525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133" y="4606216"/>
            <a:ext cx="2191056" cy="53347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689" y="2301036"/>
            <a:ext cx="3496163" cy="9716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567" y="691043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Kết quả thay đổi BOM </a:t>
            </a:r>
          </a:p>
        </p:txBody>
      </p:sp>
    </p:spTree>
    <p:extLst>
      <p:ext uri="{BB962C8B-B14F-4D97-AF65-F5344CB8AC3E}">
        <p14:creationId xmlns:p14="http://schemas.microsoft.com/office/powerpoint/2010/main" val="2845922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4482" y="104292"/>
            <a:ext cx="10111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結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果 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-3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020696"/>
              </p:ext>
            </p:extLst>
          </p:nvPr>
        </p:nvGraphicFramePr>
        <p:xfrm>
          <a:off x="368299" y="1031359"/>
          <a:ext cx="11019171" cy="573094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80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273"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ECN Released </a:t>
                      </a:r>
                      <a:r>
                        <a:rPr lang="ja-JP" alt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之前的資料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77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PLM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898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/>
                        <a:t>ERP</a:t>
                      </a:r>
                      <a:endParaRPr lang="en-US" sz="1400" baseline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40975"/>
          <a:stretch>
            <a:fillRect/>
          </a:stretch>
        </p:blipFill>
        <p:spPr>
          <a:xfrm>
            <a:off x="2052969" y="1605118"/>
            <a:ext cx="3636010" cy="229171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133" y="4288252"/>
            <a:ext cx="4151234" cy="208946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122419" y="3459480"/>
            <a:ext cx="1179519" cy="335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483100" y="5234940"/>
            <a:ext cx="818839" cy="335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3" name="Straight Arrow Connector 22"/>
          <p:cNvCxnSpPr>
            <a:stCxn id="21" idx="3"/>
          </p:cNvCxnSpPr>
          <p:nvPr/>
        </p:nvCxnSpPr>
        <p:spPr>
          <a:xfrm flipV="1">
            <a:off x="5301938" y="2765778"/>
            <a:ext cx="1719751" cy="861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2" idx="3"/>
          </p:cNvCxnSpPr>
          <p:nvPr/>
        </p:nvCxnSpPr>
        <p:spPr>
          <a:xfrm flipV="1">
            <a:off x="5301939" y="4876800"/>
            <a:ext cx="1776194" cy="525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133" y="4606216"/>
            <a:ext cx="2191056" cy="53347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689" y="2301036"/>
            <a:ext cx="3496163" cy="9716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567" y="672272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B. BOM </a:t>
            </a:r>
            <a:r>
              <a:rPr lang="ja-JP" alt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變更的結果</a:t>
            </a:r>
            <a:r>
              <a:rPr 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379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9786" y="131676"/>
            <a:ext cx="10148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KẾT QUẢ -4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38094"/>
              </p:ext>
            </p:extLst>
          </p:nvPr>
        </p:nvGraphicFramePr>
        <p:xfrm>
          <a:off x="368792" y="908756"/>
          <a:ext cx="11019171" cy="5778149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13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938"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 liệu sau khi ECN </a:t>
                      </a:r>
                      <a:r>
                        <a:rPr lang="vi-V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Released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4559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PLM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254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/>
                        <a:t>ERP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BOMI04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BOMI02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73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256" y="4222440"/>
            <a:ext cx="4597867" cy="22629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349" y="4222440"/>
            <a:ext cx="4794702" cy="22629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511" y="1466722"/>
            <a:ext cx="4938471" cy="20802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774" y="1650755"/>
            <a:ext cx="2896004" cy="60968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4410075" y="1952686"/>
            <a:ext cx="2686050" cy="1181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962400" y="1955597"/>
            <a:ext cx="3133725" cy="1178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2945" y="593341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B. Kết quả thay đổi BOM </a:t>
            </a:r>
          </a:p>
        </p:txBody>
      </p:sp>
    </p:spTree>
    <p:extLst>
      <p:ext uri="{BB962C8B-B14F-4D97-AF65-F5344CB8AC3E}">
        <p14:creationId xmlns:p14="http://schemas.microsoft.com/office/powerpoint/2010/main" val="2254393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111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結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果 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-4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041469"/>
              </p:ext>
            </p:extLst>
          </p:nvPr>
        </p:nvGraphicFramePr>
        <p:xfrm>
          <a:off x="368792" y="892302"/>
          <a:ext cx="11019171" cy="579460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13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376"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ECN Released </a:t>
                      </a:r>
                      <a:r>
                        <a:rPr lang="zh-CN" altLang="en-US" sz="1400" b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後的資料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236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PLM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39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/>
                        <a:t>ERP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BOMI04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BOMI02</a:t>
                      </a:r>
                      <a:endParaRPr lang="en-US" sz="140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4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256" y="4222440"/>
            <a:ext cx="4597867" cy="22629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349" y="4222440"/>
            <a:ext cx="4794702" cy="22629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511" y="1466722"/>
            <a:ext cx="4938471" cy="20802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774" y="1650755"/>
            <a:ext cx="2896004" cy="60968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4410075" y="1952686"/>
            <a:ext cx="2686050" cy="1181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962400" y="1955597"/>
            <a:ext cx="3133725" cy="1178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8792" y="574995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B. BOM </a:t>
            </a:r>
            <a:r>
              <a:rPr lang="ja-JP" alt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變更的結果</a:t>
            </a:r>
            <a:r>
              <a:rPr 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8886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483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KẾT QUẢ -5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5684980"/>
              </p:ext>
            </p:extLst>
          </p:nvPr>
        </p:nvGraphicFramePr>
        <p:xfrm>
          <a:off x="713213" y="1153224"/>
          <a:ext cx="11046396" cy="3729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2269">
                  <a:extLst>
                    <a:ext uri="{9D8B030D-6E8A-4147-A177-3AD203B41FA5}">
                      <a16:colId xmlns:a16="http://schemas.microsoft.com/office/drawing/2014/main" val="2906157859"/>
                    </a:ext>
                  </a:extLst>
                </a:gridCol>
              </a:tblGrid>
              <a:tr h="4111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STT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dung kiểm thử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quả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Ghi chú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Truyền ECN từ PLM sang DB trung gian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Đạt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r>
                        <a:rPr lang="vi-VN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ECN sau khi ký duyệt được ghi nhận đầy đủ</a:t>
                      </a:r>
                      <a:endParaRPr lang="en-US" sz="1400" i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8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Xử lý ECN qua Services</a:t>
                      </a:r>
                      <a:endParaRPr lang="zh-CN" altLang="en-US" sz="14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Đạt</a:t>
                      </a:r>
                      <a:endParaRPr lang="en-US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Xử lý tuần tự, có kiểm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trạng thái</a:t>
                      </a:r>
                      <a:endParaRPr lang="en-US" sz="14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8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Đồng </a:t>
                      </a:r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bộ INV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sang ERP </a:t>
                      </a:r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– INVI24 (INVTL, INVTM)</a:t>
                      </a:r>
                      <a:endParaRPr lang="zh-CN" altLang="en-US" sz="14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Đạt</a:t>
                      </a:r>
                      <a:endParaRPr lang="en-US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vi-VN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Dữ liệu được tạo và cập nhật đúng</a:t>
                      </a:r>
                      <a:endParaRPr lang="en-US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784403"/>
                  </a:ext>
                </a:extLst>
              </a:tr>
              <a:tr h="56918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Đồng bộ dữ liệu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nền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ERP </a:t>
                      </a:r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– INVI02 (INVMB)</a:t>
                      </a:r>
                      <a:endParaRPr lang="zh-CN" altLang="en-US" sz="14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Đạt</a:t>
                      </a:r>
                      <a:endParaRPr lang="en-US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Lấy dữ liệu phục vụ kế </a:t>
                      </a:r>
                      <a:r>
                        <a:rPr lang="en-US" sz="140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thừa</a:t>
                      </a:r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INV</a:t>
                      </a:r>
                      <a:endParaRPr lang="en-US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54249"/>
                  </a:ext>
                </a:extLst>
              </a:tr>
              <a:tr h="5131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Đồng bộ BOM sang ERP – BOMI04 (BOMTA, BOMTB, BOMTC)</a:t>
                      </a:r>
                      <a:endParaRPr lang="zh-CN" altLang="en-US" sz="14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Đạt</a:t>
                      </a:r>
                      <a:endParaRPr lang="en-US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vi-VN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Dữ liệu được tạo và cập nhật đúng</a:t>
                      </a:r>
                      <a:endParaRPr lang="en-US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8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Đồng bộ dữ liệu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nền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ERP – BOMI02 (BOMMC, BOMMD)</a:t>
                      </a:r>
                      <a:endParaRPr lang="zh-CN" altLang="en-US" sz="14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Đạt</a:t>
                      </a:r>
                      <a:endParaRPr lang="en-US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Lấy dữ liệu phục vụ kế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thừa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BOM</a:t>
                      </a:r>
                      <a:endParaRPr lang="en-US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981816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519041" y="5261538"/>
            <a:ext cx="11400056" cy="928474"/>
            <a:chOff x="519041" y="5261538"/>
            <a:chExt cx="11400056" cy="928474"/>
          </a:xfrm>
        </p:grpSpPr>
        <p:sp>
          <p:nvSpPr>
            <p:cNvPr id="8" name="Right Arrow 7"/>
            <p:cNvSpPr/>
            <p:nvPr/>
          </p:nvSpPr>
          <p:spPr>
            <a:xfrm>
              <a:off x="519041" y="5483459"/>
              <a:ext cx="978408" cy="484632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71044" y="5261538"/>
              <a:ext cx="10348053" cy="92847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/>
            <p:cNvSpPr/>
            <p:nvPr>
              <p:custDataLst>
                <p:tags r:id="rId2"/>
              </p:custDataLst>
            </p:nvPr>
          </p:nvSpPr>
          <p:spPr>
            <a:xfrm>
              <a:off x="1571043" y="5310276"/>
              <a:ext cx="10348053" cy="7867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Quy trình tích hợp ECN thay đổi BOM hoạt động đúng </a:t>
              </a:r>
              <a:r>
                <a:rPr lang="en-US" sz="1600" dirty="0" err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theo</a:t>
              </a:r>
              <a:r>
                <a:rPr 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thiết kế.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vi-VN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Dữ </a:t>
              </a:r>
              <a:r>
                <a:rPr lang="vi-VN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liệu </a:t>
              </a:r>
              <a:r>
                <a:rPr lang="en-US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INV/</a:t>
              </a:r>
              <a:r>
                <a:rPr lang="vi-VN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 </a:t>
              </a:r>
              <a:r>
                <a:rPr lang="vi-VN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được đồng bộ chính xác từ PLM sang ERP thông </a:t>
              </a:r>
              <a:r>
                <a:rPr lang="vi-VN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qua Services.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13213" y="735153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Đánh giá chung</a:t>
            </a:r>
          </a:p>
        </p:txBody>
      </p:sp>
    </p:spTree>
    <p:extLst>
      <p:ext uri="{BB962C8B-B14F-4D97-AF65-F5344CB8AC3E}">
        <p14:creationId xmlns:p14="http://schemas.microsoft.com/office/powerpoint/2010/main" val="2797579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451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3. 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結果 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-5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387542"/>
              </p:ext>
            </p:extLst>
          </p:nvPr>
        </p:nvGraphicFramePr>
        <p:xfrm>
          <a:off x="681315" y="1153224"/>
          <a:ext cx="11046396" cy="3729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2269">
                  <a:extLst>
                    <a:ext uri="{9D8B030D-6E8A-4147-A177-3AD203B41FA5}">
                      <a16:colId xmlns:a16="http://schemas.microsoft.com/office/drawing/2014/main" val="2906157859"/>
                    </a:ext>
                  </a:extLst>
                </a:gridCol>
              </a:tblGrid>
              <a:tr h="4111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序號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測試內容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結果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將 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PLM 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上 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ECN 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拋轉至中介資料庫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altLang="zh-TW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完成</a:t>
                      </a:r>
                      <a:endParaRPr lang="en-US" altLang="zh-TW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完整記錄 </a:t>
                      </a:r>
                      <a:r>
                        <a:rPr lang="en-US" altLang="zh-CN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ECN </a:t>
                      </a:r>
                      <a:r>
                        <a:rPr lang="zh-CN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完成簽核後的資料</a:t>
                      </a:r>
                      <a:endParaRPr lang="en-US" sz="1400" i="1" dirty="0">
                        <a:solidFill>
                          <a:srgbClr val="0000FF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8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透過 </a:t>
                      </a:r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Services </a:t>
                      </a:r>
                      <a:r>
                        <a:rPr lang="zh-CN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處理 </a:t>
                      </a:r>
                      <a:r>
                        <a:rPr lang="en-US" altLang="zh-CN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ECN</a:t>
                      </a:r>
                      <a:endParaRPr lang="zh-CN" altLang="en-US" sz="1400" dirty="0">
                        <a:solidFill>
                          <a:srgbClr val="0000FF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altLang="zh-TW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完成</a:t>
                      </a:r>
                      <a:endParaRPr lang="en-US" altLang="zh-TW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流程採用循序處理，並具備狀態控管機制</a:t>
                      </a:r>
                      <a:endParaRPr lang="en-US" sz="1400" b="1" dirty="0">
                        <a:solidFill>
                          <a:srgbClr val="0000FF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8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將 </a:t>
                      </a:r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INV </a:t>
                      </a:r>
                      <a:r>
                        <a:rPr lang="zh-CN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同步至</a:t>
                      </a:r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ERP </a:t>
                      </a:r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– INVI24 (INVTL, INVTM)</a:t>
                      </a:r>
                      <a:endParaRPr lang="zh-CN" altLang="en-US" sz="1400" dirty="0">
                        <a:solidFill>
                          <a:srgbClr val="0000FF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altLang="zh-TW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完成</a:t>
                      </a:r>
                      <a:endParaRPr lang="en-US" altLang="zh-TW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正確的建立及更新資料</a:t>
                      </a:r>
                      <a:endParaRPr 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10177"/>
                  </a:ext>
                </a:extLst>
              </a:tr>
              <a:tr h="56918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同步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ERP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基礎資</a:t>
                      </a:r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料－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INVI02</a:t>
                      </a:r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INVMB</a:t>
                      </a:r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完成</a:t>
                      </a:r>
                      <a:endParaRPr lang="en-US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取得資料以支</a:t>
                      </a:r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援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INV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繼承處理</a:t>
                      </a:r>
                      <a:endParaRPr 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540386"/>
                  </a:ext>
                </a:extLst>
              </a:tr>
              <a:tr h="51319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將 </a:t>
                      </a:r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BOM </a:t>
                      </a:r>
                      <a:r>
                        <a:rPr lang="zh-CN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同步至</a:t>
                      </a:r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ERP – BOMI04 (BOMTA, BOMTB, BOMTC)</a:t>
                      </a:r>
                      <a:endParaRPr lang="zh-CN" altLang="en-US" sz="1400" dirty="0">
                        <a:solidFill>
                          <a:srgbClr val="0000FF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altLang="zh-TW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完成</a:t>
                      </a:r>
                      <a:endParaRPr lang="en-US" altLang="zh-TW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正確的建立及更新資料</a:t>
                      </a:r>
                      <a:endParaRPr 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82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同步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ERP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基礎資料－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BOMI02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BOMMC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BOMMD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​ 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完成</a:t>
                      </a:r>
                      <a:endParaRPr lang="en-US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取得資料以支援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BOM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繼承處理</a:t>
                      </a:r>
                      <a:endParaRPr 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981816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681315" y="5039616"/>
            <a:ext cx="11237783" cy="928475"/>
            <a:chOff x="681315" y="5039616"/>
            <a:chExt cx="11237783" cy="928475"/>
          </a:xfrm>
        </p:grpSpPr>
        <p:sp>
          <p:nvSpPr>
            <p:cNvPr id="9" name="Rectangle 8"/>
            <p:cNvSpPr/>
            <p:nvPr/>
          </p:nvSpPr>
          <p:spPr>
            <a:xfrm>
              <a:off x="1571045" y="5039618"/>
              <a:ext cx="10348053" cy="92847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/>
            <p:cNvSpPr/>
            <p:nvPr>
              <p:custDataLst>
                <p:tags r:id="rId2"/>
              </p:custDataLst>
            </p:nvPr>
          </p:nvSpPr>
          <p:spPr>
            <a:xfrm>
              <a:off x="1571045" y="5039616"/>
              <a:ext cx="10348053" cy="7865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變更 </a:t>
              </a:r>
              <a:r>
                <a: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之整合流程依設計正常運作。</a:t>
              </a:r>
              <a:endPara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INV/</a:t>
              </a:r>
              <a:r>
                <a:rPr lang="vi-VN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資料可透過 </a:t>
              </a:r>
              <a:r>
                <a:rPr lang="vi-VN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Services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正確地由 </a:t>
              </a:r>
              <a:r>
                <a:rPr lang="vi-VN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PLM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同步至 </a:t>
              </a:r>
              <a:r>
                <a:rPr lang="vi-VN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ERP。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681315" y="5261538"/>
              <a:ext cx="791750" cy="484632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81315" y="763065"/>
            <a:ext cx="308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C. </a:t>
            </a:r>
            <a:r>
              <a:rPr lang="ja-JP" altLang="en-US" b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評估</a:t>
            </a:r>
            <a:endParaRPr lang="en-US" b="1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870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6191" y="131676"/>
            <a:ext cx="10647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VẤN ĐỀ GẶP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PHẢI -1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3569" y="708958"/>
            <a:ext cx="11838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Vấn đề: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STT NVL trên PLM và ERP không đồng nhất do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một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mã sản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có thể tồn tại nhiều STT trên PLM</a:t>
            </a:r>
            <a:r>
              <a:rPr lang="vi-V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=&gt; </a:t>
            </a:r>
            <a:r>
              <a:rPr lang="vi-V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Hiện tại đang dùng Mã NVL để làm khóa.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Nguyên nhân: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STT chỉ mang tính thứ tự, không phải khóa chính; sử dụng mã sản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làm khóa phụ dẫn đến nhầm STT.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Ảnh hưởng</a:t>
            </a:r>
            <a:r>
              <a:rPr lang="vi-VN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vi-V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STT trên ERP không khớp vị trí thay đổi trên PLM, gây khó đối chiếu BOM (ví dụ: CTCS00000017 lấy STT 0030 thay vì 0080).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860" y="1909286"/>
            <a:ext cx="6320194" cy="404022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956868" y="5506815"/>
            <a:ext cx="3784540" cy="158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861166" y="5506815"/>
            <a:ext cx="841248" cy="158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Callout 4"/>
          <p:cNvSpPr/>
          <p:nvPr/>
        </p:nvSpPr>
        <p:spPr>
          <a:xfrm>
            <a:off x="9816964" y="3554252"/>
            <a:ext cx="1531383" cy="1577291"/>
          </a:xfrm>
          <a:prstGeom prst="wedgeEllipseCallou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Giá trị được </a:t>
            </a:r>
            <a:r>
              <a:rPr lang="vi-VN" sz="10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cập nhật ở dây </a:t>
            </a:r>
            <a:r>
              <a:rPr lang="vi-VN" sz="1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vì </a:t>
            </a:r>
            <a:r>
              <a:rPr lang="vi-VN" sz="10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trùng mã NVL</a:t>
            </a:r>
            <a:endParaRPr lang="en-US" sz="10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endParaRPr lang="en-US" sz="10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endParaRPr lang="en-US" sz="10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endParaRPr lang="en-US" sz="10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endParaRPr lang="en-US" sz="10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endParaRPr lang="en-US" sz="10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11158" y="1909286"/>
            <a:ext cx="5041901" cy="4040221"/>
            <a:chOff x="621791" y="2494691"/>
            <a:chExt cx="5041901" cy="4040221"/>
          </a:xfrm>
        </p:grpSpPr>
        <p:grpSp>
          <p:nvGrpSpPr>
            <p:cNvPr id="4" name="Group 3"/>
            <p:cNvGrpSpPr/>
            <p:nvPr/>
          </p:nvGrpSpPr>
          <p:grpSpPr>
            <a:xfrm>
              <a:off x="621791" y="2494691"/>
              <a:ext cx="4947201" cy="4040221"/>
              <a:chOff x="293178" y="2381693"/>
              <a:chExt cx="5186852" cy="4057207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178" y="2381693"/>
                <a:ext cx="5186852" cy="4057207"/>
              </a:xfrm>
              <a:prstGeom prst="rect">
                <a:avLst/>
              </a:prstGeom>
            </p:spPr>
          </p:pic>
          <p:sp>
            <p:nvSpPr>
              <p:cNvPr id="20" name="Rectangle 19"/>
              <p:cNvSpPr/>
              <p:nvPr/>
            </p:nvSpPr>
            <p:spPr>
              <a:xfrm>
                <a:off x="571540" y="6052455"/>
                <a:ext cx="4726006" cy="1557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2615692" y="2494691"/>
              <a:ext cx="3048000" cy="369332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VD: Phiếu ECN: ECN-260012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11158" y="6022277"/>
            <a:ext cx="11532896" cy="76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Hướng giải quyết: </a:t>
            </a:r>
            <a:endParaRPr lang="vi-VN" sz="1600" b="1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hlinkClick r:id="rId4" action="ppaction://hlinksldjump"/>
            </a:endParaRPr>
          </a:p>
          <a:p>
            <a:pPr marL="342900" indent="-342900">
              <a:buAutoNum type="arabicPeriod"/>
            </a:pPr>
            <a:r>
              <a:rPr lang="vi-V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Đồng nhất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dữ liệu </a:t>
            </a:r>
            <a:r>
              <a:rPr lang="vi-V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bên PLM với ERP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(và STT bên PLM làm khóa chính không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cho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phép nhập trùng). 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(Tham khảo cố vấn PLM để xử lý)</a:t>
            </a:r>
          </a:p>
          <a:p>
            <a:pPr marL="342900" indent="-342900">
              <a:buFontTx/>
              <a:buAutoNum type="arabicPeriod"/>
            </a:pP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KaiFa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có thể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gộp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chung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các sản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có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chung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mã sản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thành 1.</a:t>
            </a:r>
            <a:endParaRPr lang="vi-VN" sz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6998" y="6143253"/>
            <a:ext cx="574160" cy="44564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4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537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遇到問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題 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-1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3569" y="708958"/>
            <a:ext cx="11838432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問題</a:t>
            </a:r>
            <a:r>
              <a:rPr 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與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之間之原物料序號不一致，原因在於同一物料編碼於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中可能存在多筆不同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序號 </a:t>
            </a:r>
            <a:r>
              <a:rPr lang="vi-VN" altLang="zh-TW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=&gt;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目前系統以「物料編碼」作為</a:t>
            </a:r>
            <a:r>
              <a:rPr lang="zh-TW" altLang="en-US" sz="1400" b="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主键</a:t>
            </a:r>
            <a:r>
              <a:rPr lang="zh-TW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sz="14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原因</a:t>
            </a:r>
            <a:r>
              <a:rPr lang="en-US" altLang="zh-CN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序號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僅具備排序用途，並非主鍵；以物料編碼作為輔助鍵進行對應，容易造成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序號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對應錯誤。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影像</a:t>
            </a:r>
            <a:r>
              <a:rPr lang="vi-VN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vi-V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中之 序號與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中變更位置不一致，導致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對照困難（例如：物料編碼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CTCS00000017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取得序號為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0030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，而非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0080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）</a:t>
            </a:r>
            <a:endParaRPr lang="vi-VN" sz="1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860" y="1909286"/>
            <a:ext cx="6320194" cy="404022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956868" y="5506815"/>
            <a:ext cx="3784540" cy="158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861166" y="5506815"/>
            <a:ext cx="841248" cy="158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11158" y="1909287"/>
            <a:ext cx="5041901" cy="4040221"/>
            <a:chOff x="621791" y="2494691"/>
            <a:chExt cx="5041901" cy="4040221"/>
          </a:xfrm>
        </p:grpSpPr>
        <p:grpSp>
          <p:nvGrpSpPr>
            <p:cNvPr id="4" name="Group 3"/>
            <p:cNvGrpSpPr/>
            <p:nvPr/>
          </p:nvGrpSpPr>
          <p:grpSpPr>
            <a:xfrm>
              <a:off x="621791" y="2494691"/>
              <a:ext cx="4947201" cy="4040221"/>
              <a:chOff x="293178" y="2381693"/>
              <a:chExt cx="5186852" cy="4057207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178" y="2381693"/>
                <a:ext cx="5186852" cy="4057207"/>
              </a:xfrm>
              <a:prstGeom prst="rect">
                <a:avLst/>
              </a:prstGeom>
            </p:spPr>
          </p:pic>
          <p:sp>
            <p:nvSpPr>
              <p:cNvPr id="20" name="Rectangle 19"/>
              <p:cNvSpPr/>
              <p:nvPr/>
            </p:nvSpPr>
            <p:spPr>
              <a:xfrm>
                <a:off x="571540" y="6052455"/>
                <a:ext cx="4726006" cy="1557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FF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2615692" y="2494691"/>
              <a:ext cx="3048000" cy="369332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VD: ECN</a:t>
              </a:r>
              <a:r>
                <a:rPr lang="en-US" dirty="0">
                  <a:solidFill>
                    <a:srgbClr val="FF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solidFill>
                    <a:srgbClr val="FF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單據</a:t>
              </a:r>
              <a:r>
                <a:rPr lang="vi-VN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: ECN-260012</a:t>
              </a:r>
              <a:endParaRPr 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585436" y="5876148"/>
            <a:ext cx="10228612" cy="8925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解決方向</a:t>
            </a:r>
            <a:r>
              <a:rPr lang="vi-V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endParaRPr lang="en-US" sz="1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統一 </a:t>
            </a:r>
            <a:r>
              <a:rPr lang="en-US" altLang="zh-CN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以及 </a:t>
            </a:r>
            <a:r>
              <a:rPr lang="en-US" altLang="zh-CN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的資料並均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以「序號」作為主键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禁止重複輸入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（</a:t>
            </a:r>
            <a:r>
              <a:rPr lang="zh-CN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參考 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CN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顧問的做法及建議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）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KaiFa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：可將具有相同品號之產品合併為一筆資料。</a:t>
            </a:r>
            <a:endParaRPr lang="zh-TW" altLang="en-US" sz="14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1D4419-D6CC-4A00-8A6B-FAA0BA0BA4F4}"/>
              </a:ext>
            </a:extLst>
          </p:cNvPr>
          <p:cNvSpPr/>
          <p:nvPr/>
        </p:nvSpPr>
        <p:spPr>
          <a:xfrm>
            <a:off x="9945384" y="3554858"/>
            <a:ext cx="1635458" cy="626724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因原物料代碼重複，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數值被更新在此處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2E0C36-2E75-4DED-911B-FF7CE83AFD0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9563337" y="4181582"/>
            <a:ext cx="1199776" cy="12809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Arrow 20"/>
          <p:cNvSpPr/>
          <p:nvPr/>
        </p:nvSpPr>
        <p:spPr>
          <a:xfrm>
            <a:off x="876659" y="6136281"/>
            <a:ext cx="592970" cy="44564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8528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427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VẤN ĐỀ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GẶP PHẢI -2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5621" y="708958"/>
            <a:ext cx="11838432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Vấn đề: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Ô “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Mã Công Đoạn”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đang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dạng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nhập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tay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=&gt; có thể nhập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sai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tên viết tắt của DCSX</a:t>
            </a:r>
            <a:endParaRPr lang="vi-VN" sz="1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59160" y="5731619"/>
            <a:ext cx="10384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Hướng giải quyết: 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Ô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“Mã Công Đoạn” 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cần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chuyển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dang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sạng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chọn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theo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danh sách MD001 của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CMSMD (ERP)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[MIS tham khảo cố vấn PLM xử lý]</a:t>
            </a:r>
            <a:endParaRPr lang="vi-VN" sz="1600" dirty="0">
              <a:solidFill>
                <a:srgbClr val="7030A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099930" y="5765465"/>
            <a:ext cx="659230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389" y="1647576"/>
            <a:ext cx="7859222" cy="3562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13300" y="4013200"/>
            <a:ext cx="1244600" cy="508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793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305621" y="708958"/>
            <a:ext cx="11838432" cy="381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問題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CN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CN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製程代碼</a:t>
            </a:r>
            <a:r>
              <a:rPr lang="en-US" altLang="zh-CN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欄位目前為手動輸入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=&gt;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可能導致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生產先別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縮寫名稱輸入錯誤。</a:t>
            </a:r>
            <a:endParaRPr lang="vi-VN" sz="1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59160" y="5767816"/>
            <a:ext cx="10384893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解決方案</a:t>
            </a:r>
            <a:r>
              <a:rPr lang="vi-VN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</a:t>
            </a:r>
            <a:r>
              <a:rPr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製程代碼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」欄位需改為依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CMSMD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資料表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MD001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</a:t>
            </a: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清單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選擇。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rgbClr val="7030A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[MIS 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參考 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顧問的做法及建議</a:t>
            </a:r>
            <a:r>
              <a:rPr lang="en-US" altLang="zh-TW" sz="1600" dirty="0">
                <a:solidFill>
                  <a:srgbClr val="7030A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]</a:t>
            </a:r>
            <a:endParaRPr lang="vi-VN" altLang="zh-TW" sz="1600" dirty="0">
              <a:solidFill>
                <a:srgbClr val="7030A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166190" y="5767816"/>
            <a:ext cx="592970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389" y="1647576"/>
            <a:ext cx="7859222" cy="3562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13300" y="4013200"/>
            <a:ext cx="1244600" cy="508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C746A9-93D4-4206-BF65-C34CAB4B68DD}"/>
              </a:ext>
            </a:extLst>
          </p:cNvPr>
          <p:cNvSpPr txBox="1"/>
          <p:nvPr/>
        </p:nvSpPr>
        <p:spPr>
          <a:xfrm>
            <a:off x="1276362" y="131676"/>
            <a:ext cx="10403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遇到問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題 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-2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199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281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THỜI GIAN THỰC HIỆN VÀ CHI TIẾT HƯỚNG GIẢI QUYẾT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6642" y="678951"/>
            <a:ext cx="82103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Thời gian kiểm </a:t>
            </a:r>
            <a:r>
              <a:rPr lang="en-US" sz="1600" b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thử:</a:t>
            </a:r>
            <a:endParaRPr lang="en-US" sz="1600" b="1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Bộ phận kiểm thử (cho phiếu ECN):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Thay đổi BOM: </a:t>
            </a:r>
            <a:r>
              <a:rPr lang="en-US" sz="140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19/01/2026 đến 30/01/2026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Thay đổi INV: </a:t>
            </a:r>
            <a:r>
              <a:rPr lang="en-US" sz="140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26/01/2026 đến 07/02/2026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642" y="2062911"/>
            <a:ext cx="8210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Chi tiết </a:t>
            </a:r>
            <a:r>
              <a:rPr lang="en-US" sz="1600" b="1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hướng</a:t>
            </a:r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giải quyết (trùng mã NVL trong 1 BOM) 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196642" y="2532788"/>
            <a:ext cx="11823907" cy="1809628"/>
            <a:chOff x="196642" y="2532788"/>
            <a:chExt cx="11823907" cy="1809628"/>
          </a:xfrm>
        </p:grpSpPr>
        <p:grpSp>
          <p:nvGrpSpPr>
            <p:cNvPr id="47" name="Group 46"/>
            <p:cNvGrpSpPr/>
            <p:nvPr/>
          </p:nvGrpSpPr>
          <p:grpSpPr>
            <a:xfrm>
              <a:off x="196642" y="2532788"/>
              <a:ext cx="11823907" cy="1809628"/>
              <a:chOff x="424847" y="7589765"/>
              <a:chExt cx="11133169" cy="1809628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424847" y="7589765"/>
                <a:ext cx="11133169" cy="18096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" name="Group 40"/>
              <p:cNvGrpSpPr/>
              <p:nvPr/>
            </p:nvGrpSpPr>
            <p:grpSpPr>
              <a:xfrm>
                <a:off x="1764867" y="7748084"/>
                <a:ext cx="9719613" cy="1640622"/>
                <a:chOff x="674405" y="2375351"/>
                <a:chExt cx="10430915" cy="1640622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877541" y="2386037"/>
                  <a:ext cx="10227779" cy="1548289"/>
                  <a:chOff x="904046" y="2386037"/>
                  <a:chExt cx="10227779" cy="1548289"/>
                </a:xfrm>
              </p:grpSpPr>
              <p:pic>
                <p:nvPicPr>
                  <p:cNvPr id="45" name="Picture 44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904046" y="2386037"/>
                    <a:ext cx="10227779" cy="809625"/>
                  </a:xfrm>
                  <a:prstGeom prst="rect">
                    <a:avLst/>
                  </a:prstGeom>
                </p:spPr>
              </p:pic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904046" y="3195662"/>
                    <a:ext cx="10227779" cy="738664"/>
                  </a:xfrm>
                  <a:prstGeom prst="rect">
                    <a:avLst/>
                  </a:prstGeom>
                  <a:noFill/>
                  <a:ln>
                    <a:solidFill>
                      <a:srgbClr val="00B05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buFont typeface="Wingdings" panose="05000000000000000000" pitchFamily="2" charset="2"/>
                      <a:buChar char="q"/>
                    </a:pPr>
                    <a:r>
                      <a: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Cột STT trên PLM không phép lưu khi STT trùng nhau.</a:t>
                    </a:r>
                  </a:p>
                  <a:p>
                    <a:pPr marL="285750" indent="-285750">
                      <a:buFont typeface="Wingdings" panose="05000000000000000000" pitchFamily="2" charset="2"/>
                      <a:buChar char="q"/>
                    </a:pPr>
                    <a:r>
                      <a: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STT chỉ được thay đổi 10, 20, 30,… </a:t>
                    </a:r>
                    <a:r>
                      <a:rPr lang="en-US" sz="14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thay vì có thể thay đổi thành 1</a:t>
                    </a:r>
                    <a:r>
                      <a: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, 12,… nhằm mục đích đồng hộ với khóa chính MD002 của bảng BOMMD trên </a:t>
                    </a:r>
                    <a:r>
                      <a:rPr lang="en-US" sz="14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ERP.</a:t>
                    </a:r>
                    <a:endParaRPr 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44" name="Straight Connector 43"/>
                <p:cNvCxnSpPr/>
                <p:nvPr/>
              </p:nvCxnSpPr>
              <p:spPr>
                <a:xfrm>
                  <a:off x="674405" y="2375351"/>
                  <a:ext cx="0" cy="164062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8" name="TextBox 47"/>
            <p:cNvSpPr txBox="1"/>
            <p:nvPr/>
          </p:nvSpPr>
          <p:spPr>
            <a:xfrm>
              <a:off x="196642" y="2628036"/>
              <a:ext cx="1474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u="sng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</a:t>
              </a:r>
              <a:r>
                <a:rPr lang="en-US" sz="1600" b="1" i="1" u="sng">
                  <a:latin typeface="Times New Roman" panose="02020603050405020304" pitchFamily="18" charset="0"/>
                  <a:cs typeface="Times New Roman" panose="02020603050405020304" pitchFamily="18" charset="0"/>
                </a:rPr>
                <a:t> án 1: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96642" y="3201055"/>
              <a:ext cx="13450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Tham khảo </a:t>
              </a:r>
              <a:r>
                <a:rPr lang="en-US" sz="16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cố vấn PLM </a:t>
              </a: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để xử lý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133349" y="4492358"/>
            <a:ext cx="11887199" cy="2194192"/>
            <a:chOff x="133349" y="4492358"/>
            <a:chExt cx="11887199" cy="2322576"/>
          </a:xfrm>
        </p:grpSpPr>
        <p:grpSp>
          <p:nvGrpSpPr>
            <p:cNvPr id="12" name="Group 11"/>
            <p:cNvGrpSpPr/>
            <p:nvPr/>
          </p:nvGrpSpPr>
          <p:grpSpPr>
            <a:xfrm>
              <a:off x="133349" y="4492358"/>
              <a:ext cx="11887199" cy="2322576"/>
              <a:chOff x="0" y="7139040"/>
              <a:chExt cx="11643360" cy="232257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0" y="7139040"/>
                <a:ext cx="11643360" cy="23225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/>
              <p:cNvGrpSpPr/>
              <p:nvPr/>
            </p:nvGrpSpPr>
            <p:grpSpPr>
              <a:xfrm>
                <a:off x="1474120" y="7392166"/>
                <a:ext cx="9692143" cy="2006379"/>
                <a:chOff x="689113" y="4164124"/>
                <a:chExt cx="10416207" cy="2006379"/>
              </a:xfrm>
            </p:grpSpPr>
            <p:pic>
              <p:nvPicPr>
                <p:cNvPr id="35" name="Picture 34"/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29934"/>
                <a:stretch/>
              </p:blipFill>
              <p:spPr>
                <a:xfrm>
                  <a:off x="877541" y="4164124"/>
                  <a:ext cx="10121763" cy="1004224"/>
                </a:xfrm>
                <a:prstGeom prst="rect">
                  <a:avLst/>
                </a:prstGeom>
              </p:spPr>
            </p:pic>
            <p:sp>
              <p:nvSpPr>
                <p:cNvPr id="36" name="TextBox 35"/>
                <p:cNvSpPr txBox="1"/>
                <p:nvPr/>
              </p:nvSpPr>
              <p:spPr>
                <a:xfrm>
                  <a:off x="877541" y="5305813"/>
                  <a:ext cx="10227779" cy="3257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Xóa 1 NVL bị trùng và NVL sẽ được điều chỉnh lại:</a:t>
                  </a:r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1619509" y="5716930"/>
                  <a:ext cx="5526691" cy="325785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q"/>
                  </a:pPr>
                  <a:r>
                    <a:rPr lang="en-US" sz="14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Lượng dùng, Mẫu số và </a:t>
                  </a:r>
                  <a:r>
                    <a:rPr lang="en-US" sz="1400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Tỷ</a:t>
                  </a:r>
                  <a:r>
                    <a:rPr lang="en-US" sz="14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lệ</a:t>
                  </a:r>
                  <a:r>
                    <a:rPr lang="en-US" sz="14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hao</a:t>
                  </a:r>
                  <a:r>
                    <a:rPr lang="en-US" sz="14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mòn</a:t>
                  </a:r>
                  <a:r>
                    <a:rPr lang="en-US" sz="14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sẽ được </a:t>
                  </a:r>
                  <a:r>
                    <a:rPr lang="en-US" sz="1400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Kaifa</a:t>
                  </a:r>
                  <a:r>
                    <a:rPr lang="en-US" sz="14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điều chỉnh.</a:t>
                  </a:r>
                </a:p>
              </p:txBody>
            </p: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689113" y="4164124"/>
                  <a:ext cx="13252" cy="200637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9" name="TextBox 48"/>
            <p:cNvSpPr txBox="1"/>
            <p:nvPr/>
          </p:nvSpPr>
          <p:spPr>
            <a:xfrm>
              <a:off x="133941" y="4543639"/>
              <a:ext cx="14741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u="sng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 án 2: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33351" y="5200650"/>
              <a:ext cx="14864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Kaifa</a:t>
              </a: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điều chỉnh lại cách nhập BOM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036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281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執行時間及解決方案說明</a:t>
            </a:r>
            <a:endParaRPr lang="en-US" altLang="zh-TW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642" y="2062911"/>
            <a:ext cx="8210307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解決方案說明 </a:t>
            </a:r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同一 </a:t>
            </a:r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TW" alt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中物料代碼重複</a:t>
            </a:r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 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196642" y="2532788"/>
            <a:ext cx="11823907" cy="1809628"/>
            <a:chOff x="196642" y="2532788"/>
            <a:chExt cx="11823907" cy="1809628"/>
          </a:xfrm>
        </p:grpSpPr>
        <p:grpSp>
          <p:nvGrpSpPr>
            <p:cNvPr id="47" name="Group 46"/>
            <p:cNvGrpSpPr/>
            <p:nvPr/>
          </p:nvGrpSpPr>
          <p:grpSpPr>
            <a:xfrm>
              <a:off x="196642" y="2532788"/>
              <a:ext cx="11823907" cy="1809628"/>
              <a:chOff x="424847" y="7589765"/>
              <a:chExt cx="11133169" cy="1809628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424847" y="7589765"/>
                <a:ext cx="11133169" cy="18096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" name="Group 40"/>
              <p:cNvGrpSpPr/>
              <p:nvPr/>
            </p:nvGrpSpPr>
            <p:grpSpPr>
              <a:xfrm>
                <a:off x="1764867" y="7748084"/>
                <a:ext cx="9719613" cy="1640622"/>
                <a:chOff x="674405" y="2375351"/>
                <a:chExt cx="10430915" cy="1640622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877541" y="2386037"/>
                  <a:ext cx="10227779" cy="1548289"/>
                  <a:chOff x="904046" y="2386037"/>
                  <a:chExt cx="10227779" cy="1548289"/>
                </a:xfrm>
              </p:grpSpPr>
              <p:pic>
                <p:nvPicPr>
                  <p:cNvPr id="45" name="Picture 44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904046" y="2386037"/>
                    <a:ext cx="10227779" cy="809625"/>
                  </a:xfrm>
                  <a:prstGeom prst="rect">
                    <a:avLst/>
                  </a:prstGeom>
                </p:spPr>
              </p:pic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904046" y="3195662"/>
                    <a:ext cx="10227779" cy="738664"/>
                  </a:xfrm>
                  <a:prstGeom prst="rect">
                    <a:avLst/>
                  </a:prstGeom>
                  <a:noFill/>
                  <a:ln>
                    <a:solidFill>
                      <a:srgbClr val="00B05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buFont typeface="Wingdings" panose="05000000000000000000" pitchFamily="2" charset="2"/>
                      <a:buChar char="q"/>
                    </a:pP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PLM 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系統中，</a:t>
                    </a:r>
                    <a:r>
                      <a: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序號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欄位不允許儲存重複值。</a:t>
                    </a:r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marL="285750" indent="-285750">
                      <a:buFont typeface="Wingdings" panose="05000000000000000000" pitchFamily="2" charset="2"/>
                      <a:buChar char="q"/>
                    </a:pPr>
                    <a:r>
                      <a: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序號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僅允許以 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、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20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、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30……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的</a:t>
                    </a:r>
                    <a:r>
                      <a: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格式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調整，不可設為 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、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12……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，其目的為與 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ERP 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系統中 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BOMMD 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資料表的主鍵 </a:t>
                    </a:r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MD002 </a:t>
                    </a:r>
                    <a:r>
                      <a: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進行同步。</a:t>
                    </a:r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44" name="Straight Connector 43"/>
                <p:cNvCxnSpPr/>
                <p:nvPr/>
              </p:nvCxnSpPr>
              <p:spPr>
                <a:xfrm>
                  <a:off x="674405" y="2375351"/>
                  <a:ext cx="0" cy="164062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8" name="TextBox 47"/>
            <p:cNvSpPr txBox="1"/>
            <p:nvPr/>
          </p:nvSpPr>
          <p:spPr>
            <a:xfrm>
              <a:off x="196642" y="2628036"/>
              <a:ext cx="1474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方案一</a:t>
              </a:r>
              <a:r>
                <a:rPr lang="en-US" sz="16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96642" y="3201055"/>
              <a:ext cx="13450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參考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PLM </a:t>
              </a:r>
              <a:r>
                <a:rPr lang="zh-CN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顧問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的做法及建議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133349" y="4492358"/>
            <a:ext cx="11887199" cy="2194192"/>
            <a:chOff x="133349" y="4492358"/>
            <a:chExt cx="11887199" cy="2322576"/>
          </a:xfrm>
        </p:grpSpPr>
        <p:grpSp>
          <p:nvGrpSpPr>
            <p:cNvPr id="12" name="Group 11"/>
            <p:cNvGrpSpPr/>
            <p:nvPr/>
          </p:nvGrpSpPr>
          <p:grpSpPr>
            <a:xfrm>
              <a:off x="133349" y="4492358"/>
              <a:ext cx="11887199" cy="2322576"/>
              <a:chOff x="0" y="7139040"/>
              <a:chExt cx="11643360" cy="232257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0" y="7139040"/>
                <a:ext cx="11643360" cy="23225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/>
              <p:cNvGrpSpPr/>
              <p:nvPr/>
            </p:nvGrpSpPr>
            <p:grpSpPr>
              <a:xfrm>
                <a:off x="1474120" y="7392166"/>
                <a:ext cx="9692143" cy="2006379"/>
                <a:chOff x="689113" y="4164124"/>
                <a:chExt cx="10416207" cy="2006379"/>
              </a:xfrm>
            </p:grpSpPr>
            <p:pic>
              <p:nvPicPr>
                <p:cNvPr id="35" name="Picture 34"/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29934"/>
                <a:stretch/>
              </p:blipFill>
              <p:spPr>
                <a:xfrm>
                  <a:off x="877541" y="4164124"/>
                  <a:ext cx="10121763" cy="1004224"/>
                </a:xfrm>
                <a:prstGeom prst="rect">
                  <a:avLst/>
                </a:prstGeom>
              </p:spPr>
            </p:pic>
            <p:sp>
              <p:nvSpPr>
                <p:cNvPr id="36" name="TextBox 35"/>
                <p:cNvSpPr txBox="1"/>
                <p:nvPr/>
              </p:nvSpPr>
              <p:spPr>
                <a:xfrm>
                  <a:off x="877541" y="5305813"/>
                  <a:ext cx="10227779" cy="3257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1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刪除一筆重複的 </a:t>
                  </a:r>
                  <a:r>
                    <a:rPr lang="zh-CN" altLang="en-US" sz="1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原物料</a:t>
                  </a:r>
                  <a:r>
                    <a:rPr lang="en-US" altLang="zh-TW" sz="1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TW" altLang="en-US" sz="1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後，調整 其餘 </a:t>
                  </a:r>
                  <a:r>
                    <a:rPr lang="zh-CN" altLang="en-US" sz="1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原物料</a:t>
                  </a:r>
                  <a:r>
                    <a:rPr lang="zh-TW" altLang="en-US" sz="1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。</a:t>
                  </a:r>
                  <a:endParaRPr lang="en-US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1619509" y="5716930"/>
                  <a:ext cx="5526691" cy="325785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q"/>
                  </a:pPr>
                  <a:r>
                    <a:rPr lang="zh-TW" altLang="en-US" sz="14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用量、分母及損耗率將由 </a:t>
                  </a:r>
                  <a:r>
                    <a:rPr lang="en-US" altLang="zh-TW" sz="1400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KaiFa</a:t>
                  </a:r>
                  <a:r>
                    <a:rPr lang="en-US" altLang="zh-TW" sz="14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TW" altLang="en-US" sz="14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進行調整。</a:t>
                  </a:r>
                  <a:endParaRPr lang="en-US" sz="1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689113" y="4164124"/>
                  <a:ext cx="13252" cy="200637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9" name="TextBox 48"/>
            <p:cNvSpPr txBox="1"/>
            <p:nvPr/>
          </p:nvSpPr>
          <p:spPr>
            <a:xfrm>
              <a:off x="133941" y="4543639"/>
              <a:ext cx="1474120" cy="3583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方案二</a:t>
              </a:r>
              <a:endPara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33351" y="5200650"/>
              <a:ext cx="1486450" cy="879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Kaifa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調整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BOM 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輸入方式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A328138-C0F4-432B-A729-C95042FAEEF2}"/>
              </a:ext>
            </a:extLst>
          </p:cNvPr>
          <p:cNvSpPr txBox="1"/>
          <p:nvPr/>
        </p:nvSpPr>
        <p:spPr>
          <a:xfrm>
            <a:off x="629130" y="713919"/>
            <a:ext cx="82103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測試時間</a:t>
            </a:r>
            <a:r>
              <a:rPr 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測試部門  </a:t>
            </a:r>
            <a:r>
              <a: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(ECN </a:t>
            </a: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單據</a:t>
            </a:r>
            <a:r>
              <a: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):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從 </a:t>
            </a:r>
            <a:r>
              <a:rPr 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2026/01/19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至</a:t>
            </a:r>
            <a:r>
              <a:rPr 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2026/01/30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INV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從 </a:t>
            </a:r>
            <a:r>
              <a:rPr 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2026/01/26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至</a:t>
            </a:r>
            <a:r>
              <a:rPr 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2026/02/07</a:t>
            </a:r>
          </a:p>
        </p:txBody>
      </p:sp>
    </p:spTree>
    <p:extLst>
      <p:ext uri="{BB962C8B-B14F-4D97-AF65-F5344CB8AC3E}">
        <p14:creationId xmlns:p14="http://schemas.microsoft.com/office/powerpoint/2010/main" val="2100797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2939" y="131676"/>
            <a:ext cx="1073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LUỒNG XỬ LÝ ECN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QUA SERVICES -1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299" y="850545"/>
            <a:ext cx="1517047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35206" y="1163705"/>
            <a:ext cx="11573574" cy="5195696"/>
            <a:chOff x="135206" y="1163705"/>
            <a:chExt cx="11573574" cy="5195696"/>
          </a:xfrm>
        </p:grpSpPr>
        <p:sp>
          <p:nvSpPr>
            <p:cNvPr id="11" name="Oval 10"/>
            <p:cNvSpPr/>
            <p:nvPr/>
          </p:nvSpPr>
          <p:spPr>
            <a:xfrm>
              <a:off x="135206" y="1979800"/>
              <a:ext cx="1169485" cy="7968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Bắt đầu</a:t>
              </a:r>
            </a:p>
          </p:txBody>
        </p:sp>
        <p:cxnSp>
          <p:nvCxnSpPr>
            <p:cNvPr id="12" name="Straight Arrow Connector 11"/>
            <p:cNvCxnSpPr>
              <a:stCxn id="11" idx="6"/>
              <a:endCxn id="13" idx="1"/>
            </p:cNvCxnSpPr>
            <p:nvPr/>
          </p:nvCxnSpPr>
          <p:spPr>
            <a:xfrm flipV="1">
              <a:off x="1304691" y="2372421"/>
              <a:ext cx="472071" cy="58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Diamond 12"/>
            <p:cNvSpPr/>
            <p:nvPr/>
          </p:nvSpPr>
          <p:spPr>
            <a:xfrm>
              <a:off x="1776762" y="1728440"/>
              <a:ext cx="2109440" cy="1287962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 tra kết nối với DB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887346" y="5545362"/>
              <a:ext cx="1888272" cy="81403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 thúc</a:t>
              </a:r>
            </a:p>
          </p:txBody>
        </p:sp>
        <p:cxnSp>
          <p:nvCxnSpPr>
            <p:cNvPr id="15" name="Straight Arrow Connector 14"/>
            <p:cNvCxnSpPr>
              <a:stCxn id="13" idx="2"/>
              <a:endCxn id="14" idx="0"/>
            </p:cNvCxnSpPr>
            <p:nvPr/>
          </p:nvCxnSpPr>
          <p:spPr>
            <a:xfrm>
              <a:off x="2831482" y="3016402"/>
              <a:ext cx="0" cy="2528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Diamond 15"/>
            <p:cNvSpPr/>
            <p:nvPr/>
          </p:nvSpPr>
          <p:spPr>
            <a:xfrm>
              <a:off x="6869151" y="1728440"/>
              <a:ext cx="2010936" cy="1287962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 tra phiếu đó có thay đổi INV </a:t>
              </a:r>
            </a:p>
          </p:txBody>
        </p:sp>
        <p:sp>
          <p:nvSpPr>
            <p:cNvPr id="17" name="Diamond 16"/>
            <p:cNvSpPr/>
            <p:nvPr/>
          </p:nvSpPr>
          <p:spPr>
            <a:xfrm>
              <a:off x="9367024" y="1728439"/>
              <a:ext cx="2341756" cy="1282388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 tra phiếu đó có thay đổi BOM </a:t>
              </a:r>
            </a:p>
          </p:txBody>
        </p:sp>
        <p:cxnSp>
          <p:nvCxnSpPr>
            <p:cNvPr id="18" name="Straight Arrow Connector 17"/>
            <p:cNvCxnSpPr>
              <a:stCxn id="13" idx="3"/>
              <a:endCxn id="26" idx="1"/>
            </p:cNvCxnSpPr>
            <p:nvPr/>
          </p:nvCxnSpPr>
          <p:spPr>
            <a:xfrm flipV="1">
              <a:off x="3886202" y="2364057"/>
              <a:ext cx="637478" cy="8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26" idx="3"/>
              <a:endCxn id="16" idx="1"/>
            </p:cNvCxnSpPr>
            <p:nvPr/>
          </p:nvCxnSpPr>
          <p:spPr>
            <a:xfrm>
              <a:off x="6534616" y="2364057"/>
              <a:ext cx="334535" cy="8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7034560" y="3375313"/>
              <a:ext cx="1680117" cy="10036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 hiện Services – </a:t>
              </a:r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INV 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682975" y="3375313"/>
              <a:ext cx="1680117" cy="10036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 hiện Services - BOM</a:t>
              </a:r>
            </a:p>
          </p:txBody>
        </p:sp>
        <p:cxnSp>
          <p:nvCxnSpPr>
            <p:cNvPr id="22" name="Straight Arrow Connector 21"/>
            <p:cNvCxnSpPr>
              <a:stCxn id="16" idx="3"/>
              <a:endCxn id="17" idx="1"/>
            </p:cNvCxnSpPr>
            <p:nvPr/>
          </p:nvCxnSpPr>
          <p:spPr>
            <a:xfrm flipV="1">
              <a:off x="8880087" y="2369633"/>
              <a:ext cx="486937" cy="2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6" idx="2"/>
              <a:endCxn id="20" idx="0"/>
            </p:cNvCxnSpPr>
            <p:nvPr/>
          </p:nvCxnSpPr>
          <p:spPr>
            <a:xfrm>
              <a:off x="7874619" y="3016402"/>
              <a:ext cx="0" cy="3589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7" idx="2"/>
              <a:endCxn id="21" idx="0"/>
            </p:cNvCxnSpPr>
            <p:nvPr/>
          </p:nvCxnSpPr>
          <p:spPr>
            <a:xfrm flipH="1">
              <a:off x="10523034" y="3010827"/>
              <a:ext cx="14868" cy="3644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74"/>
            <p:cNvCxnSpPr>
              <a:stCxn id="17" idx="3"/>
              <a:endCxn id="26" idx="0"/>
            </p:cNvCxnSpPr>
            <p:nvPr/>
          </p:nvCxnSpPr>
          <p:spPr>
            <a:xfrm flipH="1" flipV="1">
              <a:off x="5529148" y="1728439"/>
              <a:ext cx="6179632" cy="641194"/>
            </a:xfrm>
            <a:prstGeom prst="bentConnector4">
              <a:avLst>
                <a:gd name="adj1" fmla="val -3699"/>
                <a:gd name="adj2" fmla="val 135652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Diamond 25"/>
            <p:cNvSpPr/>
            <p:nvPr/>
          </p:nvSpPr>
          <p:spPr>
            <a:xfrm>
              <a:off x="4523680" y="1728439"/>
              <a:ext cx="2010936" cy="1271235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 tra có đơn ECN ở trạng thái 0</a:t>
              </a:r>
            </a:p>
          </p:txBody>
        </p:sp>
        <p:cxnSp>
          <p:nvCxnSpPr>
            <p:cNvPr id="27" name="Straight Arrow Connector 87"/>
            <p:cNvCxnSpPr>
              <a:stCxn id="26" idx="2"/>
              <a:endCxn id="14" idx="6"/>
            </p:cNvCxnSpPr>
            <p:nvPr/>
          </p:nvCxnSpPr>
          <p:spPr>
            <a:xfrm rot="5400000">
              <a:off x="3176029" y="3599263"/>
              <a:ext cx="2952708" cy="175353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935919" y="2000301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  <a:endParaRPr lang="en-GB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48657" y="1959207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  <a:endParaRPr lang="en-GB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879421" y="2976688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  <a:endParaRPr lang="en-GB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521641" y="2952920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  <a:endParaRPr lang="en-GB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19912" y="3877118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endParaRPr lang="en-GB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8781" y="4009591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endParaRPr lang="en-GB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860414" y="2000301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endParaRPr lang="en-GB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109766" y="1163705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endParaRPr lang="en-GB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6096000" y="4507479"/>
            <a:ext cx="5751240" cy="2218845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dirty="0">
                <a:solidFill>
                  <a:srgbClr val="FFFF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Trạng thái của ECN (</a:t>
            </a:r>
            <a:r>
              <a:rPr lang="en-US" dirty="0" err="1">
                <a:solidFill>
                  <a:srgbClr val="FFFF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ECN_Test</a:t>
            </a:r>
            <a:r>
              <a:rPr lang="en-US" dirty="0">
                <a:solidFill>
                  <a:srgbClr val="FFFF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0: Trạng thái mặc định.</a:t>
            </a:r>
          </a:p>
          <a:p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1: Truyền sang ERP thành công.</a:t>
            </a:r>
          </a:p>
          <a:p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2: Truyền dữ liệu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INVTL, INVTM, INVMB vào ERP bị lỗi.</a:t>
            </a:r>
          </a:p>
          <a:p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3: Truyền dữ liệu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BOMTA vào ERP bị lỗi.</a:t>
            </a:r>
          </a:p>
          <a:p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4: Truyền dữ liệu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BOMTB, BOMMC vào ERP bị lỗi.</a:t>
            </a:r>
          </a:p>
          <a:p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5: Truyền dữ liệu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BOMTC, BOMMD vào ERP bị lỗi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7504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672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透過</a:t>
            </a:r>
            <a:r>
              <a:rPr 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SERVICES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處理 </a:t>
            </a:r>
            <a:r>
              <a:rPr lang="en-US" altLang="zh-CN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的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流程 </a:t>
            </a:r>
            <a:r>
              <a:rPr lang="en-US" altLang="zh-CN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-1</a:t>
            </a:r>
            <a:endParaRPr lang="en-US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299" y="850545"/>
            <a:ext cx="1517047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35206" y="1163705"/>
            <a:ext cx="11573574" cy="5195696"/>
            <a:chOff x="135206" y="1163705"/>
            <a:chExt cx="11573574" cy="5195696"/>
          </a:xfrm>
        </p:grpSpPr>
        <p:sp>
          <p:nvSpPr>
            <p:cNvPr id="11" name="Oval 10"/>
            <p:cNvSpPr/>
            <p:nvPr/>
          </p:nvSpPr>
          <p:spPr>
            <a:xfrm>
              <a:off x="135206" y="1979800"/>
              <a:ext cx="1169485" cy="7968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開始</a:t>
              </a:r>
              <a:endParaRPr lang="en-US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Arrow Connector 11"/>
            <p:cNvCxnSpPr>
              <a:stCxn id="11" idx="6"/>
              <a:endCxn id="13" idx="1"/>
            </p:cNvCxnSpPr>
            <p:nvPr/>
          </p:nvCxnSpPr>
          <p:spPr>
            <a:xfrm flipV="1">
              <a:off x="1304691" y="2372421"/>
              <a:ext cx="472071" cy="58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Diamond 12"/>
            <p:cNvSpPr/>
            <p:nvPr/>
          </p:nvSpPr>
          <p:spPr>
            <a:xfrm>
              <a:off x="1776762" y="1728440"/>
              <a:ext cx="2109440" cy="1287962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檢查與資料庫的連線</a:t>
              </a:r>
              <a:endParaRPr lang="en-US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1887346" y="5545362"/>
              <a:ext cx="1888272" cy="81403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結束</a:t>
              </a:r>
              <a:endParaRPr lang="en-US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Arrow Connector 14"/>
            <p:cNvCxnSpPr>
              <a:stCxn id="13" idx="2"/>
              <a:endCxn id="14" idx="0"/>
            </p:cNvCxnSpPr>
            <p:nvPr/>
          </p:nvCxnSpPr>
          <p:spPr>
            <a:xfrm>
              <a:off x="2831482" y="3016402"/>
              <a:ext cx="0" cy="2528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Diamond 15"/>
            <p:cNvSpPr/>
            <p:nvPr/>
          </p:nvSpPr>
          <p:spPr>
            <a:xfrm>
              <a:off x="6869151" y="1728440"/>
              <a:ext cx="2010936" cy="1287962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檢查該表單是否有 </a:t>
              </a:r>
              <a:r>
                <a:rPr lang="en-US" altLang="zh-TW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INV </a:t>
              </a:r>
              <a:r>
                <a:rPr lang="zh-TW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變更</a:t>
              </a:r>
              <a:endParaRPr lang="en-US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Diamond 16"/>
            <p:cNvSpPr/>
            <p:nvPr/>
          </p:nvSpPr>
          <p:spPr>
            <a:xfrm>
              <a:off x="9367024" y="1728439"/>
              <a:ext cx="2341756" cy="1282388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檢查該表單是否有 </a:t>
              </a:r>
              <a:r>
                <a:rPr lang="en-US" altLang="zh-CN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 </a:t>
              </a:r>
              <a:r>
                <a:rPr lang="zh-CN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變更</a:t>
              </a:r>
              <a:endParaRPr lang="en-US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8" name="Straight Arrow Connector 17"/>
            <p:cNvCxnSpPr>
              <a:cxnSpLocks/>
              <a:stCxn id="13" idx="3"/>
              <a:endCxn id="26" idx="1"/>
            </p:cNvCxnSpPr>
            <p:nvPr/>
          </p:nvCxnSpPr>
          <p:spPr>
            <a:xfrm flipV="1">
              <a:off x="3886202" y="2364057"/>
              <a:ext cx="523017" cy="8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  <a:stCxn id="26" idx="3"/>
              <a:endCxn id="16" idx="1"/>
            </p:cNvCxnSpPr>
            <p:nvPr/>
          </p:nvCxnSpPr>
          <p:spPr>
            <a:xfrm>
              <a:off x="6518659" y="2364057"/>
              <a:ext cx="350492" cy="8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7034560" y="3375313"/>
              <a:ext cx="1680117" cy="10036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執行 </a:t>
              </a:r>
              <a:r>
                <a:rPr 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Services – INV (</a:t>
              </a:r>
              <a:r>
                <a:rPr lang="zh-CN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完善中</a:t>
              </a:r>
              <a:r>
                <a:rPr 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682975" y="3375313"/>
              <a:ext cx="1680117" cy="10036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執行 </a:t>
              </a:r>
              <a:r>
                <a:rPr 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Services - BOM</a:t>
              </a:r>
            </a:p>
          </p:txBody>
        </p:sp>
        <p:cxnSp>
          <p:nvCxnSpPr>
            <p:cNvPr id="22" name="Straight Arrow Connector 21"/>
            <p:cNvCxnSpPr>
              <a:stCxn id="16" idx="3"/>
              <a:endCxn id="17" idx="1"/>
            </p:cNvCxnSpPr>
            <p:nvPr/>
          </p:nvCxnSpPr>
          <p:spPr>
            <a:xfrm flipV="1">
              <a:off x="8880087" y="2369633"/>
              <a:ext cx="486937" cy="2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6" idx="2"/>
              <a:endCxn id="20" idx="0"/>
            </p:cNvCxnSpPr>
            <p:nvPr/>
          </p:nvCxnSpPr>
          <p:spPr>
            <a:xfrm>
              <a:off x="7874619" y="3016402"/>
              <a:ext cx="0" cy="3589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7" idx="2"/>
              <a:endCxn id="21" idx="0"/>
            </p:cNvCxnSpPr>
            <p:nvPr/>
          </p:nvCxnSpPr>
          <p:spPr>
            <a:xfrm flipH="1">
              <a:off x="10523034" y="3010827"/>
              <a:ext cx="14868" cy="3644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74"/>
            <p:cNvCxnSpPr>
              <a:cxnSpLocks/>
              <a:stCxn id="17" idx="3"/>
              <a:endCxn id="26" idx="0"/>
            </p:cNvCxnSpPr>
            <p:nvPr/>
          </p:nvCxnSpPr>
          <p:spPr>
            <a:xfrm flipH="1" flipV="1">
              <a:off x="5463939" y="1728439"/>
              <a:ext cx="6244841" cy="641194"/>
            </a:xfrm>
            <a:prstGeom prst="bentConnector4">
              <a:avLst>
                <a:gd name="adj1" fmla="val -3661"/>
                <a:gd name="adj2" fmla="val 135652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Diamond 25"/>
            <p:cNvSpPr/>
            <p:nvPr/>
          </p:nvSpPr>
          <p:spPr>
            <a:xfrm>
              <a:off x="4409219" y="1728439"/>
              <a:ext cx="2109440" cy="1271235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檢查是否存在狀態為 </a:t>
              </a:r>
              <a:r>
                <a:rPr lang="en-US" altLang="zh-TW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0 </a:t>
              </a:r>
              <a:r>
                <a:rPr lang="zh-TW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的 </a:t>
              </a:r>
              <a:r>
                <a:rPr lang="en-US" altLang="zh-TW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 </a:t>
              </a:r>
              <a:r>
                <a:rPr lang="zh-TW" altLang="en-US" sz="1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表單</a:t>
              </a:r>
              <a:endParaRPr lang="en-US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7" name="Straight Arrow Connector 87"/>
            <p:cNvCxnSpPr>
              <a:cxnSpLocks/>
              <a:stCxn id="26" idx="2"/>
              <a:endCxn id="14" idx="6"/>
            </p:cNvCxnSpPr>
            <p:nvPr/>
          </p:nvCxnSpPr>
          <p:spPr>
            <a:xfrm rot="5400000">
              <a:off x="3143425" y="3631868"/>
              <a:ext cx="2952708" cy="168832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935919" y="2000301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Yes</a:t>
              </a:r>
              <a:endParaRPr lang="en-GB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48657" y="1959207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Yes</a:t>
              </a:r>
              <a:endParaRPr lang="en-GB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879421" y="2976688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Yes</a:t>
              </a:r>
              <a:endParaRPr lang="en-GB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521641" y="2952920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Yes</a:t>
              </a:r>
              <a:endParaRPr lang="en-GB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19912" y="3877118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No</a:t>
              </a:r>
              <a:endParaRPr lang="en-GB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8781" y="4009591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No</a:t>
              </a:r>
              <a:endParaRPr lang="en-GB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860414" y="2000301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No</a:t>
              </a:r>
              <a:endParaRPr lang="en-GB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109766" y="1163705"/>
              <a:ext cx="506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No</a:t>
              </a:r>
              <a:endParaRPr lang="en-GB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6297958" y="4644968"/>
            <a:ext cx="5651194" cy="207299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表單的狀態 </a:t>
            </a:r>
            <a:r>
              <a:rPr lang="en-US" dirty="0">
                <a:solidFill>
                  <a:srgbClr val="FFFF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FFFF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ECN_Test</a:t>
            </a:r>
            <a:r>
              <a:rPr lang="en-US" dirty="0">
                <a:solidFill>
                  <a:srgbClr val="FFFF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0: </a:t>
            </a:r>
            <a:r>
              <a:rPr lang="zh-CN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預設狀態</a:t>
            </a:r>
            <a:endParaRPr lang="en-US" sz="1700" dirty="0">
              <a:solidFill>
                <a:schemeClr val="bg2">
                  <a:lumMod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1: </a:t>
            </a:r>
            <a:r>
              <a:rPr lang="zh-CN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成功拋轉至</a:t>
            </a:r>
            <a:endParaRPr lang="en-US" sz="1700" dirty="0">
              <a:solidFill>
                <a:schemeClr val="bg2">
                  <a:lumMod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3: </a:t>
            </a:r>
            <a:r>
              <a:rPr lang="zh-CN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拋轉 </a:t>
            </a:r>
            <a:r>
              <a:rPr lang="en-US" altLang="zh-TW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BOMTA </a:t>
            </a:r>
            <a:r>
              <a:rPr lang="zh-TW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表資料至 </a:t>
            </a:r>
            <a:r>
              <a:rPr lang="en-US" altLang="zh-TW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時發生錯誤</a:t>
            </a:r>
            <a:endParaRPr lang="en-US" sz="1700" dirty="0">
              <a:solidFill>
                <a:schemeClr val="bg2">
                  <a:lumMod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4: </a:t>
            </a:r>
            <a:r>
              <a:rPr lang="zh-CN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拋轉 </a:t>
            </a:r>
            <a:r>
              <a:rPr lang="en-US" altLang="zh-TW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BOMTB</a:t>
            </a:r>
            <a:r>
              <a:rPr lang="zh-TW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BOMMC </a:t>
            </a:r>
            <a:r>
              <a:rPr lang="zh-TW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資料表資料至 </a:t>
            </a:r>
            <a:r>
              <a:rPr lang="en-US" altLang="zh-TW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發生錯誤</a:t>
            </a:r>
            <a:endParaRPr lang="en-US" sz="1700" dirty="0">
              <a:solidFill>
                <a:schemeClr val="bg2">
                  <a:lumMod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5:</a:t>
            </a:r>
            <a:r>
              <a:rPr lang="zh-CN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拋轉 </a:t>
            </a:r>
            <a:r>
              <a:rPr lang="en-US" altLang="zh-TW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BOMTC</a:t>
            </a:r>
            <a:r>
              <a:rPr lang="zh-CN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BOMMD</a:t>
            </a:r>
            <a:r>
              <a:rPr lang="zh-TW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資料表資料至 </a:t>
            </a:r>
            <a:r>
              <a:rPr lang="en-US" altLang="zh-TW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7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發生錯誤</a:t>
            </a:r>
            <a:endParaRPr lang="en-US" altLang="zh-TW" sz="1700" dirty="0">
              <a:solidFill>
                <a:schemeClr val="bg2">
                  <a:lumMod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81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1" y="131676"/>
            <a:ext cx="10635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LUỒNG XỬ LÝ ECN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QUA SERVICES -2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3114" y="867445"/>
            <a:ext cx="1974586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 </a:t>
            </a:r>
            <a:r>
              <a:rPr lang="en-US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- INV</a:t>
            </a:r>
            <a:endParaRPr lang="vi-VN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144362" y="3320316"/>
            <a:ext cx="10083525" cy="3364427"/>
            <a:chOff x="668874" y="3277133"/>
            <a:chExt cx="10083525" cy="3364427"/>
          </a:xfrm>
        </p:grpSpPr>
        <p:sp>
          <p:nvSpPr>
            <p:cNvPr id="39" name="Rectangle 38"/>
            <p:cNvSpPr/>
            <p:nvPr/>
          </p:nvSpPr>
          <p:spPr>
            <a:xfrm>
              <a:off x="668874" y="3972548"/>
              <a:ext cx="1598661" cy="5854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ln w="0">
                    <a:noFill/>
                  </a:ln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ECN_Test</a:t>
              </a:r>
              <a:br>
                <a:rPr lang="en-US" sz="1200">
                  <a:ln w="0">
                    <a:noFill/>
                  </a:ln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200">
                  <a:ln w="0">
                    <a:noFill/>
                  </a:ln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(lấy các Phiếu có trạng thái là 0)</a:t>
              </a:r>
            </a:p>
          </p:txBody>
        </p:sp>
        <p:cxnSp>
          <p:nvCxnSpPr>
            <p:cNvPr id="40" name="Straight Arrow Connector 39"/>
            <p:cNvCxnSpPr>
              <a:stCxn id="39" idx="3"/>
              <a:endCxn id="41" idx="1"/>
            </p:cNvCxnSpPr>
            <p:nvPr/>
          </p:nvCxnSpPr>
          <p:spPr>
            <a:xfrm>
              <a:off x="2267535" y="4265260"/>
              <a:ext cx="194963" cy="58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Diamond 40"/>
            <p:cNvSpPr/>
            <p:nvPr/>
          </p:nvSpPr>
          <p:spPr>
            <a:xfrm>
              <a:off x="2462498" y="3695456"/>
              <a:ext cx="2323174" cy="1151354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 tra có cần thực hiện phiếu INVI24, INVI02</a:t>
              </a:r>
              <a:endParaRPr lang="en-GB" sz="12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Straight Arrow Connector 41"/>
            <p:cNvCxnSpPr>
              <a:stCxn id="41" idx="3"/>
            </p:cNvCxnSpPr>
            <p:nvPr/>
          </p:nvCxnSpPr>
          <p:spPr>
            <a:xfrm flipV="1">
              <a:off x="4785672" y="4265261"/>
              <a:ext cx="285255" cy="58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41" idx="2"/>
            </p:cNvCxnSpPr>
            <p:nvPr/>
          </p:nvCxnSpPr>
          <p:spPr>
            <a:xfrm>
              <a:off x="3624085" y="4846810"/>
              <a:ext cx="0" cy="1517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173"/>
            <p:cNvCxnSpPr>
              <a:stCxn id="62" idx="2"/>
            </p:cNvCxnSpPr>
            <p:nvPr/>
          </p:nvCxnSpPr>
          <p:spPr>
            <a:xfrm rot="5400000" flipH="1">
              <a:off x="4005703" y="1928770"/>
              <a:ext cx="1251626" cy="6560294"/>
            </a:xfrm>
            <a:prstGeom prst="bentConnector4">
              <a:avLst>
                <a:gd name="adj1" fmla="val -40668"/>
                <a:gd name="adj2" fmla="val 10008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385700" y="6364561"/>
              <a:ext cx="27766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Cập nhật trạng thái của phiếu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ECN_Test</a:t>
              </a:r>
              <a:endParaRPr lang="en-GB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661254" y="3933681"/>
              <a:ext cx="483469" cy="271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  <a:endParaRPr lang="en-GB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701635" y="5322442"/>
              <a:ext cx="483469" cy="271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endParaRPr lang="en-GB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070927" y="3277133"/>
              <a:ext cx="5681472" cy="2557597"/>
              <a:chOff x="5106613" y="2272412"/>
              <a:chExt cx="6922682" cy="3400269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5106613" y="2272412"/>
                <a:ext cx="6922682" cy="3400269"/>
                <a:chOff x="4403520" y="1035929"/>
                <a:chExt cx="7251768" cy="3467770"/>
              </a:xfrm>
            </p:grpSpPr>
            <p:sp>
              <p:nvSpPr>
                <p:cNvPr id="62" name="Rectangle 61"/>
                <p:cNvSpPr/>
                <p:nvPr/>
              </p:nvSpPr>
              <p:spPr>
                <a:xfrm>
                  <a:off x="4403520" y="1035929"/>
                  <a:ext cx="7251768" cy="3467770"/>
                </a:xfrm>
                <a:prstGeom prst="rect">
                  <a:avLst/>
                </a:prstGeom>
                <a:noFill/>
                <a:ln w="28575"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ln>
                        <a:solidFill>
                          <a:sysClr val="windowText" lastClr="000000"/>
                        </a:solidFill>
                      </a:ln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  <p:sp>
              <p:nvSpPr>
                <p:cNvPr id="63" name="Rectangle 62"/>
                <p:cNvSpPr/>
                <p:nvPr/>
              </p:nvSpPr>
              <p:spPr>
                <a:xfrm>
                  <a:off x="4550774" y="2548046"/>
                  <a:ext cx="2491663" cy="49832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  <a:sym typeface="+mn-ea"/>
                    </a:rPr>
                    <a:t>INVTL_Staging_ERP</a:t>
                  </a:r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4550774" y="3336449"/>
                  <a:ext cx="2507511" cy="49832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  <a:sym typeface="+mn-ea"/>
                    </a:rPr>
                    <a:t>INVTM_Staging_ERP</a:t>
                  </a:r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4550774" y="1155651"/>
                  <a:ext cx="3397451" cy="876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Thông tin được lấy từ PLM và </a:t>
                  </a:r>
                  <a:r>
                    <a:rPr lang="en-US" sz="1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bảng</a:t>
                  </a: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INVMB của ERP để tạo tra các </a:t>
                  </a:r>
                  <a:r>
                    <a:rPr lang="en-US" sz="1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bảng</a:t>
                  </a: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dưới</a:t>
                  </a:r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8815685" y="2480481"/>
                <a:ext cx="2980183" cy="2961376"/>
                <a:chOff x="8254948" y="1250912"/>
                <a:chExt cx="3121853" cy="3020164"/>
              </a:xfrm>
            </p:grpSpPr>
            <p:sp>
              <p:nvSpPr>
                <p:cNvPr id="53" name="Rectangle 52"/>
                <p:cNvSpPr/>
                <p:nvPr/>
              </p:nvSpPr>
              <p:spPr>
                <a:xfrm>
                  <a:off x="8254948" y="1250912"/>
                  <a:ext cx="3110062" cy="3020164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8516812" y="1829046"/>
                  <a:ext cx="2507511" cy="49832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ln w="0"/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INVMB</a:t>
                  </a:r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8516811" y="3369640"/>
                  <a:ext cx="2507511" cy="46791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  <a:sym typeface="+mn-ea"/>
                    </a:rPr>
                    <a:t>INVTM</a:t>
                  </a:r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8516811" y="2550829"/>
                  <a:ext cx="2507511" cy="517221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Microsoft JhengHei" panose="020B0604030504040204" pitchFamily="34" charset="-120"/>
                      <a:cs typeface="Times New Roman" panose="02020603050405020304" pitchFamily="18" charset="0"/>
                      <a:sym typeface="+mn-ea"/>
                    </a:rPr>
                    <a:t>INVTL</a:t>
                  </a:r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8254948" y="1323093"/>
                  <a:ext cx="3121853" cy="282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Tạo Phiếu INVI24 và cập nhật vào INVI02</a:t>
                  </a:r>
                </a:p>
              </p:txBody>
            </p:sp>
          </p:grpSp>
          <p:cxnSp>
            <p:nvCxnSpPr>
              <p:cNvPr id="6" name="Straight Arrow Connector 5"/>
              <p:cNvCxnSpPr>
                <a:stCxn id="64" idx="3"/>
                <a:endCxn id="55" idx="1"/>
              </p:cNvCxnSpPr>
              <p:nvPr/>
            </p:nvCxnSpPr>
            <p:spPr>
              <a:xfrm>
                <a:off x="7640902" y="4772466"/>
                <a:ext cx="1424762" cy="14907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>
                <a:stCxn id="63" idx="3"/>
                <a:endCxn id="58" idx="1"/>
              </p:cNvCxnSpPr>
              <p:nvPr/>
            </p:nvCxnSpPr>
            <p:spPr>
              <a:xfrm>
                <a:off x="7625773" y="3999409"/>
                <a:ext cx="1439891" cy="9262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>
                <a:stCxn id="63" idx="3"/>
                <a:endCxn id="54" idx="1"/>
              </p:cNvCxnSpPr>
              <p:nvPr/>
            </p:nvCxnSpPr>
            <p:spPr>
              <a:xfrm flipV="1">
                <a:off x="7625771" y="3291676"/>
                <a:ext cx="1439891" cy="70773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>
                <a:stCxn id="64" idx="3"/>
                <a:endCxn id="54" idx="1"/>
              </p:cNvCxnSpPr>
              <p:nvPr/>
            </p:nvCxnSpPr>
            <p:spPr>
              <a:xfrm flipV="1">
                <a:off x="7640901" y="3291676"/>
                <a:ext cx="1424763" cy="148079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784063" y="608269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0111">
                  <a:extLst>
                    <a:ext uri="{9D8B030D-6E8A-4147-A177-3AD203B41FA5}">
                      <a16:colId xmlns:a16="http://schemas.microsoft.com/office/drawing/2014/main" val="2990982293"/>
                    </a:ext>
                  </a:extLst>
                </a:gridCol>
                <a:gridCol w="4997889">
                  <a:extLst>
                    <a:ext uri="{9D8B030D-6E8A-4147-A177-3AD203B41FA5}">
                      <a16:colId xmlns:a16="http://schemas.microsoft.com/office/drawing/2014/main" val="337896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u="sng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ERP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u="sng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988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MB002(Tên SP) 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Tên sản phẩm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08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MB003(Quy cách)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Quy cách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991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MB068(Mã CĐ)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Mã công đoạn (chưa chọn được theo danh sách)</a:t>
                      </a:r>
                      <a:endParaRPr lang="en-US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031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MB025(TTinh SP)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Tự làm/mua ngoài (P/M/S/Y/F)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3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MB028(Ghi chú)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Mô tả về sản phẩm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571400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846727" y="2777490"/>
            <a:ext cx="24734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 1: Các cột ghi nhận thay đổi </a:t>
            </a:r>
          </a:p>
        </p:txBody>
      </p:sp>
    </p:spTree>
    <p:extLst>
      <p:ext uri="{BB962C8B-B14F-4D97-AF65-F5344CB8AC3E}">
        <p14:creationId xmlns:p14="http://schemas.microsoft.com/office/powerpoint/2010/main" val="1528986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/>
          <p:cNvSpPr txBox="1"/>
          <p:nvPr/>
        </p:nvSpPr>
        <p:spPr>
          <a:xfrm>
            <a:off x="303114" y="867445"/>
            <a:ext cx="1974586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 </a:t>
            </a:r>
            <a:r>
              <a:rPr lang="en-US" b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 INV</a:t>
            </a:r>
            <a:endParaRPr lang="vi-VN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144362" y="3320316"/>
            <a:ext cx="10083525" cy="3364427"/>
            <a:chOff x="668874" y="3277133"/>
            <a:chExt cx="10083525" cy="3364427"/>
          </a:xfrm>
        </p:grpSpPr>
        <p:sp>
          <p:nvSpPr>
            <p:cNvPr id="39" name="Rectangle 38"/>
            <p:cNvSpPr/>
            <p:nvPr/>
          </p:nvSpPr>
          <p:spPr>
            <a:xfrm>
              <a:off x="668874" y="3972548"/>
              <a:ext cx="1598661" cy="5854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ECN_Test</a:t>
              </a:r>
              <a:r>
                <a:rPr 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</a:br>
              <a:r>
                <a:rPr 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(</a:t>
              </a:r>
              <a:r>
                <a:rPr lang="zh-CN" alt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擷取狀態為 </a:t>
              </a:r>
              <a:r>
                <a:rPr lang="en-US" altLang="zh-CN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0 </a:t>
              </a:r>
              <a:r>
                <a:rPr lang="zh-CN" alt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的單據</a:t>
              </a:r>
              <a:r>
                <a:rPr 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)</a:t>
              </a:r>
            </a:p>
          </p:txBody>
        </p:sp>
        <p:cxnSp>
          <p:nvCxnSpPr>
            <p:cNvPr id="40" name="Straight Arrow Connector 39"/>
            <p:cNvCxnSpPr>
              <a:stCxn id="39" idx="3"/>
              <a:endCxn id="41" idx="1"/>
            </p:cNvCxnSpPr>
            <p:nvPr/>
          </p:nvCxnSpPr>
          <p:spPr>
            <a:xfrm>
              <a:off x="2267535" y="4265260"/>
              <a:ext cx="194963" cy="58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Diamond 40"/>
            <p:cNvSpPr/>
            <p:nvPr/>
          </p:nvSpPr>
          <p:spPr>
            <a:xfrm>
              <a:off x="2462498" y="3695456"/>
              <a:ext cx="2323174" cy="1151354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檢查是否要執行 </a:t>
              </a:r>
              <a:r>
                <a:rPr lang="en-US" sz="12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INVI24, INVI02 </a:t>
              </a:r>
              <a:r>
                <a:rPr lang="zh-CN" altLang="en-US" sz="12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單據</a:t>
              </a:r>
              <a:endParaRPr lang="en-GB" sz="12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42" name="Straight Arrow Connector 41"/>
            <p:cNvCxnSpPr>
              <a:stCxn id="41" idx="3"/>
            </p:cNvCxnSpPr>
            <p:nvPr/>
          </p:nvCxnSpPr>
          <p:spPr>
            <a:xfrm flipV="1">
              <a:off x="4785672" y="4265261"/>
              <a:ext cx="285255" cy="58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41" idx="2"/>
            </p:cNvCxnSpPr>
            <p:nvPr/>
          </p:nvCxnSpPr>
          <p:spPr>
            <a:xfrm>
              <a:off x="3624085" y="4846810"/>
              <a:ext cx="0" cy="1517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173"/>
            <p:cNvCxnSpPr>
              <a:stCxn id="62" idx="2"/>
            </p:cNvCxnSpPr>
            <p:nvPr/>
          </p:nvCxnSpPr>
          <p:spPr>
            <a:xfrm rot="5400000" flipH="1">
              <a:off x="4005703" y="1928770"/>
              <a:ext cx="1251626" cy="6560294"/>
            </a:xfrm>
            <a:prstGeom prst="bentConnector4">
              <a:avLst>
                <a:gd name="adj1" fmla="val -40668"/>
                <a:gd name="adj2" fmla="val 10008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385700" y="6364561"/>
              <a:ext cx="27766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更新 </a:t>
              </a:r>
              <a:r>
                <a:rPr lang="en-US" sz="1200" dirty="0" err="1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ECN_Test</a:t>
              </a:r>
              <a:r>
                <a:rPr lang="en-US" sz="12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zh-CN" altLang="en-US" sz="12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單據狀態</a:t>
              </a:r>
              <a:endParaRPr lang="en-GB" sz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661254" y="3933681"/>
              <a:ext cx="483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Yes</a:t>
              </a:r>
              <a:endParaRPr lang="en-GB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701635" y="5322442"/>
              <a:ext cx="483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No</a:t>
              </a:r>
              <a:endParaRPr lang="en-GB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070927" y="3277133"/>
              <a:ext cx="5681472" cy="2557597"/>
              <a:chOff x="5106613" y="2272412"/>
              <a:chExt cx="6922682" cy="3400269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5106613" y="2272412"/>
                <a:ext cx="6922682" cy="3400269"/>
                <a:chOff x="4403520" y="1035929"/>
                <a:chExt cx="7251768" cy="3467770"/>
              </a:xfrm>
            </p:grpSpPr>
            <p:sp>
              <p:nvSpPr>
                <p:cNvPr id="62" name="Rectangle 61"/>
                <p:cNvSpPr/>
                <p:nvPr/>
              </p:nvSpPr>
              <p:spPr>
                <a:xfrm>
                  <a:off x="4403520" y="1035929"/>
                  <a:ext cx="7251768" cy="3467770"/>
                </a:xfrm>
                <a:prstGeom prst="rect">
                  <a:avLst/>
                </a:prstGeom>
                <a:noFill/>
                <a:ln w="28575"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ln>
                        <a:solidFill>
                          <a:sysClr val="windowText" lastClr="000000"/>
                        </a:solidFill>
                      </a:ln>
                      <a:solidFill>
                        <a:sysClr val="windowText" lastClr="000000"/>
                      </a:solidFill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  <p:sp>
              <p:nvSpPr>
                <p:cNvPr id="63" name="Rectangle 62"/>
                <p:cNvSpPr/>
                <p:nvPr/>
              </p:nvSpPr>
              <p:spPr>
                <a:xfrm>
                  <a:off x="4550774" y="2548046"/>
                  <a:ext cx="2491663" cy="49832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ysClr val="windowText" lastClr="000000"/>
                      </a:solidFill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  <a:sym typeface="+mn-ea"/>
                    </a:rPr>
                    <a:t>INVTL_Staging_ERP</a:t>
                  </a:r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4550774" y="3336449"/>
                  <a:ext cx="2507511" cy="49832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ysClr val="windowText" lastClr="000000"/>
                      </a:solidFill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  <a:sym typeface="+mn-ea"/>
                    </a:rPr>
                    <a:t>INVTM_Staging_ERP</a:t>
                  </a:r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4550774" y="1155651"/>
                  <a:ext cx="3397451" cy="876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TW" altLang="en-US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以下各表係由 </a:t>
                  </a:r>
                  <a:r>
                    <a:rPr lang="en-US" altLang="zh-TW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PLM </a:t>
                  </a:r>
                  <a:r>
                    <a:rPr lang="zh-TW" altLang="en-US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與 </a:t>
                  </a:r>
                  <a:r>
                    <a:rPr lang="en-US" altLang="zh-TW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ERP </a:t>
                  </a:r>
                  <a:r>
                    <a:rPr lang="zh-TW" altLang="en-US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之 </a:t>
                  </a:r>
                  <a:r>
                    <a:rPr lang="en-US" altLang="zh-TW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INVMB </a:t>
                  </a:r>
                  <a:r>
                    <a:rPr lang="zh-TW" altLang="en-US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資料表所產生</a:t>
                  </a:r>
                  <a:endParaRPr 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8815685" y="2480481"/>
                <a:ext cx="2980183" cy="2961376"/>
                <a:chOff x="8254948" y="1250912"/>
                <a:chExt cx="3121853" cy="3020164"/>
              </a:xfrm>
            </p:grpSpPr>
            <p:sp>
              <p:nvSpPr>
                <p:cNvPr id="53" name="Rectangle 52"/>
                <p:cNvSpPr/>
                <p:nvPr/>
              </p:nvSpPr>
              <p:spPr>
                <a:xfrm>
                  <a:off x="8254948" y="1250912"/>
                  <a:ext cx="3110062" cy="3020164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8516812" y="1829046"/>
                  <a:ext cx="2507511" cy="49832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ln w="0"/>
                      <a:solidFill>
                        <a:schemeClr val="tx1"/>
                      </a:solidFill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INVMB</a:t>
                  </a:r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8516811" y="3369640"/>
                  <a:ext cx="2507511" cy="46791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ysClr val="windowText" lastClr="000000"/>
                      </a:solidFill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  <a:sym typeface="+mn-ea"/>
                    </a:rPr>
                    <a:t>INVTM</a:t>
                  </a:r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8516811" y="2550829"/>
                  <a:ext cx="2507511" cy="517221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ysClr val="windowText" lastClr="000000"/>
                      </a:solidFill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  <a:sym typeface="+mn-ea"/>
                    </a:rPr>
                    <a:t>INVTL</a:t>
                  </a:r>
                  <a:endPara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8254948" y="1323093"/>
                  <a:ext cx="3121853" cy="6259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建立 </a:t>
                  </a:r>
                  <a:r>
                    <a:rPr lang="en-US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INVI24 </a:t>
                  </a:r>
                  <a:r>
                    <a:rPr lang="zh-CN" altLang="en-US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單據並更新至</a:t>
                  </a:r>
                  <a:r>
                    <a:rPr lang="en-US" sz="120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  <a:cs typeface="Times New Roman" panose="02020603050405020304" pitchFamily="18" charset="0"/>
                    </a:rPr>
                    <a:t>INVI02</a:t>
                  </a:r>
                </a:p>
              </p:txBody>
            </p:sp>
          </p:grpSp>
          <p:cxnSp>
            <p:nvCxnSpPr>
              <p:cNvPr id="6" name="Straight Arrow Connector 5"/>
              <p:cNvCxnSpPr>
                <a:stCxn id="64" idx="3"/>
                <a:endCxn id="55" idx="1"/>
              </p:cNvCxnSpPr>
              <p:nvPr/>
            </p:nvCxnSpPr>
            <p:spPr>
              <a:xfrm>
                <a:off x="7640902" y="4772466"/>
                <a:ext cx="1424762" cy="14907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>
                <a:stCxn id="63" idx="3"/>
                <a:endCxn id="58" idx="1"/>
              </p:cNvCxnSpPr>
              <p:nvPr/>
            </p:nvCxnSpPr>
            <p:spPr>
              <a:xfrm>
                <a:off x="7625773" y="3999409"/>
                <a:ext cx="1439891" cy="9262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>
                <a:stCxn id="63" idx="3"/>
                <a:endCxn id="54" idx="1"/>
              </p:cNvCxnSpPr>
              <p:nvPr/>
            </p:nvCxnSpPr>
            <p:spPr>
              <a:xfrm flipV="1">
                <a:off x="7625771" y="3291676"/>
                <a:ext cx="1439891" cy="70773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>
                <a:stCxn id="64" idx="3"/>
                <a:endCxn id="54" idx="1"/>
              </p:cNvCxnSpPr>
              <p:nvPr/>
            </p:nvCxnSpPr>
            <p:spPr>
              <a:xfrm flipV="1">
                <a:off x="7640901" y="3291676"/>
                <a:ext cx="1424763" cy="148079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861188" y="596925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0111">
                  <a:extLst>
                    <a:ext uri="{9D8B030D-6E8A-4147-A177-3AD203B41FA5}">
                      <a16:colId xmlns:a16="http://schemas.microsoft.com/office/drawing/2014/main" val="2990982293"/>
                    </a:ext>
                  </a:extLst>
                </a:gridCol>
                <a:gridCol w="4997889">
                  <a:extLst>
                    <a:ext uri="{9D8B030D-6E8A-4147-A177-3AD203B41FA5}">
                      <a16:colId xmlns:a16="http://schemas.microsoft.com/office/drawing/2014/main" val="337896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u="sng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ERP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u="sng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PLM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988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MB002(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產品名稱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 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產品名稱</a:t>
                      </a:r>
                      <a:endParaRPr lang="en-US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08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MB003(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規格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規格</a:t>
                      </a:r>
                      <a:endParaRPr lang="en-US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991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MB068(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製程代碼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製程代碼 </a:t>
                      </a:r>
                      <a:r>
                        <a:rPr lang="vi-VN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無法依清單進行選擇</a:t>
                      </a:r>
                      <a:r>
                        <a:rPr lang="vi-VN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en-US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031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MB025(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產品屬性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自製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外購 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(P/M/S/Y/F)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3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MB028(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備註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產品說明</a:t>
                      </a:r>
                      <a:endParaRPr lang="en-US" dirty="0">
                        <a:latin typeface="Times New Roman" panose="02020603050405020304" pitchFamily="18" charset="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571400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061492" y="2849968"/>
            <a:ext cx="24734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i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表 </a:t>
            </a:r>
            <a:r>
              <a:rPr lang="en-US" altLang="zh-TW" sz="1200" i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1200" i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：變更紀錄欄位</a:t>
            </a:r>
            <a:endParaRPr lang="en-US" sz="1200" i="1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52B921-4F37-410C-AE56-25E9F954BF05}"/>
              </a:ext>
            </a:extLst>
          </p:cNvPr>
          <p:cNvSpPr txBox="1"/>
          <p:nvPr/>
        </p:nvSpPr>
        <p:spPr>
          <a:xfrm>
            <a:off x="1276362" y="131676"/>
            <a:ext cx="10549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透過</a:t>
            </a:r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SERVICES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處理 </a:t>
            </a:r>
            <a:r>
              <a:rPr lang="en-US" altLang="zh-CN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的流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程 </a:t>
            </a:r>
            <a:r>
              <a:rPr lang="en-US" altLang="zh-CN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-2</a:t>
            </a:r>
            <a:endParaRPr lang="en-US" altLang="zh-TW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136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25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LUỒNG XỬ LÝ ECN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QUA SERVICES -3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3114" y="867445"/>
            <a:ext cx="1974586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 - BOM</a:t>
            </a:r>
            <a:endParaRPr lang="vi-VN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03114" y="3130701"/>
            <a:ext cx="1598661" cy="5854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n w="0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ECN_Test</a:t>
            </a:r>
            <a:br>
              <a:rPr lang="en-US" sz="1200">
                <a:ln w="0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</a:br>
            <a:r>
              <a:rPr lang="en-US" sz="1200">
                <a:ln w="0"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(lấy các Phiếu có trạng thái là 0)</a:t>
            </a:r>
          </a:p>
        </p:txBody>
      </p:sp>
      <p:cxnSp>
        <p:nvCxnSpPr>
          <p:cNvPr id="40" name="Straight Arrow Connector 39"/>
          <p:cNvCxnSpPr>
            <a:stCxn id="39" idx="3"/>
            <a:endCxn id="41" idx="1"/>
          </p:cNvCxnSpPr>
          <p:nvPr/>
        </p:nvCxnSpPr>
        <p:spPr>
          <a:xfrm>
            <a:off x="1901775" y="3423412"/>
            <a:ext cx="194963" cy="5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Diamond 40"/>
          <p:cNvSpPr/>
          <p:nvPr/>
        </p:nvSpPr>
        <p:spPr>
          <a:xfrm>
            <a:off x="2096738" y="2853608"/>
            <a:ext cx="2323174" cy="115135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Kiểm tra có cần thực hiện phiếu BOMI04, BOMI02</a:t>
            </a:r>
            <a:endParaRPr lang="en-GB" sz="1200">
              <a:solidFill>
                <a:sysClr val="windowText" lastClr="00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41" idx="3"/>
            <a:endCxn id="62" idx="1"/>
          </p:cNvCxnSpPr>
          <p:nvPr/>
        </p:nvCxnSpPr>
        <p:spPr>
          <a:xfrm flipV="1">
            <a:off x="4419912" y="3423413"/>
            <a:ext cx="285255" cy="5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41" idx="2"/>
          </p:cNvCxnSpPr>
          <p:nvPr/>
        </p:nvCxnSpPr>
        <p:spPr>
          <a:xfrm>
            <a:off x="3258325" y="4004962"/>
            <a:ext cx="0" cy="151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4705166" y="1536272"/>
            <a:ext cx="2855830" cy="3774281"/>
            <a:chOff x="4366139" y="1143734"/>
            <a:chExt cx="2991590" cy="3849206"/>
          </a:xfrm>
        </p:grpSpPr>
        <p:sp>
          <p:nvSpPr>
            <p:cNvPr id="62" name="Rectangle 61"/>
            <p:cNvSpPr/>
            <p:nvPr/>
          </p:nvSpPr>
          <p:spPr>
            <a:xfrm>
              <a:off x="4366139" y="1143734"/>
              <a:ext cx="2912383" cy="3849206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560651" y="2799971"/>
              <a:ext cx="2491663" cy="4983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BOMTA_Staging_ERP</a:t>
              </a:r>
              <a:endParaRPr lang="en-US" sz="120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560651" y="3588374"/>
              <a:ext cx="2507511" cy="4983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BOMTB_Staging_ERP</a:t>
              </a:r>
              <a:endParaRPr lang="en-US" sz="120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560652" y="4314352"/>
              <a:ext cx="2507511" cy="4983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BOMTC_Staging_ERP</a:t>
              </a:r>
              <a:endParaRPr lang="en-US" altLang="zh-CN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560651" y="1990268"/>
              <a:ext cx="2507511" cy="4983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ECN_Test: cập nhật mã phiếu thay đổi trên ERP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444408" y="1169361"/>
              <a:ext cx="2913321" cy="659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Thông tin được lấy từ PLM và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BOMMC và BOMMD của ERP để tạo tra các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dưới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8438667" y="1438508"/>
            <a:ext cx="2980182" cy="3894444"/>
            <a:chOff x="8243157" y="1046813"/>
            <a:chExt cx="3121853" cy="3971754"/>
          </a:xfrm>
        </p:grpSpPr>
        <p:sp>
          <p:nvSpPr>
            <p:cNvPr id="53" name="Rectangle 52"/>
            <p:cNvSpPr/>
            <p:nvPr/>
          </p:nvSpPr>
          <p:spPr>
            <a:xfrm>
              <a:off x="8254948" y="1046813"/>
              <a:ext cx="3110062" cy="3971754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448990" y="1404776"/>
              <a:ext cx="2507511" cy="4983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BOMTA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448991" y="2852854"/>
              <a:ext cx="2507511" cy="4983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BOMMC</a:t>
              </a:r>
              <a:endParaRPr lang="en-US" sz="120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448991" y="4271076"/>
              <a:ext cx="2507511" cy="4983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BOMMD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448991" y="3600344"/>
              <a:ext cx="2507511" cy="4983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BOMTC</a:t>
              </a:r>
              <a:endParaRPr lang="en-US" sz="120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448991" y="2189098"/>
              <a:ext cx="2507511" cy="4983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BOMTB</a:t>
              </a:r>
              <a:endParaRPr lang="en-US" sz="120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8357191" y="2085566"/>
              <a:ext cx="2700669" cy="136433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8357191" y="3535848"/>
              <a:ext cx="2700669" cy="136433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243157" y="1055035"/>
              <a:ext cx="3121853" cy="282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Phiếu BOMI04 và cập nhật vào BOMI02</a:t>
              </a:r>
            </a:p>
          </p:txBody>
        </p:sp>
      </p:grpSp>
      <p:cxnSp>
        <p:nvCxnSpPr>
          <p:cNvPr id="46" name="Straight Arrow Connector 148"/>
          <p:cNvCxnSpPr>
            <a:stCxn id="63" idx="3"/>
            <a:endCxn id="54" idx="1"/>
          </p:cNvCxnSpPr>
          <p:nvPr/>
        </p:nvCxnSpPr>
        <p:spPr>
          <a:xfrm flipV="1">
            <a:off x="7269441" y="2033817"/>
            <a:ext cx="1365718" cy="1370767"/>
          </a:xfrm>
          <a:prstGeom prst="bentConnector3">
            <a:avLst>
              <a:gd name="adj1" fmla="val 2260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149"/>
          <p:cNvCxnSpPr>
            <a:stCxn id="64" idx="3"/>
            <a:endCxn id="59" idx="1"/>
          </p:cNvCxnSpPr>
          <p:nvPr/>
        </p:nvCxnSpPr>
        <p:spPr>
          <a:xfrm flipV="1">
            <a:off x="7284570" y="3125928"/>
            <a:ext cx="1262956" cy="10517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150"/>
          <p:cNvCxnSpPr>
            <a:stCxn id="65" idx="3"/>
            <a:endCxn id="60" idx="1"/>
          </p:cNvCxnSpPr>
          <p:nvPr/>
        </p:nvCxnSpPr>
        <p:spPr>
          <a:xfrm flipV="1">
            <a:off x="7284571" y="4547981"/>
            <a:ext cx="1262955" cy="341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173"/>
          <p:cNvCxnSpPr>
            <a:stCxn id="53" idx="2"/>
            <a:endCxn id="39" idx="2"/>
          </p:cNvCxnSpPr>
          <p:nvPr/>
        </p:nvCxnSpPr>
        <p:spPr>
          <a:xfrm rot="5400000" flipH="1">
            <a:off x="4710001" y="108567"/>
            <a:ext cx="1616830" cy="8831941"/>
          </a:xfrm>
          <a:prstGeom prst="bentConnector3">
            <a:avLst>
              <a:gd name="adj1" fmla="val -1413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025590" y="5694295"/>
            <a:ext cx="2776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Cập nhật trạng thái của phiếu </a:t>
            </a:r>
            <a:r>
              <a:rPr lang="en-US" sz="12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ECN_Test</a:t>
            </a:r>
            <a:endParaRPr lang="en-GB" sz="12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95494" y="3091833"/>
            <a:ext cx="483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Yes</a:t>
            </a:r>
            <a:endParaRPr lang="en-GB" sz="120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335874" y="4480594"/>
            <a:ext cx="483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No</a:t>
            </a:r>
            <a:endParaRPr lang="en-GB" sz="120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211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142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透過</a:t>
            </a:r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SERVICES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處理 </a:t>
            </a:r>
            <a:r>
              <a:rPr lang="en-US" altLang="zh-CN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的流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程 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-3</a:t>
            </a:r>
            <a:endParaRPr lang="en-US" altLang="zh-TW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3114" y="867445"/>
            <a:ext cx="1974586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 - BOM</a:t>
            </a:r>
            <a:endParaRPr lang="vi-VN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303114" y="1438508"/>
            <a:ext cx="11115735" cy="4532786"/>
            <a:chOff x="32345" y="1564613"/>
            <a:chExt cx="11644152" cy="4622768"/>
          </a:xfrm>
        </p:grpSpPr>
        <p:sp>
          <p:nvSpPr>
            <p:cNvPr id="39" name="Rectangle 38"/>
            <p:cNvSpPr/>
            <p:nvPr/>
          </p:nvSpPr>
          <p:spPr>
            <a:xfrm>
              <a:off x="32345" y="3290398"/>
              <a:ext cx="1674658" cy="5970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ECN_Test</a:t>
              </a:r>
              <a:r>
                <a:rPr 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</a:br>
              <a:r>
                <a:rPr 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(</a:t>
              </a:r>
              <a:r>
                <a:rPr lang="zh-CN" alt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擷取狀態為 </a:t>
              </a:r>
              <a:r>
                <a:rPr lang="en-US" altLang="zh-CN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0 </a:t>
              </a:r>
              <a:r>
                <a:rPr lang="zh-CN" alt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的表單</a:t>
              </a:r>
              <a:r>
                <a:rPr lang="en-US" sz="1200" dirty="0">
                  <a:ln w="0">
                    <a:noFill/>
                  </a:ln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)</a:t>
              </a:r>
            </a:p>
          </p:txBody>
        </p:sp>
        <p:cxnSp>
          <p:nvCxnSpPr>
            <p:cNvPr id="40" name="Straight Arrow Connector 39"/>
            <p:cNvCxnSpPr>
              <a:stCxn id="39" idx="3"/>
              <a:endCxn id="41" idx="1"/>
            </p:cNvCxnSpPr>
            <p:nvPr/>
          </p:nvCxnSpPr>
          <p:spPr>
            <a:xfrm>
              <a:off x="1707003" y="3588920"/>
              <a:ext cx="204231" cy="59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Diamond 40"/>
            <p:cNvSpPr/>
            <p:nvPr/>
          </p:nvSpPr>
          <p:spPr>
            <a:xfrm>
              <a:off x="1911234" y="3007805"/>
              <a:ext cx="2433612" cy="1174210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檢查是否需要執行 </a:t>
              </a:r>
              <a:r>
                <a:rPr lang="en-US" altLang="zh-TW" sz="12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BOMI04</a:t>
              </a:r>
              <a:r>
                <a:rPr lang="zh-TW" altLang="en-US" sz="12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、</a:t>
              </a:r>
              <a:r>
                <a:rPr lang="en-US" altLang="zh-TW" sz="12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BOMI02 </a:t>
              </a:r>
              <a:r>
                <a:rPr lang="zh-TW" altLang="en-US" sz="12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單據</a:t>
              </a:r>
              <a:endParaRPr lang="en-GB" sz="12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42" name="Straight Arrow Connector 41"/>
            <p:cNvCxnSpPr>
              <a:stCxn id="41" idx="3"/>
              <a:endCxn id="62" idx="1"/>
            </p:cNvCxnSpPr>
            <p:nvPr/>
          </p:nvCxnSpPr>
          <p:spPr>
            <a:xfrm flipV="1">
              <a:off x="4344846" y="3588921"/>
              <a:ext cx="298815" cy="59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41" idx="2"/>
            </p:cNvCxnSpPr>
            <p:nvPr/>
          </p:nvCxnSpPr>
          <p:spPr>
            <a:xfrm>
              <a:off x="3128040" y="4182015"/>
              <a:ext cx="0" cy="1547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4643661" y="1664318"/>
              <a:ext cx="2991590" cy="3849206"/>
              <a:chOff x="4366139" y="1143734"/>
              <a:chExt cx="2991590" cy="3849206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4366139" y="1143734"/>
                <a:ext cx="2912383" cy="3849206"/>
              </a:xfrm>
              <a:prstGeom prst="rect">
                <a:avLst/>
              </a:pr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4560651" y="2799971"/>
                <a:ext cx="2491663" cy="4983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  <a:sym typeface="+mn-ea"/>
                  </a:rPr>
                  <a:t>BOMTA_Staging_ERP</a:t>
                </a:r>
                <a:endParaRPr lang="en-US" sz="120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4560651" y="3588374"/>
                <a:ext cx="2507511" cy="4983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  <a:sym typeface="+mn-ea"/>
                  </a:rPr>
                  <a:t>BOMTB_Staging_ERP</a:t>
                </a:r>
                <a:endParaRPr lang="en-US" sz="120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4560652" y="4314352"/>
                <a:ext cx="2507511" cy="4983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err="1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  <a:sym typeface="+mn-ea"/>
                  </a:rPr>
                  <a:t>BOMTC_Staging_ERP</a:t>
                </a:r>
                <a:endParaRPr lang="en-US" altLang="zh-CN" sz="12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4560651" y="1990268"/>
                <a:ext cx="2507511" cy="4983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n w="0"/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ECN_Test</a:t>
                </a:r>
                <a:r>
                  <a:rPr lang="en-US" sz="1200" dirty="0">
                    <a:ln w="0"/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1200" dirty="0">
                    <a:ln w="0"/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更新 </a:t>
                </a:r>
                <a:r>
                  <a:rPr lang="en-US" altLang="zh-CN" sz="1200" dirty="0">
                    <a:ln w="0"/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ERP </a:t>
                </a:r>
                <a:r>
                  <a:rPr lang="zh-CN" altLang="en-US" sz="1200" dirty="0">
                    <a:ln w="0"/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上變更單的單號</a:t>
                </a:r>
                <a:endParaRPr lang="en-US" sz="1200" dirty="0">
                  <a:ln w="0"/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4444408" y="1169361"/>
                <a:ext cx="2913321" cy="470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依據 </a:t>
                </a:r>
                <a:r>
                  <a:rPr lang="en-US" altLang="zh-TW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PLM, </a:t>
                </a:r>
                <a:r>
                  <a:rPr lang="zh-TW" alt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以及 </a:t>
                </a:r>
                <a:r>
                  <a:rPr lang="en-US" altLang="zh-TW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ERP </a:t>
                </a:r>
                <a:r>
                  <a:rPr lang="zh-TW" alt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系統中 </a:t>
                </a:r>
                <a:r>
                  <a:rPr lang="en-US" altLang="zh-TW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BOMMC</a:t>
                </a:r>
                <a:r>
                  <a:rPr lang="zh-TW" alt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BOMMD </a:t>
                </a:r>
                <a:r>
                  <a:rPr lang="zh-TW" alt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的資料，產生下列資料表</a:t>
                </a:r>
                <a:endParaRPr lang="en-US" sz="12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8554644" y="1564613"/>
              <a:ext cx="3121853" cy="3971754"/>
              <a:chOff x="8243157" y="1046813"/>
              <a:chExt cx="3121853" cy="3971754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8254948" y="1046813"/>
                <a:ext cx="3110062" cy="39717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8448990" y="1404776"/>
                <a:ext cx="2507511" cy="4983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ln w="0"/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BOMTA</a:t>
                </a: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8448991" y="2852854"/>
                <a:ext cx="2507511" cy="4983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  <a:sym typeface="+mn-ea"/>
                  </a:rPr>
                  <a:t>BOMMC</a:t>
                </a:r>
                <a:endParaRPr lang="en-US" sz="120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8448991" y="4271076"/>
                <a:ext cx="2507511" cy="4983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  <a:sym typeface="+mn-ea"/>
                  </a:rPr>
                  <a:t>BOMMD</a:t>
                </a:r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8448991" y="3600344"/>
                <a:ext cx="2507511" cy="4983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  <a:sym typeface="+mn-ea"/>
                  </a:rPr>
                  <a:t>BOMTC</a:t>
                </a:r>
                <a:endParaRPr lang="en-US" sz="120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8448991" y="2189098"/>
                <a:ext cx="2507511" cy="4983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  <a:sym typeface="+mn-ea"/>
                  </a:rPr>
                  <a:t>BOMTB</a:t>
                </a:r>
                <a:endParaRPr lang="en-US" sz="120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Rounded Rectangle 58"/>
              <p:cNvSpPr/>
              <p:nvPr/>
            </p:nvSpPr>
            <p:spPr>
              <a:xfrm>
                <a:off x="8357191" y="2085566"/>
                <a:ext cx="2700669" cy="1364330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8357191" y="3535848"/>
                <a:ext cx="2700669" cy="1364330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243157" y="1055035"/>
                <a:ext cx="3121853" cy="282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建立 </a:t>
                </a:r>
                <a:r>
                  <a:rPr 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BOMI04 </a:t>
                </a:r>
                <a:r>
                  <a:rPr lang="zh-CN" alt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單據並更新至 </a:t>
                </a:r>
                <a:r>
                  <a:rPr lang="en-US" sz="12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BOMI02</a:t>
                </a:r>
              </a:p>
            </p:txBody>
          </p:sp>
        </p:grpSp>
        <p:cxnSp>
          <p:nvCxnSpPr>
            <p:cNvPr id="46" name="Straight Arrow Connector 148"/>
            <p:cNvCxnSpPr>
              <a:stCxn id="63" idx="3"/>
              <a:endCxn id="54" idx="1"/>
            </p:cNvCxnSpPr>
            <p:nvPr/>
          </p:nvCxnSpPr>
          <p:spPr>
            <a:xfrm flipV="1">
              <a:off x="7329836" y="2171740"/>
              <a:ext cx="1430641" cy="1397979"/>
            </a:xfrm>
            <a:prstGeom prst="bentConnector3">
              <a:avLst>
                <a:gd name="adj1" fmla="val 22608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149"/>
            <p:cNvCxnSpPr>
              <a:stCxn id="64" idx="3"/>
              <a:endCxn id="59" idx="1"/>
            </p:cNvCxnSpPr>
            <p:nvPr/>
          </p:nvCxnSpPr>
          <p:spPr>
            <a:xfrm flipV="1">
              <a:off x="7345684" y="3285531"/>
              <a:ext cx="1322994" cy="107259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150"/>
            <p:cNvCxnSpPr>
              <a:stCxn id="65" idx="3"/>
              <a:endCxn id="60" idx="1"/>
            </p:cNvCxnSpPr>
            <p:nvPr/>
          </p:nvCxnSpPr>
          <p:spPr>
            <a:xfrm flipV="1">
              <a:off x="7345685" y="4735813"/>
              <a:ext cx="1322993" cy="34828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173"/>
            <p:cNvCxnSpPr>
              <a:stCxn id="53" idx="2"/>
              <a:endCxn id="39" idx="2"/>
            </p:cNvCxnSpPr>
            <p:nvPr/>
          </p:nvCxnSpPr>
          <p:spPr>
            <a:xfrm rot="5400000" flipH="1">
              <a:off x="4671108" y="86009"/>
              <a:ext cx="1648926" cy="9251792"/>
            </a:xfrm>
            <a:prstGeom prst="bentConnector3">
              <a:avLst>
                <a:gd name="adj1" fmla="val -14139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931779" y="5904883"/>
              <a:ext cx="2908650" cy="282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更新 </a:t>
              </a:r>
              <a:r>
                <a:rPr lang="en-US" sz="1200" dirty="0" err="1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ECN_Test</a:t>
              </a:r>
              <a:r>
                <a:rPr lang="en-US" sz="12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zh-CN" altLang="en-US" sz="12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的狀態</a:t>
              </a:r>
              <a:endParaRPr lang="en-GB" sz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214514" y="3250759"/>
              <a:ext cx="506452" cy="282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Yes</a:t>
              </a:r>
              <a:endParaRPr lang="en-GB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209276" y="4667089"/>
              <a:ext cx="506452" cy="282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No</a:t>
              </a:r>
              <a:endParaRPr lang="en-GB" sz="120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92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431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LUỒNG XỬ LÝ ECN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QUA SERVICES -4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0028" y="730016"/>
            <a:ext cx="1119740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MÔ TẢ LUỒNG XỬ LÝ ECN QUA SERVICES:</a:t>
            </a:r>
          </a:p>
          <a:p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Bước 1: Truyền mã phiếu ECN:</a:t>
            </a:r>
          </a:p>
          <a:p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Sau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khi đơn ECN được </a:t>
            </a:r>
            <a:r>
              <a:rPr lang="vi-V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Released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trên PLM. Được kiểm tra xem đơn đó có thay đổi BOM hay INV </a:t>
            </a:r>
          </a:p>
          <a:p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=&gt; Truyền vào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ECN_Test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các trường ECN, Nếu dữ liệu sản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được thay đổi thì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Inv_change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= 1, Nếu BOM NVL được thay đổi thì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Bom_change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= 1 và trạng thái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SyncStatus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= 0</a:t>
            </a:r>
            <a:endParaRPr lang="en-GB" sz="1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</a:p>
          <a:p>
            <a:endParaRPr lang="zh-CN" altLang="vi-VN" sz="16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976" y="3244656"/>
            <a:ext cx="5627340" cy="3613344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628311" y="3578168"/>
            <a:ext cx="5476981" cy="1550019"/>
            <a:chOff x="477768" y="2392814"/>
            <a:chExt cx="5476981" cy="1550019"/>
          </a:xfrm>
        </p:grpSpPr>
        <p:sp>
          <p:nvSpPr>
            <p:cNvPr id="68" name="Rectangle 67"/>
            <p:cNvSpPr/>
            <p:nvPr/>
          </p:nvSpPr>
          <p:spPr>
            <a:xfrm>
              <a:off x="477768" y="2392814"/>
              <a:ext cx="5476981" cy="15500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 tra kết nối DB</a:t>
              </a:r>
            </a:p>
            <a:p>
              <a:endParaRPr 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Đảm bảo đã kết nối đến DB ERP,PLM, DB trung gian đều hoạt động ổn định</a:t>
              </a:r>
            </a:p>
          </p:txBody>
        </p:sp>
        <p:pic>
          <p:nvPicPr>
            <p:cNvPr id="69" name="Picture 2" descr="Database, connection, data, connect icon - Download on Iconfinder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741" y="2604517"/>
              <a:ext cx="447201" cy="447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Group 69"/>
          <p:cNvGrpSpPr/>
          <p:nvPr/>
        </p:nvGrpSpPr>
        <p:grpSpPr>
          <a:xfrm>
            <a:off x="628311" y="5408342"/>
            <a:ext cx="5476981" cy="1449658"/>
            <a:chOff x="477769" y="4601737"/>
            <a:chExt cx="5476981" cy="1449658"/>
          </a:xfrm>
        </p:grpSpPr>
        <p:sp>
          <p:nvSpPr>
            <p:cNvPr id="71" name="Rectangle 70"/>
            <p:cNvSpPr/>
            <p:nvPr/>
          </p:nvSpPr>
          <p:spPr>
            <a:xfrm>
              <a:off x="477769" y="4601737"/>
              <a:ext cx="5476981" cy="14496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Xử lý lỗi kết nối</a:t>
              </a:r>
            </a:p>
            <a:p>
              <a:endParaRPr lang="en-US" sz="1600" b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 bất kỳ kết nối nào không thành công, service sẽ dừng lại để tránh các lỗi kết nối.</a:t>
              </a:r>
            </a:p>
          </p:txBody>
        </p:sp>
        <p:pic>
          <p:nvPicPr>
            <p:cNvPr id="72" name="Picture 6" descr="No wifi Generic color fill icon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7003" y="4696177"/>
              <a:ext cx="421877" cy="4218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510028" y="2614053"/>
            <a:ext cx="59336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Bước 2: Kiểm tra kết nối hệ thống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Bước đầu tiên  và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quan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trọng nhất là kết tra kết nối với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cở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sở dữ liệu của ERP, PLM và DB trung gian của PLM-ERP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</a:p>
          <a:p>
            <a:endParaRPr lang="zh-CN" altLang="vi-VN" sz="16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5"/>
          <a:srcRect t="33495"/>
          <a:stretch/>
        </p:blipFill>
        <p:spPr>
          <a:xfrm>
            <a:off x="628311" y="2049657"/>
            <a:ext cx="11079121" cy="56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07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318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透過</a:t>
            </a:r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SERVICES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處理 </a:t>
            </a:r>
            <a:r>
              <a:rPr lang="en-US" altLang="zh-CN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的流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程 </a:t>
            </a:r>
            <a:r>
              <a:rPr lang="en-US" altLang="zh-CN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-4</a:t>
            </a:r>
            <a:endParaRPr lang="en-US" altLang="zh-TW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0028" y="715502"/>
            <a:ext cx="111974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zh-TW" alt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透過 </a:t>
            </a:r>
            <a:r>
              <a:rPr 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SERVICES </a:t>
            </a:r>
            <a:r>
              <a:rPr lang="zh-TW" alt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處理 </a:t>
            </a:r>
            <a:r>
              <a:rPr 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TW" alt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的流程</a:t>
            </a:r>
            <a:r>
              <a:rPr lang="zh-CN" alt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說明：</a:t>
            </a:r>
            <a:endParaRPr lang="en-US" altLang="zh-CN" sz="1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第一步</a:t>
            </a:r>
            <a:r>
              <a:rPr 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拋轉 </a:t>
            </a:r>
            <a:r>
              <a:rPr lang="en-US" altLang="zh-CN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單號：</a:t>
            </a:r>
            <a:endParaRPr lang="en-US" sz="16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單於 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系統完成簽核（</a:t>
            </a:r>
            <a:r>
              <a:rPr 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Released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後，檢查該 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是否涉及 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或 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INV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變更。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=&gt;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將各 </a:t>
            </a:r>
            <a:r>
              <a:rPr lang="en-US" altLang="zh-CN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欄位拋轉至 </a:t>
            </a:r>
            <a:r>
              <a:rPr lang="en-US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ECN_Test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表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若產品資料變更 </a:t>
            </a:r>
            <a:r>
              <a:rPr lang="en-US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Inv_change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= 1,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若原物料 </a:t>
            </a:r>
            <a:r>
              <a:rPr lang="en-US" altLang="zh-CN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變更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Bom_change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= 1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並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SyncStatus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狀態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= 0</a:t>
            </a:r>
            <a:endParaRPr lang="en-GB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</a:p>
          <a:p>
            <a:endParaRPr lang="zh-CN" altLang="vi-VN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976" y="3244656"/>
            <a:ext cx="5627340" cy="3613344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628311" y="3578168"/>
            <a:ext cx="5476981" cy="1550019"/>
            <a:chOff x="477768" y="2392814"/>
            <a:chExt cx="5476981" cy="1550019"/>
          </a:xfrm>
        </p:grpSpPr>
        <p:sp>
          <p:nvSpPr>
            <p:cNvPr id="68" name="Rectangle 67"/>
            <p:cNvSpPr/>
            <p:nvPr/>
          </p:nvSpPr>
          <p:spPr>
            <a:xfrm>
              <a:off x="477768" y="2392814"/>
              <a:ext cx="5476981" cy="15500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檢查資料庫連線</a:t>
              </a:r>
              <a:endParaRPr lang="en-US" sz="1600" b="1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z="16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確認 </a:t>
              </a:r>
              <a:r>
                <a:rPr lang="en-US" altLang="zh-TW" sz="16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ERP</a:t>
              </a:r>
              <a:r>
                <a:rPr lang="zh-TW" altLang="en-US" sz="16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、</a:t>
              </a:r>
              <a:r>
                <a:rPr lang="en-US" altLang="zh-TW" sz="16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PLM </a:t>
              </a:r>
              <a:r>
                <a:rPr lang="zh-TW" altLang="en-US" sz="16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與中繼資料庫連線穩定。</a:t>
              </a:r>
              <a:endParaRPr 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69" name="Picture 2" descr="Database, connection, data, connect icon - Download on Iconfinder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741" y="2604517"/>
              <a:ext cx="447201" cy="447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Group 69"/>
          <p:cNvGrpSpPr/>
          <p:nvPr/>
        </p:nvGrpSpPr>
        <p:grpSpPr>
          <a:xfrm>
            <a:off x="628311" y="5408342"/>
            <a:ext cx="5476981" cy="1449658"/>
            <a:chOff x="477769" y="4601737"/>
            <a:chExt cx="5476981" cy="1449658"/>
          </a:xfrm>
        </p:grpSpPr>
        <p:sp>
          <p:nvSpPr>
            <p:cNvPr id="71" name="Rectangle 70"/>
            <p:cNvSpPr/>
            <p:nvPr/>
          </p:nvSpPr>
          <p:spPr>
            <a:xfrm>
              <a:off x="477769" y="4601737"/>
              <a:ext cx="5476981" cy="14496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處理連線故障</a:t>
              </a:r>
              <a:endParaRPr lang="en-US" sz="1600" b="1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z="16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若任一連線失敗，</a:t>
              </a:r>
              <a:r>
                <a:rPr lang="en-US" altLang="zh-TW" sz="16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service </a:t>
              </a:r>
              <a:r>
                <a:rPr lang="zh-TW" altLang="en-US" sz="1600" dirty="0">
                  <a:solidFill>
                    <a:sysClr val="windowText" lastClr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將停止執行，以避免發生連線錯誤。</a:t>
              </a:r>
              <a:endParaRPr 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72" name="Picture 6" descr="No wifi Generic color fill icon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7003" y="4696177"/>
              <a:ext cx="421877" cy="4218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569169" y="2667269"/>
            <a:ext cx="59336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第二步：檢查系統連線</a:t>
            </a:r>
            <a:endParaRPr lang="en-US" altLang="zh-CN" sz="16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首要且關鍵的作業為確認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及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PLM–ERP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中介資料庫的連線是否正常。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</a:p>
          <a:p>
            <a:endParaRPr lang="zh-CN" altLang="vi-VN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5"/>
          <a:srcRect t="33495"/>
          <a:stretch/>
        </p:blipFill>
        <p:spPr>
          <a:xfrm>
            <a:off x="628311" y="2049657"/>
            <a:ext cx="11079121" cy="56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76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1" y="131676"/>
            <a:ext cx="10505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LUỒNG XỬ LÝ ECN QUA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SERVICES -5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453" y="627568"/>
            <a:ext cx="11373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Bước 3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Lấy thông tin mã phiếu ECN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</a:t>
            </a:r>
            <a:r>
              <a:rPr lang="vi-V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hông tin mã phiếu từ ECN được truyền vào bảng ECN-Test trong DB PLM_ERP_TEST. Document_Type là loại phiếu thay đổi BOM và Document_Number là mã phiếu thay đổi BOM trên ERP. </a:t>
            </a:r>
            <a:endParaRPr lang="zh-CN" altLang="vi-VN" sz="14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635975" y="1397009"/>
            <a:ext cx="11205892" cy="600159"/>
            <a:chOff x="198343" y="1678980"/>
            <a:chExt cx="11205892" cy="600159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343" y="1678980"/>
              <a:ext cx="7468642" cy="600159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6124" y="1707559"/>
              <a:ext cx="3658111" cy="571580"/>
            </a:xfrm>
            <a:prstGeom prst="rect">
              <a:avLst/>
            </a:prstGeom>
          </p:spPr>
        </p:pic>
      </p:grpSp>
      <p:sp>
        <p:nvSpPr>
          <p:cNvPr id="17" name="Rectangle 16"/>
          <p:cNvSpPr/>
          <p:nvPr/>
        </p:nvSpPr>
        <p:spPr>
          <a:xfrm>
            <a:off x="695497" y="2051436"/>
            <a:ext cx="11086848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Bước 4: Kiểm tra thay đổi BOM/INV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Thực hiện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hiện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kiểm tra đơn ECN thực hiện thay đổi BOM hay INV 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Nếu có thay đổi INV: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Chỉ thực hiện thay đổi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MB002(Tên SP), MB003(Quy cách), MB068(Mã CĐ), MB025(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TTinh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SP), MB028(Ghi chú).</a:t>
            </a:r>
            <a:endParaRPr lang="en-US" altLang="zh-CN" sz="1400" b="1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Nếu có thay đổi BOM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Chỉ lấy những NVL thay đổi hoặc thêm mới, xóa.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Điền giá </a:t>
            </a:r>
            <a:r>
              <a:rPr lang="en-US" altLang="zh-CN" sz="1600" b="1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trị</a:t>
            </a:r>
            <a:r>
              <a:rPr lang="en-US" altLang="zh-C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vào </a:t>
            </a:r>
            <a:r>
              <a:rPr lang="en-US" altLang="zh-CN" sz="1600" b="1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bảng</a:t>
            </a:r>
            <a:r>
              <a:rPr lang="en-US" altLang="zh-C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trung </a:t>
            </a:r>
            <a:r>
              <a:rPr lang="en-US" altLang="zh-CN" sz="1600" b="1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gian</a:t>
            </a:r>
            <a:r>
              <a:rPr lang="en-US" altLang="zh-C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INVTL_Staging_ERP</a:t>
            </a:r>
            <a:r>
              <a:rPr lang="en-US" altLang="zh-CN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Lấy các trường tên sản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, quy cách. (dữ liệu bên PLM thì điền vào ô dữ liệu cũ, dữ liệu ERP thì điền vào ô dữ liệu cũ)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INVTM_Staging_ERP</a:t>
            </a:r>
            <a:r>
              <a:rPr lang="en-US" altLang="zh-CN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Lấy thông tin nếu thay đổi của các trường: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Quy cách, </a:t>
            </a:r>
            <a:r>
              <a:rPr lang="vi-VN" sz="1400" dirty="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Mã công đoạn (chưa chọn được theo danh sách)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, Tự làm/mua ngoài (P/M/S/Y/F), Mô tả về sản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(dữ liệu bên PLM thì điền vào ô dữ liệu cũ, dữ liệu ERP thì điền vào ô dữ liệu cũ)</a:t>
            </a:r>
            <a:endParaRPr lang="en-US" altLang="zh-CN" sz="1600" b="1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BOMTA_Staging_ERP</a:t>
            </a:r>
            <a:r>
              <a:rPr lang="en-US" altLang="zh-CN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DESCRIPTION (Nguyên nhân) được ghi vào TA005, ITEM_NUMBER (Mã đơn ECB) được ghi vào TA006 được lấy từ PLM và các biến còn lại là mặc định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</a:t>
            </a:r>
            <a:r>
              <a:rPr lang="en-US" altLang="zh-CN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Lấy giá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trị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là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cột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NAME (là các tên SP thay đổi trong phiếu ECN) được lấy từ PLM và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các ô còn lại được lấy từ BOMC của ERP.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BOMTC_Staging_ERP</a:t>
            </a:r>
            <a:r>
              <a:rPr lang="en-US" altLang="zh-CN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1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Các trường bao gồm STT, Mã SP, ĐV, Mẫu số, Ty lệ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hao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mòn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, Lượng dung của NVL cũ và mới còn các trường thông tin còn lại được lấy từ BOMMD của ERP (VD: CĐSX, NVL thay thế, Ngày có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hiệu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lực, ngày hết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hiệu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lực,…) nên dùng dữ liệu của BOMMD để điền thông tin vào 2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đó.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vi-VN" sz="16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vi-VN" sz="16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380672" y="5947738"/>
            <a:ext cx="10730845" cy="847060"/>
          </a:xfrm>
          <a:prstGeom prst="roundRect">
            <a:avLst/>
          </a:prstGeom>
          <a:solidFill>
            <a:srgbClr val="E7E8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Lưu ý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Tỷ </a:t>
            </a:r>
            <a:r>
              <a:rPr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lệ</a:t>
            </a: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hao</a:t>
            </a: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mòn</a:t>
            </a: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phải nhập bên PLM </a:t>
            </a:r>
            <a:r>
              <a:rPr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dạng</a:t>
            </a: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0.01</a:t>
            </a: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tương</a:t>
            </a: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đương</a:t>
            </a: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với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1%</a:t>
            </a: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bên ERP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Được đối </a:t>
            </a:r>
            <a:r>
              <a:rPr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chiếu</a:t>
            </a:r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với ERP qua Mã NVL</a:t>
            </a:r>
          </a:p>
        </p:txBody>
      </p:sp>
      <p:pic>
        <p:nvPicPr>
          <p:cNvPr id="19" name="Picture 2" descr="Hình ảnh Chú ý Và Thông Báo Biểu Tượng Dấu Chấm Than Biểu Tượng Dấu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41" y="6015747"/>
            <a:ext cx="658344" cy="65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85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362" y="131676"/>
            <a:ext cx="10505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透過</a:t>
            </a:r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SERVICES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處理 </a:t>
            </a:r>
            <a:r>
              <a:rPr lang="en-US" altLang="zh-CN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的流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程 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-5</a:t>
            </a:r>
            <a:endParaRPr lang="en-US" altLang="zh-TW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453" y="627568"/>
            <a:ext cx="11373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第三步：擷取 </a:t>
            </a:r>
            <a:r>
              <a:rPr lang="en-US" altLang="zh-CN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單號資料</a:t>
            </a:r>
            <a:endParaRPr lang="en-US" sz="16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單據編號資訊會傳入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PLM_ERP_TEST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資料庫中的 </a:t>
            </a:r>
            <a:r>
              <a:rPr lang="en-US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ECN_Test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資料表。其中，</a:t>
            </a:r>
            <a:r>
              <a:rPr lang="en-US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Document_Type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代表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變更單類型，</a:t>
            </a:r>
            <a:r>
              <a:rPr lang="en-US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Document_Number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則為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系統中的 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變更單號。</a:t>
            </a:r>
            <a:endParaRPr lang="zh-CN" altLang="vi-VN" sz="14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76453" y="1544151"/>
            <a:ext cx="11205892" cy="600159"/>
            <a:chOff x="198343" y="1678980"/>
            <a:chExt cx="11205892" cy="600159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343" y="1678980"/>
              <a:ext cx="7468642" cy="600159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6124" y="1707559"/>
              <a:ext cx="3658111" cy="571580"/>
            </a:xfrm>
            <a:prstGeom prst="rect">
              <a:avLst/>
            </a:prstGeom>
          </p:spPr>
        </p:pic>
      </p:grpSp>
      <p:sp>
        <p:nvSpPr>
          <p:cNvPr id="17" name="Rectangle 16"/>
          <p:cNvSpPr/>
          <p:nvPr/>
        </p:nvSpPr>
        <p:spPr>
          <a:xfrm>
            <a:off x="576453" y="2184221"/>
            <a:ext cx="11086848" cy="3839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步驟四</a:t>
            </a:r>
            <a:r>
              <a:rPr 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檢查 </a:t>
            </a:r>
            <a:r>
              <a:rPr 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BOM/INV </a:t>
            </a:r>
            <a:r>
              <a:rPr lang="zh-CN" alt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</a:t>
            </a:r>
            <a:endParaRPr lang="en-US" sz="13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檢查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CN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單據執行 </a:t>
            </a:r>
            <a:r>
              <a:rPr lang="en-US" altLang="zh-CN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 </a:t>
            </a:r>
            <a:r>
              <a:rPr lang="zh-CN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還是 </a:t>
            </a:r>
            <a:r>
              <a:rPr lang="en-US" altLang="zh-CN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INV </a:t>
            </a:r>
            <a:r>
              <a:rPr lang="zh-CN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 </a:t>
            </a:r>
            <a:endParaRPr 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如涉及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變更，僅限變更以下欄位：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MB002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（產品名稱）、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MB003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（規格）、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MB068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（製程代碼）、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MB025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（產品性質）、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MB028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（備註）。</a:t>
            </a:r>
            <a:endParaRPr lang="en-US" altLang="zh-CN" sz="13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如涉及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變更：只擷取變更或新增的原物料（不擷取刪除的）</a:t>
            </a:r>
            <a:endParaRPr lang="en-US" altLang="zh-CN" sz="13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填寫至中介表</a:t>
            </a:r>
            <a:r>
              <a:rPr lang="en-US" altLang="zh-CN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INVTL_Staging_ERP</a:t>
            </a:r>
            <a:r>
              <a:rPr 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擷取</a:t>
            </a:r>
            <a:r>
              <a:rPr lang="zh-TW" altLang="en-US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產品名稱、規格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等欄位。（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端資料填入</a:t>
            </a:r>
            <a:r>
              <a:rPr lang="zh-TW" altLang="en-US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舊資料欄位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端資料填入</a:t>
            </a:r>
            <a:r>
              <a:rPr lang="zh-TW" altLang="en-US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舊資料欄位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INVTM_Staging_ERP</a:t>
            </a:r>
            <a:r>
              <a:rPr lang="zh-TW" altLang="en-US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擷取異動後之欄位資訊（若），包括：規格、製程代碼（尚未能依清單選擇）、自製／外購（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）、產品說明。（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PLM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端資料填入舊資料欄位，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端資料填入舊資料欄位）</a:t>
            </a:r>
            <a:endParaRPr lang="en-US" sz="13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300" b="1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BOMTA_Staging_ERP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DESCRIPTION（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變更原因）寫入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TA005；ITEM_NUMBER（ECN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單號）寫入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TA006 </a:t>
            </a:r>
            <a:r>
              <a:rPr lang="zh-CN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（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資料來源</a:t>
            </a:r>
            <a:r>
              <a:rPr lang="zh-CN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從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CN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；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其餘欄位皆採用預設值。</a:t>
            </a:r>
            <a:endParaRPr lang="en-US" sz="13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300" b="1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</a:t>
            </a:r>
            <a:r>
              <a:rPr lang="en-US" altLang="zh-CN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於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BOMTB_Staging_ERP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資料表中，</a:t>
            </a:r>
            <a:r>
              <a:rPr lang="zh-CN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擷取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自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NAME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欄位（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單中發生變更之產品名稱），其餘欄位資料取自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BOMC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表。</a:t>
            </a:r>
            <a:endParaRPr lang="en-US" sz="13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300" b="1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BOMTC_Staging_ERP</a:t>
            </a:r>
            <a:r>
              <a:rPr lang="en-US" altLang="zh-CN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13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包含欄位如：序號、產品編號、單位、</a:t>
            </a:r>
            <a:r>
              <a:rPr lang="zh-CN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基數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、耗損率、舊／新原物料用量等；其餘相關資訊欄位則取自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BOMMD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表（例如：生產工單、替代原物料、生效日期、失效日期等），因此需使用 </a:t>
            </a:r>
            <a:r>
              <a:rPr lang="en-US" altLang="zh-TW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BOMMD </a:t>
            </a:r>
            <a:r>
              <a:rPr lang="zh-TW" altLang="en-US" sz="13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的資料來填寫該兩張表。</a:t>
            </a:r>
            <a:endParaRPr lang="en-US" sz="13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3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vi-VN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vi-VN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51500" y="5800707"/>
            <a:ext cx="10730845" cy="847060"/>
          </a:xfrm>
          <a:prstGeom prst="roundRect">
            <a:avLst/>
          </a:prstGeom>
          <a:solidFill>
            <a:srgbClr val="E7E8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備註</a:t>
            </a:r>
            <a:r>
              <a:rPr 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耗損率需於 </a:t>
            </a:r>
            <a:r>
              <a:rPr lang="en-US" altLang="zh-TW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CN" alt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系統</a:t>
            </a:r>
            <a:r>
              <a:rPr lang="zh-TW" alt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以 </a:t>
            </a:r>
            <a:r>
              <a:rPr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0.01 </a:t>
            </a:r>
            <a:r>
              <a:rPr lang="zh-TW" alt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的格式輸入，對應 </a:t>
            </a:r>
            <a:r>
              <a:rPr lang="en-US" altLang="zh-TW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CN" alt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系統</a:t>
            </a:r>
            <a:r>
              <a:rPr lang="zh-TW" alt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為 </a:t>
            </a:r>
            <a:r>
              <a:rPr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1%</a:t>
            </a:r>
            <a:r>
              <a:rPr lang="zh-TW" alt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並透過原物料代碼（料號）與 </a:t>
            </a:r>
            <a:r>
              <a:rPr lang="en-US" altLang="zh-TW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600" dirty="0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進行對照確認。</a:t>
            </a:r>
            <a:endParaRPr lang="en-US" sz="1600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9" name="Picture 2" descr="Hình ảnh Chú ý Và Thông Báo Biểu Tượng Dấu Chấm Than Biểu Tượng Dấu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7" y="5855345"/>
            <a:ext cx="658344" cy="65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920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9728" y="1054083"/>
            <a:ext cx="57640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Bước 5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Được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SqlException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ném lỗi,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tạo dữ liệu các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INVTL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_Staging_ERP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INVTM_Staging_ERP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BOMTA_Staging_ERP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BOMTC_Staging_ERP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endParaRPr lang="zh-CN" altLang="vi-VN" sz="1600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" y="2919862"/>
            <a:ext cx="72844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Bước 6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Sau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tạo thành xong các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endParaRPr lang="en-US" sz="16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Truyền dữ liệu </a:t>
            </a:r>
            <a:r>
              <a:rPr lang="en-US" altLang="zh-CN" sz="1600" b="1" i="1" u="sng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INVTL_Staging_ERP</a:t>
            </a:r>
            <a:r>
              <a:rPr lang="en-US" altLang="zh-CN" sz="1600" b="1" i="1" u="sng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sang INVTL</a:t>
            </a:r>
            <a:r>
              <a:rPr lang="en-US" altLang="zh-C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theo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từng dòng và </a:t>
            </a:r>
            <a:r>
              <a:rPr lang="en-US" altLang="zh-CN" sz="1600" b="1" i="1" u="sng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altLang="zh-CN" sz="1600" b="1" i="1" u="sng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nhật vào INVMB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(dữ liệu tên sản </a:t>
            </a:r>
            <a:r>
              <a:rPr lang="en-US" altLang="zh-CN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phẩm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, quy cách):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Thất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bại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2.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dòng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ỊNVTL_Staging_ERP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vẫn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 công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thì </a:t>
            </a: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nhật </a:t>
            </a: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của 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INVTL_Staging_ERP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thành 1</a:t>
            </a:r>
            <a:endParaRPr lang="en-US" altLang="zh-CN" sz="1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Truyền dữ liệu </a:t>
            </a:r>
            <a:r>
              <a:rPr lang="en-US" sz="1600" b="1" i="1" u="sng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</a:t>
            </a:r>
            <a:r>
              <a:rPr lang="en-US" altLang="zh-CN" sz="1600" b="1" i="1" u="sng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_Staging_ERP</a:t>
            </a:r>
            <a:r>
              <a:rPr lang="en-US" altLang="zh-CN" sz="1600" b="1" i="1" u="sng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sang INVTM </a:t>
            </a:r>
            <a:r>
              <a:rPr lang="en-US" altLang="zh-CN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theo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từng dòng và </a:t>
            </a:r>
            <a:r>
              <a:rPr lang="en-US" altLang="zh-CN" sz="1600" b="1" i="1" u="sng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altLang="zh-CN" sz="1600" b="1" i="1" u="sng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nhật vào INVMB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Thất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bại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2.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dòng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INVTM_Staging_ERP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vẫn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 công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thì </a:t>
            </a: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nhật </a:t>
            </a: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của 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INVTM_Staging_ERP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thành 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29" y="592051"/>
            <a:ext cx="5437266" cy="2050521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6529352" y="3575712"/>
            <a:ext cx="5284226" cy="2450331"/>
            <a:chOff x="6930471" y="3469620"/>
            <a:chExt cx="5284226" cy="2597044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3168" y="3469620"/>
              <a:ext cx="5238832" cy="1043263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30471" y="4971154"/>
              <a:ext cx="5284226" cy="109551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2FF014C-0F9F-446B-A5D8-466C96DADC51}"/>
              </a:ext>
            </a:extLst>
          </p:cNvPr>
          <p:cNvSpPr txBox="1"/>
          <p:nvPr/>
        </p:nvSpPr>
        <p:spPr>
          <a:xfrm>
            <a:off x="1276361" y="131676"/>
            <a:ext cx="10505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LUỒNG XỬ LÝ ECN QUA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SERVICES -6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2856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9728" y="1110718"/>
            <a:ext cx="57640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第五步</a:t>
            </a:r>
            <a:r>
              <a:rPr 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en-US" sz="1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在建立 </a:t>
            </a:r>
            <a:r>
              <a:rPr lang="en-US" sz="16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INVTL</a:t>
            </a:r>
            <a:r>
              <a:rPr lang="en-US" altLang="zh-CN" sz="16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_Staging_ERP</a:t>
            </a:r>
            <a:r>
              <a:rPr lang="en-US" altLang="zh-CN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16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INVTM_Staging_ERP</a:t>
            </a:r>
            <a:r>
              <a:rPr lang="en-US" altLang="zh-CN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16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BOMTA_Staging_ERP</a:t>
            </a:r>
            <a:r>
              <a:rPr lang="en-US" altLang="zh-CN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</a:t>
            </a:r>
            <a:r>
              <a:rPr lang="en-US" altLang="zh-CN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16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BOMTC_Staging_ERP</a:t>
            </a: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表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時，若發生錯誤，</a:t>
            </a:r>
            <a:r>
              <a:rPr lang="en-US" altLang="zh-CN" sz="16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SqlException</a:t>
            </a:r>
            <a:r>
              <a:rPr lang="en-US" altLang="zh-CN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將拋出。</a:t>
            </a:r>
            <a:endParaRPr lang="en-US" altLang="zh-CN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endParaRPr lang="zh-CN" altLang="vi-VN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" y="2919862"/>
            <a:ext cx="67960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第六步</a:t>
            </a:r>
            <a:r>
              <a: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完成建立各資料表後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將 </a:t>
            </a:r>
            <a:r>
              <a:rPr lang="en-US" altLang="zh-TW" sz="1600" b="1" i="1" u="sng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INVTL_Staging_ERP</a:t>
            </a:r>
            <a:r>
              <a:rPr lang="en-US" altLang="zh-TW" sz="1600" b="1" i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TW" altLang="en-US" sz="1600" b="1" i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之資料逐筆傳送至 </a:t>
            </a:r>
            <a:r>
              <a:rPr lang="en-US" altLang="zh-TW" sz="1600" b="1" i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INVTL</a:t>
            </a:r>
            <a:r>
              <a:rPr lang="zh-TW" altLang="en-US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，並更新 </a:t>
            </a:r>
            <a:r>
              <a:rPr lang="en-US" altLang="zh-TW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INVMB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（產品名稱、規格）資料：</a:t>
            </a:r>
            <a:endParaRPr lang="en-US" altLang="zh-CN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失敗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狀態為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2.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ỊNVTL_Staging_ERP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欄位狀態仍為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若成功，</a:t>
            </a:r>
            <a:r>
              <a:rPr lang="en-US" altLang="zh-CN" sz="1400" dirty="0" err="1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INVTL_Staging_ERP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的狀態更新為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1</a:t>
            </a:r>
            <a:endParaRPr lang="en-US" altLang="zh-CN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將 </a:t>
            </a:r>
            <a:r>
              <a:rPr lang="en-US" altLang="zh-TW" sz="1600" b="1" i="1" u="sng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</a:t>
            </a:r>
            <a:r>
              <a:rPr lang="en-US" altLang="zh-CN" sz="1600" b="1" i="1" u="sng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_Staging_ERP</a:t>
            </a:r>
            <a:r>
              <a:rPr lang="en-US" altLang="zh-CN" sz="1600" b="1" i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TW" altLang="en-US" sz="1600" b="1" i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之資料逐筆傳送至 </a:t>
            </a:r>
            <a:r>
              <a:rPr lang="en-US" altLang="zh-CN" sz="1600" b="1" i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 </a:t>
            </a:r>
            <a:r>
              <a:rPr lang="zh-TW" altLang="en-US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，並更新</a:t>
            </a:r>
            <a:r>
              <a:rPr lang="zh-CN" altLang="en-US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至 </a:t>
            </a:r>
            <a:r>
              <a:rPr lang="en-US" altLang="zh-TW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INVMB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失敗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狀態為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2.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INVTM_Staging_ERP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欄位狀態仍為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若成功， </a:t>
            </a:r>
            <a:r>
              <a:rPr lang="en-US" altLang="zh-CN" sz="1400" dirty="0" err="1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INVTM_Staging_ERP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欄位的狀態更新為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29" y="870288"/>
            <a:ext cx="5437266" cy="2050521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6710449" y="3429000"/>
            <a:ext cx="5284226" cy="2597044"/>
            <a:chOff x="6930471" y="3469620"/>
            <a:chExt cx="5284226" cy="2597044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3168" y="3469620"/>
              <a:ext cx="5238832" cy="1043263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30471" y="4971154"/>
              <a:ext cx="5284226" cy="109551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9ED209B-5641-4312-8FC0-8FC543A17756}"/>
              </a:ext>
            </a:extLst>
          </p:cNvPr>
          <p:cNvSpPr txBox="1"/>
          <p:nvPr/>
        </p:nvSpPr>
        <p:spPr>
          <a:xfrm>
            <a:off x="1276362" y="131676"/>
            <a:ext cx="10501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透過</a:t>
            </a:r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SERVICES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處理 </a:t>
            </a:r>
            <a:r>
              <a:rPr lang="en-US" altLang="zh-CN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的流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程 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-6</a:t>
            </a:r>
            <a:endParaRPr lang="en-US" altLang="zh-TW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615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92913" y="1080606"/>
            <a:ext cx="745051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Bước 7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Sau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tạo thành xong các </a:t>
            </a:r>
            <a:r>
              <a:rPr lang="en-US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bảng</a:t>
            </a:r>
            <a:endParaRPr lang="en-US" sz="16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Truyền dữ liệu </a:t>
            </a:r>
            <a:r>
              <a:rPr lang="en-US" altLang="zh-CN" sz="1400" b="1" i="1" u="sng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BOMTA_Staging_ERP</a:t>
            </a:r>
            <a:r>
              <a:rPr lang="en-US" altLang="zh-CN" sz="1400" b="1" i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sang </a:t>
            </a:r>
            <a:r>
              <a:rPr lang="en-US" altLang="zh-CN" sz="1400" b="1" i="1" u="sng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 của ERP 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nếu: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Thất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bại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3.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dòng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BOMTA_Staging_ERP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vẫn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 công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nhật </a:t>
            </a:r>
            <a:r>
              <a:rPr lang="en-US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BOMTA_Staging_ERP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thành 1</a:t>
            </a:r>
            <a:endParaRPr lang="en-US" altLang="zh-CN" sz="16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Truyền dữ liệu </a:t>
            </a:r>
            <a:r>
              <a:rPr lang="en-US" altLang="zh-CN" sz="1600" b="1" i="1" u="sng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 sang BOMTB</a:t>
            </a:r>
            <a:r>
              <a:rPr lang="en-US" altLang="zh-CN" sz="16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theo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từng dòng và </a:t>
            </a:r>
            <a:r>
              <a:rPr lang="en-US" altLang="zh-CN" sz="1600" b="1" i="1" u="sng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altLang="zh-CN" sz="1600" b="1" i="1" u="sng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nhật vào BOMMC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Thất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bại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4.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dòng 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vẫn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 công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thì </a:t>
            </a: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nhật </a:t>
            </a: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của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 thành 1</a:t>
            </a:r>
            <a:endParaRPr lang="en-US" altLang="zh-CN" sz="1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Truyền dữ liệu </a:t>
            </a:r>
            <a:r>
              <a:rPr lang="en-US" altLang="zh-CN" sz="1600" b="1" i="1" u="sng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BOMTC_Staging_ERP</a:t>
            </a:r>
            <a:r>
              <a:rPr lang="en-US" altLang="zh-CN" sz="1600" b="1" i="1" u="sng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sang BOMTC </a:t>
            </a:r>
            <a:r>
              <a:rPr lang="en-US" altLang="zh-CN" sz="16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theo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từng dòng và </a:t>
            </a:r>
            <a:r>
              <a:rPr lang="en-US" altLang="zh-CN" sz="1600" b="1" i="1" u="sng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altLang="zh-CN" sz="1600" b="1" i="1" u="sng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nhật vào BOMMD</a:t>
            </a:r>
            <a:r>
              <a:rPr lang="en-US" altLang="zh-CN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Thất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bại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5.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dòng 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vẫn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Thành công 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thì </a:t>
            </a: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nhật </a:t>
            </a:r>
            <a:r>
              <a:rPr lang="en-US" altLang="zh-CN" sz="14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trạng</a:t>
            </a:r>
            <a:r>
              <a:rPr lang="en-US" altLang="zh-CN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thái của 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BOMTC_Staging_ERP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thành 1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77314" y="1282193"/>
            <a:ext cx="4404958" cy="3898889"/>
            <a:chOff x="7787042" y="2826961"/>
            <a:chExt cx="4404958" cy="401483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87042" y="2826961"/>
              <a:ext cx="4404958" cy="101396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87042" y="4306030"/>
              <a:ext cx="4403876" cy="1119746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87042" y="5797610"/>
              <a:ext cx="4404958" cy="1044189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102145" y="6045462"/>
            <a:ext cx="11859322" cy="363957"/>
            <a:chOff x="211873" y="6386838"/>
            <a:chExt cx="11859322" cy="363957"/>
          </a:xfrm>
        </p:grpSpPr>
        <p:sp>
          <p:nvSpPr>
            <p:cNvPr id="12" name="TextBox 11"/>
            <p:cNvSpPr txBox="1"/>
            <p:nvPr/>
          </p:nvSpPr>
          <p:spPr>
            <a:xfrm>
              <a:off x="697787" y="6412241"/>
              <a:ext cx="113734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Sau khi cập nhật </a:t>
              </a:r>
              <a:r>
                <a:rPr lang="en-US" sz="1600">
                  <a:solidFill>
                    <a:srgbClr val="00B05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thành công toàn bộ </a:t>
              </a:r>
              <a:r>
                <a:rPr lang="en-US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thông tin (của 2 bước 6 và 7) của phiếu ECN thì chuyển trạng thái </a:t>
              </a:r>
              <a:r>
                <a:rPr lang="en-US" sz="1600">
                  <a:solidFill>
                    <a:srgbClr val="00B05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+mn-ea"/>
                </a:rPr>
                <a:t>của ECN_Test thành 1</a:t>
              </a:r>
              <a:endParaRPr 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11873" y="6386838"/>
              <a:ext cx="485914" cy="3385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8EDC018-8F2B-40A5-840D-5D558908481E}"/>
              </a:ext>
            </a:extLst>
          </p:cNvPr>
          <p:cNvSpPr txBox="1"/>
          <p:nvPr/>
        </p:nvSpPr>
        <p:spPr>
          <a:xfrm>
            <a:off x="1276361" y="131676"/>
            <a:ext cx="10505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LUỒNG XỬ LÝ ECN QUA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SERVICES -7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023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7666237" y="1362084"/>
            <a:ext cx="4404958" cy="3898889"/>
            <a:chOff x="7787042" y="2826961"/>
            <a:chExt cx="4404958" cy="401483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87042" y="2826961"/>
              <a:ext cx="4404958" cy="101396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87042" y="4306030"/>
              <a:ext cx="4403876" cy="1119746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87042" y="5797610"/>
              <a:ext cx="4404958" cy="1044189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210791" y="6119666"/>
            <a:ext cx="11859322" cy="610178"/>
            <a:chOff x="211873" y="6386838"/>
            <a:chExt cx="11859322" cy="610178"/>
          </a:xfrm>
        </p:grpSpPr>
        <p:sp>
          <p:nvSpPr>
            <p:cNvPr id="12" name="TextBox 11"/>
            <p:cNvSpPr txBox="1"/>
            <p:nvPr/>
          </p:nvSpPr>
          <p:spPr>
            <a:xfrm>
              <a:off x="697787" y="6412241"/>
              <a:ext cx="113734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於</a:t>
              </a:r>
              <a:r>
                <a:rPr lang="zh-TW" altLang="en-US" sz="1600" dirty="0">
                  <a:solidFill>
                    <a:srgbClr val="00B05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完成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第 </a:t>
              </a:r>
              <a:r>
                <a:rPr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6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與第 </a:t>
              </a:r>
              <a:r>
                <a:rPr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7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步驟之所有 </a:t>
              </a:r>
              <a:r>
                <a:rPr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ECN 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單據資料更新並確認成功後，將 </a:t>
              </a:r>
              <a:r>
                <a:rPr lang="en-US" altLang="zh-TW" sz="1600" dirty="0" err="1">
                  <a:solidFill>
                    <a:srgbClr val="00B05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ECN_Test</a:t>
              </a:r>
              <a:r>
                <a:rPr lang="en-US" altLang="zh-TW" sz="1600" dirty="0">
                  <a:solidFill>
                    <a:srgbClr val="00B05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</a:t>
              </a:r>
              <a:r>
                <a:rPr lang="zh-TW" altLang="en-US" sz="1600" dirty="0">
                  <a:solidFill>
                    <a:srgbClr val="00B05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狀態更新為 </a:t>
              </a:r>
              <a:r>
                <a:rPr lang="en-US" altLang="zh-TW" sz="1600" dirty="0">
                  <a:solidFill>
                    <a:srgbClr val="00B05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r>
                <a:rPr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。</a:t>
              </a:r>
            </a:p>
            <a:p>
              <a:endParaRPr lang="en-US" sz="16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11873" y="6386838"/>
              <a:ext cx="485914" cy="3385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6B245D3-75B9-4571-98E1-D02E58377E2C}"/>
              </a:ext>
            </a:extLst>
          </p:cNvPr>
          <p:cNvSpPr txBox="1"/>
          <p:nvPr/>
        </p:nvSpPr>
        <p:spPr>
          <a:xfrm>
            <a:off x="1276362" y="131676"/>
            <a:ext cx="10220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透過</a:t>
            </a:r>
            <a:r>
              <a:rPr lang="en-US" altLang="zh-TW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SERVICES 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處理 </a:t>
            </a:r>
            <a:r>
              <a:rPr lang="en-US" altLang="zh-CN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ECN</a:t>
            </a:r>
            <a:r>
              <a:rPr lang="zh-CN" altLang="en-US" sz="24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的流</a:t>
            </a:r>
            <a:r>
              <a:rPr lang="zh-CN" altLang="en-US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程 </a:t>
            </a:r>
            <a:r>
              <a:rPr lang="en-US" altLang="zh-TW" sz="2400" b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-7</a:t>
            </a:r>
            <a:endParaRPr lang="en-US" altLang="zh-TW" sz="24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773C6F-1E48-4D16-ADF1-27F71579B35F}"/>
              </a:ext>
            </a:extLst>
          </p:cNvPr>
          <p:cNvSpPr txBox="1"/>
          <p:nvPr/>
        </p:nvSpPr>
        <p:spPr>
          <a:xfrm>
            <a:off x="381836" y="1197909"/>
            <a:ext cx="745051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第六步</a:t>
            </a:r>
            <a:r>
              <a: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完成建立各資料表後：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將 </a:t>
            </a:r>
            <a:r>
              <a:rPr lang="en-US" sz="1400" b="1" u="sng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BOMTA_Staging_ERP</a:t>
            </a:r>
            <a:r>
              <a:rPr lang="en-US" sz="14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資料傳送至 </a:t>
            </a:r>
            <a:r>
              <a:rPr lang="en-US" sz="14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ERP </a:t>
            </a:r>
            <a:r>
              <a:rPr lang="zh-TW" altLang="en-US" sz="14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的 </a:t>
            </a:r>
            <a:r>
              <a:rPr lang="en-US" sz="14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表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，如果</a:t>
            </a:r>
            <a:r>
              <a:rPr lang="en-US" altLang="zh-CN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失敗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狀態更新為 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3.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BOMTA_Staging_ERP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狀態仍為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成功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將 </a:t>
            </a:r>
            <a:r>
              <a:rPr lang="en-US" altLang="zh-CN" sz="1400" dirty="0" err="1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BOMTA_Staging_ERP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的狀態更新</a:t>
            </a:r>
            <a:r>
              <a:rPr lang="zh-CN" altLang="en-US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為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1</a:t>
            </a:r>
            <a:endParaRPr lang="en-US" altLang="zh-CN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將 </a:t>
            </a:r>
            <a:r>
              <a:rPr lang="en-US" altLang="zh-CN" sz="1600" b="1" u="sng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</a:t>
            </a:r>
            <a:r>
              <a:rPr lang="en-US" altLang="zh-CN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資料逐筆</a:t>
            </a:r>
            <a:r>
              <a:rPr lang="zh-TW" altLang="en-US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傳送至 </a:t>
            </a:r>
            <a:r>
              <a:rPr lang="en-US" altLang="zh-CN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</a:t>
            </a: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，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並同步</a:t>
            </a:r>
            <a:r>
              <a:rPr lang="zh-TW" altLang="en-US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更新 </a:t>
            </a:r>
            <a:r>
              <a:rPr lang="en-US" altLang="zh-CN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BOMMC</a:t>
            </a: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若失敗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狀態為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4.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狀態仍為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成功：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將 </a:t>
            </a:r>
            <a:r>
              <a:rPr lang="en-US" altLang="zh-CN" sz="1400" dirty="0" err="1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的狀態更新為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1</a:t>
            </a:r>
            <a:endParaRPr lang="en-US" altLang="zh-CN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將 </a:t>
            </a:r>
            <a:r>
              <a:rPr lang="en-US" altLang="zh-CN" sz="1600" b="1" u="sng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BOMTC_Staging_ERP</a:t>
            </a:r>
            <a:r>
              <a:rPr lang="en-US" altLang="zh-CN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資料逐筆傳送至 </a:t>
            </a:r>
            <a:r>
              <a:rPr lang="en-US" altLang="zh-CN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BOMTC</a:t>
            </a: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，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並同步更新 </a:t>
            </a:r>
            <a:r>
              <a:rPr lang="en-US" altLang="zh-CN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BOMMD</a:t>
            </a:r>
            <a:r>
              <a:rPr lang="zh-CN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若失敗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ECN_Test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的狀態為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5.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BOMTB_Staging_ERP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的狀態仍為</a:t>
            </a:r>
            <a:r>
              <a:rPr lang="en-US" altLang="zh-CN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0.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若成功：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將 </a:t>
            </a:r>
            <a:r>
              <a:rPr lang="en-US" altLang="zh-CN" sz="1400" dirty="0" err="1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BOMTC_Staging_ERP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的狀態更新</a:t>
            </a:r>
            <a:r>
              <a:rPr lang="zh-CN" altLang="en-US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為 </a:t>
            </a:r>
            <a:r>
              <a:rPr lang="en-US" altLang="zh-CN" sz="1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+mn-ea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6535505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2337" y="1142380"/>
            <a:ext cx="7759713" cy="1480820"/>
          </a:xfrm>
          <a:prstGeom prst="rect">
            <a:avLst/>
          </a:prstGeom>
          <a:noFill/>
        </p:spPr>
        <p:txBody>
          <a:bodyPr wrap="square" lIns="0" tIns="0" rIns="0" bIns="127508" rtlCol="0" anchor="ctr">
            <a:prstTxWarp prst="textArchUp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88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  <a:reflection blurRad="6350" stA="50000" endA="300" endPos="50000" dist="60007" dir="5400000" sy="-100000" algn="bl" rotWithShape="0"/>
                </a:effectLst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THANK YOU!</a:t>
            </a:r>
            <a:endParaRPr lang="en-US" sz="8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  <a:reflection blurRad="6350" stA="50000" endA="300" endPos="50000" dist="60007" dir="5400000" sy="-100000" algn="bl" rotWithShape="0"/>
              </a:effectLst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4133858267716,&quot;left&quot;:44.89425196850394,&quot;top&quot;:96.43771653543307,&quot;width&quot;:889.1625196850393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4133858267716,&quot;left&quot;:44.89425196850394,&quot;top&quot;:96.43771653543307,&quot;width&quot;:889.162519685039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0*475"/>
  <p:tag name="TABLE_ENDDRAG_RECT" val="30*63*870*4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4133858267716,&quot;left&quot;:44.89425196850394,&quot;top&quot;:96.43771653543307,&quot;width&quot;:889.162519685039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0*475"/>
  <p:tag name="TABLE_ENDDRAG_RECT" val="30*63*870*4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4133858267716,&quot;left&quot;:44.89425196850394,&quot;top&quot;:96.43771653543307,&quot;width&quot;:889.162519685039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E9727992A24479AC7469DEEDEA94C" ma:contentTypeVersion="18" ma:contentTypeDescription="Create a new document." ma:contentTypeScope="" ma:versionID="61955638a51c6b5b28075ae19238329a">
  <xsd:schema xmlns:xsd="http://www.w3.org/2001/XMLSchema" xmlns:xs="http://www.w3.org/2001/XMLSchema" xmlns:p="http://schemas.microsoft.com/office/2006/metadata/properties" xmlns:ns2="9d157257-a3bf-4ff5-a465-4e2defe95989" xmlns:ns3="5fe9d9f8-cc4e-4bb2-9b11-9758b481ddc1" targetNamespace="http://schemas.microsoft.com/office/2006/metadata/properties" ma:root="true" ma:fieldsID="83e78d16efe5b900a8ad9ecb685341f9" ns2:_="" ns3:_="">
    <xsd:import namespace="9d157257-a3bf-4ff5-a465-4e2defe95989"/>
    <xsd:import namespace="5fe9d9f8-cc4e-4bb2-9b11-9758b481dd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157257-a3bf-4ff5-a465-4e2defe95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4cab4e9-b41f-4aee-96b1-c1b3b1261b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9f8-cc4e-4bb2-9b11-9758b481ddc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4bd9be1-660a-4bc7-baff-f2d1738c4dfe}" ma:internalName="TaxCatchAll" ma:showField="CatchAllData" ma:web="5fe9d9f8-cc4e-4bb2-9b11-9758b481dd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157257-a3bf-4ff5-a465-4e2defe95989">
      <Terms xmlns="http://schemas.microsoft.com/office/infopath/2007/PartnerControls"/>
    </lcf76f155ced4ddcb4097134ff3c332f>
    <TaxCatchAll xmlns="5fe9d9f8-cc4e-4bb2-9b11-9758b481ddc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A8293E-3464-4F92-8F98-F5E93319AD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157257-a3bf-4ff5-a465-4e2defe95989"/>
    <ds:schemaRef ds:uri="5fe9d9f8-cc4e-4bb2-9b11-9758b481dd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A1B6E6-DB4D-447A-A62B-ECFD8D7F5B06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9d157257-a3bf-4ff5-a465-4e2defe95989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5fe9d9f8-cc4e-4bb2-9b11-9758b481ddc1"/>
  </ds:schemaRefs>
</ds:datastoreItem>
</file>

<file path=customXml/itemProps3.xml><?xml version="1.0" encoding="utf-8"?>
<ds:datastoreItem xmlns:ds="http://schemas.openxmlformats.org/officeDocument/2006/customXml" ds:itemID="{5BE39E95-2672-4702-9B71-D7310F408E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2670</TotalTime>
  <Words>5010</Words>
  <Application>Microsoft Office PowerPoint</Application>
  <PresentationFormat>Widescreen</PresentationFormat>
  <Paragraphs>510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Microsoft JhengHei</vt:lpstr>
      <vt:lpstr>Arial</vt:lpstr>
      <vt:lpstr>Calibri</vt:lpstr>
      <vt:lpstr>Calibri Light</vt:lpstr>
      <vt:lpstr>等线</vt:lpstr>
      <vt:lpstr>Noto Sans</vt:lpstr>
      <vt:lpstr>新細明體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Hoang Dieu Linh</dc:creator>
  <cp:lastModifiedBy>VN26223</cp:lastModifiedBy>
  <cp:revision>425</cp:revision>
  <dcterms:created xsi:type="dcterms:W3CDTF">2025-09-08T03:05:00Z</dcterms:created>
  <dcterms:modified xsi:type="dcterms:W3CDTF">2026-01-29T08:29:47Z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714D2EF51C4F4F8C83E630E53B0102DC_12</vt:lpwstr>
  </property>
  <property fmtid="{D5CDD505-2E9C-101B-9397-08002B2CF9AE}" pid="3" name="KSOProductBuildVer">
    <vt:lpwstr>1033-12.2.0.21931</vt:lpwstr>
  </property>
  <property fmtid="{D5CDD505-2E9C-101B-9397-08002B2CF9AE}" pid="4" name="ContentTypeId">
    <vt:lpwstr>0x01010003BE9727992A24479AC7469DEEDEA94C</vt:lpwstr>
  </property>
</Properties>
</file>